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151C"/>
                </a:solidFill>
                <a:latin typeface="Arial"/>
              </a:defRPr>
            </a:pPr>
            <a:r>
              <a:rPr sz="1200" b="0" i="0" u="none" strike="noStrike">
                <a:solidFill>
                  <a:srgbClr val="12151C"/>
                </a:solidFill>
                <a:latin typeface="Arial"/>
              </a:rPr>
              <a:t>parser states</a:t>
            </a:r>
          </a:p>
        </c:rich>
      </c:tx>
      <c:layout/>
      <c:overlay val="0"/>
    </c:title>
    <c:autoTitleDeleted val="0"/>
    <c:plotArea>
      <c:layout/>
      <c:barChart>
        <c:barDir val="col"/>
        <c:grouping val="clustered"/>
        <c:varyColors val="0"/>
        <c:ser>
          <c:idx val="0"/>
          <c:order val="0"/>
          <c:tx>
            <c:strRef>
              <c:f>Sheet1!$B$1</c:f>
              <c:strCache>
                <c:ptCount val="1"/>
                <c:pt idx="0">
                  <c:v>states</c:v>
                </c:pt>
              </c:strCache>
            </c:strRef>
          </c:tx>
          <c:spPr>
            <a:solidFill>
              <a:srgbClr val="1F6F6B"/>
            </a:solidFill>
            <a:effectLst/>
          </c:spPr>
          <c:invertIfNegative val="0"/>
          <c:dLbls>
            <c:numFmt formatCode="#,##0" sourceLinked="0"/>
            <c:txPr>
              <a:bodyPr/>
              <a:lstStyle/>
              <a:p>
                <a:pPr>
                  <a:defRPr b="0" i="0" strike="noStrike" sz="1100" u="none">
                    <a:solidFill>
                      <a:srgbClr val="12151C"/>
                    </a:solidFill>
                    <a:latin typeface="Arial"/>
                  </a:defRPr>
                </a:pPr>
              </a:p>
            </c:txPr>
            <c:showLegendKey val="0"/>
            <c:showVal val="1"/>
            <c:showCatName val="0"/>
            <c:showSerName val="0"/>
            <c:showPercent val="0"/>
            <c:showBubbleSize val="0"/>
            <c:showLeaderLines val="0"/>
          </c:dLbls>
          <c:dPt>
            <c:idx val="0"/>
            <c:invertIfNegative val="0"/>
            <c:bubble3D val="0"/>
            <c:spPr>
              <a:solidFill>
                <a:srgbClr val="1F6F6B"/>
              </a:solidFill>
              <a:effectLst/>
            </c:spPr>
          </c:dPt>
          <c:dPt>
            <c:idx val="1"/>
            <c:invertIfNegative val="0"/>
            <c:bubble3D val="0"/>
            <c:spPr>
              <a:solidFill>
                <a:srgbClr val="7A1F3D"/>
              </a:solidFill>
              <a:effectLst/>
            </c:spPr>
          </c:dPt>
          <c:dPt>
            <c:idx val="2"/>
            <c:invertIfNegative val="0"/>
            <c:bubble3D val="0"/>
            <c:spPr>
              <a:solidFill>
                <a:srgbClr val="1F6F6B"/>
              </a:solidFill>
              <a:effectLst/>
            </c:spPr>
          </c:dPt>
          <c:cat>
            <c:multiLvlStrRef>
              <c:f>Sheet1!$A$2:$A$4</c:f>
              <c:multiLvlStrCache>
                <c:ptCount val="3"/>
                <c:lvl>
                  <c:pt idx="0">
                    <c:v>SLR(1)</c:v>
                  </c:pt>
                  <c:pt idx="1">
                    <c:v>CLR(1)</c:v>
                  </c:pt>
                  <c:pt idx="2">
                    <c:v>LALR(1)</c:v>
                  </c:pt>
                </c:lvl>
              </c:multiLvlStrCache>
            </c:multiLvlStrRef>
          </c:cat>
          <c:val>
            <c:numRef>
              <c:f>Sheet1!$B$2:$B$4</c:f>
              <c:numCache>
                <c:formatCode>General</c:formatCode>
                <c:ptCount val="3"/>
                <c:pt idx="0">
                  <c:v>114</c:v>
                </c:pt>
                <c:pt idx="1">
                  <c:v>204</c:v>
                </c:pt>
                <c:pt idx="2">
                  <c:v>114</c:v>
                </c:pt>
              </c:numCache>
            </c:numRef>
          </c:val>
        </c:ser>
        <c:dLbls>
          <c:numFmt formatCode="#,##0" sourceLinked="0"/>
          <c:txPr>
            <a:bodyPr/>
            <a:lstStyle/>
            <a:p>
              <a:pPr>
                <a:defRPr b="0" i="0" strike="noStrike" sz="1100" u="none">
                  <a:solidFill>
                    <a:srgbClr val="12151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151C"/>
                </a:solidFill>
                <a:latin typeface="Arial"/>
              </a:defRPr>
            </a:pPr>
            <a:r>
              <a:rPr sz="1200" b="0" i="0" u="none" strike="noStrike">
                <a:solidFill>
                  <a:srgbClr val="12151C"/>
                </a:solidFill>
                <a:latin typeface="Arial"/>
              </a:rPr>
              <a:t>examples/07_showcase.cad</a:t>
            </a:r>
          </a:p>
        </c:rich>
      </c:tx>
      <c:layout/>
      <c:overlay val="0"/>
    </c:title>
    <c:autoTitleDeleted val="0"/>
    <c:plotArea>
      <c:layout/>
      <c:barChart>
        <c:barDir val="col"/>
        <c:grouping val="clustered"/>
        <c:varyColors val="0"/>
        <c:ser>
          <c:idx val="0"/>
          <c:order val="0"/>
          <c:tx>
            <c:strRef>
              <c:f>Sheet1!$B$1</c:f>
              <c:strCache>
                <c:ptCount val="1"/>
                <c:pt idx="0">
                  <c:v>static instructions (exist)</c:v>
                </c:pt>
              </c:strCache>
            </c:strRef>
          </c:tx>
          <c:spPr>
            <a:solidFill>
              <a:srgbClr val="6B6F76"/>
            </a:solidFill>
            <a:effectLst/>
          </c:spPr>
          <c:invertIfNegative val="0"/>
          <c:dLbls>
            <c:numFmt formatCode="#,##0" sourceLinked="0"/>
            <c:txPr>
              <a:bodyPr/>
              <a:lstStyle/>
              <a:p>
                <a:pPr>
                  <a:defRPr b="0" i="0" strike="noStrike" sz="1050" u="none">
                    <a:solidFill>
                      <a:srgbClr val="12151C"/>
                    </a:solidFill>
                    <a:latin typeface="Arial"/>
                  </a:defRPr>
                </a:pPr>
              </a:p>
            </c:txPr>
            <c:showLegendKey val="0"/>
            <c:showVal val="1"/>
            <c:showCatName val="0"/>
            <c:showSerName val="0"/>
            <c:showPercent val="0"/>
            <c:showBubbleSize val="0"/>
            <c:showLeaderLines val="0"/>
          </c:dLbls>
          <c:cat>
            <c:multiLvlStrRef>
              <c:f>Sheet1!$A$2:$A$3</c:f>
              <c:multiLvlStrCache>
                <c:ptCount val="2"/>
                <c:lvl>
                  <c:pt idx="0">
                    <c:v>naive</c:v>
                  </c:pt>
                  <c:pt idx="1">
                    <c:v>optimised</c:v>
                  </c:pt>
                </c:lvl>
              </c:multiLvlStrCache>
            </c:multiLvlStrRef>
          </c:cat>
          <c:val>
            <c:numRef>
              <c:f>Sheet1!$B$2:$B$3</c:f>
              <c:numCache>
                <c:formatCode>General</c:formatCode>
                <c:ptCount val="2"/>
                <c:pt idx="0">
                  <c:v>173</c:v>
                </c:pt>
                <c:pt idx="1">
                  <c:v>247</c:v>
                </c:pt>
              </c:numCache>
            </c:numRef>
          </c:val>
        </c:ser>
        <c:ser>
          <c:idx val="1"/>
          <c:order val="1"/>
          <c:tx>
            <c:strRef>
              <c:f>Sheet1!$C$1</c:f>
              <c:strCache>
                <c:ptCount val="1"/>
                <c:pt idx="0">
                  <c:v>instructions executed (run)</c:v>
                </c:pt>
              </c:strCache>
            </c:strRef>
          </c:tx>
          <c:spPr>
            <a:solidFill>
              <a:srgbClr val="7A1F3D"/>
            </a:solidFill>
            <a:effectLst/>
          </c:spPr>
          <c:invertIfNegative val="0"/>
          <c:dLbls>
            <c:numFmt formatCode="#,##0" sourceLinked="0"/>
            <c:txPr>
              <a:bodyPr/>
              <a:lstStyle/>
              <a:p>
                <a:pPr>
                  <a:defRPr b="0" i="0" strike="noStrike" sz="1050" u="none">
                    <a:solidFill>
                      <a:srgbClr val="12151C"/>
                    </a:solidFill>
                    <a:latin typeface="Arial"/>
                  </a:defRPr>
                </a:pPr>
              </a:p>
            </c:txPr>
            <c:showLegendKey val="0"/>
            <c:showVal val="1"/>
            <c:showCatName val="0"/>
            <c:showSerName val="0"/>
            <c:showPercent val="0"/>
            <c:showBubbleSize val="0"/>
            <c:showLeaderLines val="0"/>
          </c:dLbls>
          <c:cat>
            <c:multiLvlStrRef>
              <c:f>Sheet1!$A$2:$A$3</c:f>
              <c:multiLvlStrCache>
                <c:ptCount val="2"/>
                <c:lvl>
                  <c:pt idx="0">
                    <c:v>naive</c:v>
                  </c:pt>
                  <c:pt idx="1">
                    <c:v>optimised</c:v>
                  </c:pt>
                </c:lvl>
              </c:multiLvlStrCache>
            </c:multiLvlStrRef>
          </c:cat>
          <c:val>
            <c:numRef>
              <c:f>Sheet1!$C$2:$C$3</c:f>
              <c:numCache>
                <c:formatCode>General</c:formatCode>
                <c:ptCount val="2"/>
                <c:pt idx="0">
                  <c:v>631</c:v>
                </c:pt>
                <c:pt idx="1">
                  <c:v>241</c:v>
                </c:pt>
              </c:numCache>
            </c:numRef>
          </c:val>
        </c:ser>
        <c:dLbls>
          <c:numFmt formatCode="#,##0" sourceLinked="0"/>
          <c:txPr>
            <a:bodyPr/>
            <a:lstStyle/>
            <a:p>
              <a:pPr>
                <a:defRPr b="0" i="0" strike="noStrike" sz="1050" u="none">
                  <a:solidFill>
                    <a:srgbClr val="12151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'I built a programming language for music, and a real compiler for it.'
The point to land immediately: this is not a script that maps notes to MIDI numbers. It is a twelve-stage compiler where every stage is one of the modules from our syllabus, implemented by hand — including the parts most projects skip, like the LALR table construction, the data-flow fixed points and the bytecode verifier.
Zero third-party packages: the .mid file is assembled byte by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whole program. Right: what came out, drawn as a piano roll.
Point at '^5' and '^3' in the phrase called tail — those are scale degrees, not notes. They only become pitches once the key (D minor) has been passed down the syntax tree to them. That single feature is why this language genuinely needs inherited attributes, which is module 3.
Point at 'repeat 2 of' — that becomes a loop with a backpatched exit jump, and the optimiser later unrolls it.
The bar '|' means 'at the same time', which is why the back end has to allocate MIDI channels — and that turns out to be register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for the teacher.
The claim is not 'I touched every module'. The claim is that the language was designed so that each module is unavoidable:
  · scale degrees force inherited attributes (module 3)
  · repeat forces backpatching (module 4)
  · parallel voices force register allocation (module 6)
  · a deliberately naive code generator gives the optimiser real work (module 5)
The one row people usually skip is 'security checking of virtual machine code'. I implemented it as five abstract-interpretation checks — the same families of check a JVM verifier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in one breath, then explain that the bottom half names the machinery inside each arrow.
Emphasise the two verification points: the IR is verified BEFORE it runs, and the optimised IR is verified again afterwards. Nothing is trusted.
Mention that every one of these artefacts can be printed from the command line, or clicked through in the window, or read in the HTML report. That is what 'glass box'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scanner is not a pile of if-statements, and it is not Python's regex engine — it is a DFA I build from the token specification at start-up.'
How to prove it works: I ran the classic (a|b)*abb through it and it produced exactly the automaton from the lecture notes — 4 states, same transitions. That test is in the test suite, so it can never quietly break.
The character-class number is the interesting engineering detail: 37 columns instead of 256 because characters that no position distinguishes are grouped.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'how does it know?'
The pair riff / r is the example to say out loud: the letter r on its own is a rest, but the word riff is an identifier — and the scanner gets both right using exactly the two rules Lex uses, longest-match then declaration order.
Second half: real compilers do not stop at the first mistake, and neither does this one. Every diagnostic carries a line, a column, a caret under the exact character, and a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quotable number in the project: 204 states for CLR, 114 for LALR, zero conflicts either way.
That is the textbook claim about LALR, reproduced on my own grammar rather than quoted from a slide.
The LL(1) failure is deliberate and useful: it shows the grammar is genuinely left-recursive, which is exactly why a bottom-up parser is the right choice. I did not contort the grammar to make a top-down parser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and specific here — examiners like a real bug with a real diagnosis.
Story: I wrote sequencing as comp -&gt; comp comp, which is ambiguous the same way 'a b c' can be bracketed two ways. And I used round brackets for both chords and groups, which produced a reduce/reduce conflict.
I kept the broken grammar in the source on purpose, so the report can show the 24 shift/reduce and 2 reduce/reduce conflicts, and show that the final grammar has none. The lesson: conflicts are a design signal, not something to suppress with precedence declarations.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build two parsers when one would do? Because a parser that does not crash is not the same as a parser that is correct.
Two implementations written from the same grammar, by different techniques, that agree on the exact tree for every input, is strong evidence. Compiler engineers call it differential testing.
It also earns the syllabus point about predictive parsing honestly — the recursive-descent parser is real, used code, not a toy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language design pays off.
In most student projects inherited attributes are a formality. Here they are load-bearing: the notation ^5 has no pitch of its own. To evaluate it I need the key and the mode, which are declared far above it in the tree, and the octave and duration, which come from the enclosing context. That is the definition of an L-attributed definition — and the walk evaluates it in a single left-to-right pass.
Demo line if there is time: change 'D minor' to 'D major', recompile, and every note moves, without touching a single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real output, pasted, not mocked up.
Three things to point out:
  1. every diagnostic has phase, line, column, the source line, a caret, and a hint
  2. 'did you mean' is computed with edit distance over the 128 General MIDI names — the same trick gcc and rustc use
  3. the recursive phrase would have made the analyser loop forever, so the call graph is built and checked for cycles BEFORE the attribute walk starts. That was a real bug I hit and fixed; the fix is a test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this slide.
First, backpatching: the jump out of a loop has to be emitted before the compiler knows where it lands. I keep the instruction index on a list and fill the target in when the label appears. Show the underscores on line 2.
Second, and more important for the story: my code generator is intentionally naive. Every note multiplies by the stretch factor and adds the transposition even when they are 1 and 0. That is honest engineering — and it means the optimiser has genuine work, so the numbers on the next slide mean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twelve boxes aloud — say that passes are ordered and repeated because each one feeds the others, and give the chain: inlining makes arguments constant, folding turns them into copies, copy propagation makes instructions dead, dead-code elimination removes them.
Then tell the bug story on the right. It is the most convincing thing on this slide, because it shows the measurement infrastructure caught a silent failure. A pass that reports 'I changed nothing' is indistinguishable from a pass that is broken — unless you print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slide in the deck. Two claims.
First: 'instruction count went down' is the wrong metric. My optimised program is 43 % BIGGER and does 62 % LESS work, because inlining and unrolling trade space for time. I measure both, per pass, by actually running the code in the VM.
Second, and this is the part I am proudest of: correctness is proved, not asserted. After each pass the program is re-run and every note-on, note-off, pitch, velocity and timestamp is compared against the unoptimised run. If a pass changed the music, the build fails. Two passes DO legitimately change articulation, so they are off by default and excluded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to make explicitly: most implementations print the final IN/OUT sets. Mine prints every iteration, because in this course the iteration to a fixed point IS the subject matter.
The table on the right pins each analysis to its direction and its meet operator — union for 'may' analyses, intersection for 'must' analyses. Notice the last row: the same machinery that powers optimisation also powers the verifier, where 'definitely assigned' is a must-analysis.
And there is a test that the last two iterations are equal, which is the definition of convergence.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phrases are procedures, and I did not fake them. A call pushes a frame with a return address, a control link to the caller's frame, the three implicit parameters every phrase receives — transposition, and the two halves of the stretch fraction — then the user's own parameters, then locals.
The right-hand column is real output: the stack snapshot at three different steps. You can watch riff being entered twice and tail once, and see the loop counter t1 counting down in the caller's frame.
Then the sandbox: limits on steps, frames and events, so a runaway program is an error message rather than a hung demo in front of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favourite slide of most audiences, because the analogy is exact rather than decorative.
Registers are a scarce resource; MIDI channels are a scarce resource. Two values that are live at the same time cannot share a register; two voices that sound at the same time cannot share a channel. So I build the interference graph and colour it with Chaitin's algorithm.
Two details worth the extra sentence: percussion must be on channel 10 in General MIDI, which is pre-colouring — the same thing an allocator does for a value that must live in a specific register. And when it cannot colour, it spills, choosing the voice with fewest notes so the damage is smallest. In this project spilling is something you can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syllabus line aloud — then say 'so I implemented it properly.'
Before the VM executes anything, the generated code is checked by abstract interpretation over the control-flow graph. Five properties, and each one has a hand-crafted broken program in the test suite that proves the check fires.
Then make the connection to real systems: this is what the JVM does to a class file it has just loaded, what a browser does to a WebAssembly module, and what the Linux kernel does to an eBPF program before letting it run. Same family of check, much smaller scale.
Final point: I verify the OPTIMISED code as well, because my optimiser is also just a program that can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The point: even the output format is hand-built, so there is no library hiding any of the work. The variable-length quantity encoding is a genuine little code-generation problem — the same encoding idea as LEB128 in DWARF and WebAssembly.
The strong bit is the verification: I wrote an independent reader in the test suite and it parses my own output, checks the note-ons balance the note-offs, and confirms the count agrees with what the compiler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slide — this is where you invite them to try it.
The zeros are the interesting numbers: no parser generator, no MIDI library, no C. Everything the syllabus describes is implemented rather than delegated.
Mention that the 72 tests use only the standard library, so 'git clone and run' works on a fresh machine, and that run.bat exists so the demo cannot fail because of an environment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Say one sentence: 'a demo shows that something runs; a table of measurements shows that it was evaluated.'
Then offer the two you would defend under questioning: 204 states for CLR versus 114 for LALR with zero conflicts either way, and 61.8 % fewer instructions executed with the music provably unchanged.
Mention that this table is generated, so it can never drift out of date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ambition, not on summary.
SSA is the honest next step and I can say why it is cheap for me: I already compute dominators, and dominance frontiers are what phi-node placement needs.
The second back end is the strongest idea intellectually — if the same IR can produce audio samples as well as MIDI events, that demonstrates the IR really is target-independent, which is the whole justification for having an IR.
Then invite questions. Likely ones: why LALR and not LL? (measured, it is left-recursive) how do you know the optimiser is correct? (event-stream comparison after every pass) why no libraries? (every one would have replaced a syllabus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566928" y="1920240"/>
            <a:ext cx="8229600" cy="1051560"/>
          </a:xfrm>
          <a:prstGeom prst="rect">
            <a:avLst/>
          </a:prstGeom>
          <a:noFill/>
          <a:ln/>
        </p:spPr>
        <p:txBody>
          <a:bodyPr wrap="square" lIns="0" tIns="0" rIns="0" bIns="0" rtlCol="0" anchor="ctr"/>
          <a:lstStyle/>
          <a:p>
            <a:pPr indent="0" marL="0">
              <a:buNone/>
            </a:pPr>
            <a:r>
              <a:rPr lang="en-US" sz="6000" b="1" spc="300" kern="0" dirty="0">
                <a:solidFill>
                  <a:srgbClr val="FFFFFF"/>
                </a:solidFill>
                <a:latin typeface="Calibri" pitchFamily="34" charset="0"/>
                <a:ea typeface="Calibri" pitchFamily="34" charset="-122"/>
                <a:cs typeface="Calibri" pitchFamily="34" charset="-120"/>
              </a:rPr>
              <a:t>CADENCE</a:t>
            </a:r>
            <a:endParaRPr lang="en-US" sz="6000" dirty="0"/>
          </a:p>
        </p:txBody>
      </p:sp>
      <p:sp>
        <p:nvSpPr>
          <p:cNvPr id="3" name="Text 1"/>
          <p:cNvSpPr/>
          <p:nvPr/>
        </p:nvSpPr>
        <p:spPr>
          <a:xfrm>
            <a:off x="566928" y="2971800"/>
            <a:ext cx="8686800" cy="548640"/>
          </a:xfrm>
          <a:prstGeom prst="rect">
            <a:avLst/>
          </a:prstGeom>
          <a:noFill/>
          <a:ln/>
        </p:spPr>
        <p:txBody>
          <a:bodyPr wrap="square" lIns="0" tIns="0" rIns="0" bIns="0" rtlCol="0" anchor="ctr"/>
          <a:lstStyle/>
          <a:p>
            <a:pPr indent="0" marL="0">
              <a:buNone/>
            </a:pPr>
            <a:r>
              <a:rPr lang="en-US" sz="2400" dirty="0">
                <a:solidFill>
                  <a:srgbClr val="E6D2DA"/>
                </a:solidFill>
                <a:latin typeface="Calibri" pitchFamily="34" charset="0"/>
                <a:ea typeface="Calibri" pitchFamily="34" charset="-122"/>
                <a:cs typeface="Calibri" pitchFamily="34" charset="-120"/>
              </a:rPr>
              <a:t>A music DSL that compiles to MIDI</a:t>
            </a:r>
            <a:endParaRPr lang="en-US" sz="2400" dirty="0"/>
          </a:p>
        </p:txBody>
      </p:sp>
      <p:sp>
        <p:nvSpPr>
          <p:cNvPr id="4" name="Text 2"/>
          <p:cNvSpPr/>
          <p:nvPr/>
        </p:nvSpPr>
        <p:spPr>
          <a:xfrm>
            <a:off x="566928" y="3657600"/>
            <a:ext cx="7863840" cy="1005840"/>
          </a:xfrm>
          <a:prstGeom prst="rect">
            <a:avLst/>
          </a:prstGeom>
          <a:noFill/>
          <a:ln/>
        </p:spPr>
        <p:txBody>
          <a:bodyPr wrap="square" lIns="0" tIns="0" rIns="0" bIns="0" rtlCol="0" anchor="ctr"/>
          <a:lstStyle/>
          <a:p>
            <a:pPr indent="0" marL="0">
              <a:lnSpc>
                <a:spcPct val="130000"/>
              </a:lnSpc>
              <a:buNone/>
            </a:pPr>
            <a:r>
              <a:rPr lang="en-US" sz="1400" dirty="0">
                <a:solidFill>
                  <a:srgbClr val="AEB4BE"/>
                </a:solidFill>
                <a:latin typeface="Calibri" pitchFamily="34" charset="0"/>
                <a:ea typeface="Calibri" pitchFamily="34" charset="-122"/>
                <a:cs typeface="Calibri" pitchFamily="34" charset="-120"/>
              </a:rPr>
              <a:t>A complete compiler — scanner, parser, semantic analyser, optimiser, verifier, virtual machine, code generator — written from scratch in pure Python.</a:t>
            </a:r>
            <a:endParaRPr lang="en-US" sz="1400" dirty="0"/>
          </a:p>
          <a:p>
            <a:pPr indent="0" marL="0">
              <a:lnSpc>
                <a:spcPct val="130000"/>
              </a:lnSpc>
              <a:buNone/>
            </a:pPr>
            <a:r>
              <a:rPr lang="en-US" sz="1400" dirty="0">
                <a:solidFill>
                  <a:srgbClr val="AEB4BE"/>
                </a:solidFill>
                <a:latin typeface="Calibri" pitchFamily="34" charset="0"/>
                <a:ea typeface="Calibri" pitchFamily="34" charset="-122"/>
                <a:cs typeface="Calibri" pitchFamily="34" charset="-120"/>
              </a:rPr>
              <a:t>No parser generator. No MIDI library. No third-party packages at all.</a:t>
            </a:r>
            <a:endParaRPr lang="en-US" sz="1400" dirty="0"/>
          </a:p>
        </p:txBody>
      </p:sp>
      <p:sp>
        <p:nvSpPr>
          <p:cNvPr id="5" name="Shape 3"/>
          <p:cNvSpPr/>
          <p:nvPr/>
        </p:nvSpPr>
        <p:spPr>
          <a:xfrm>
            <a:off x="2743200" y="5074920"/>
            <a:ext cx="1371600" cy="109728"/>
          </a:xfrm>
          <a:prstGeom prst="roundRect">
            <a:avLst>
              <a:gd name="adj" fmla="val 41667"/>
            </a:avLst>
          </a:prstGeom>
          <a:solidFill>
            <a:srgbClr val="7A1F3D"/>
          </a:solidFill>
          <a:ln w="12700">
            <a:solidFill>
              <a:srgbClr val="12151C"/>
            </a:solidFill>
            <a:prstDash val="solid"/>
          </a:ln>
        </p:spPr>
      </p:sp>
      <p:sp>
        <p:nvSpPr>
          <p:cNvPr id="6" name="Shape 4"/>
          <p:cNvSpPr/>
          <p:nvPr/>
        </p:nvSpPr>
        <p:spPr>
          <a:xfrm>
            <a:off x="4206240" y="5422392"/>
            <a:ext cx="822960" cy="109728"/>
          </a:xfrm>
          <a:prstGeom prst="roundRect">
            <a:avLst>
              <a:gd name="adj" fmla="val 41667"/>
            </a:avLst>
          </a:prstGeom>
          <a:solidFill>
            <a:srgbClr val="1F6F6B"/>
          </a:solidFill>
          <a:ln w="12700">
            <a:solidFill>
              <a:srgbClr val="12151C"/>
            </a:solidFill>
            <a:prstDash val="solid"/>
          </a:ln>
        </p:spPr>
      </p:sp>
      <p:sp>
        <p:nvSpPr>
          <p:cNvPr id="7" name="Shape 5"/>
          <p:cNvSpPr/>
          <p:nvPr/>
        </p:nvSpPr>
        <p:spPr>
          <a:xfrm>
            <a:off x="5120640" y="5769864"/>
            <a:ext cx="822960" cy="109728"/>
          </a:xfrm>
          <a:prstGeom prst="roundRect">
            <a:avLst>
              <a:gd name="adj" fmla="val 41667"/>
            </a:avLst>
          </a:prstGeom>
          <a:solidFill>
            <a:srgbClr val="B4762C"/>
          </a:solidFill>
          <a:ln w="12700">
            <a:solidFill>
              <a:srgbClr val="12151C"/>
            </a:solidFill>
            <a:prstDash val="solid"/>
          </a:ln>
        </p:spPr>
      </p:sp>
      <p:sp>
        <p:nvSpPr>
          <p:cNvPr id="8" name="Shape 6"/>
          <p:cNvSpPr/>
          <p:nvPr/>
        </p:nvSpPr>
        <p:spPr>
          <a:xfrm>
            <a:off x="6035040" y="5248656"/>
            <a:ext cx="1737360" cy="109728"/>
          </a:xfrm>
          <a:prstGeom prst="roundRect">
            <a:avLst>
              <a:gd name="adj" fmla="val 41667"/>
            </a:avLst>
          </a:prstGeom>
          <a:solidFill>
            <a:srgbClr val="7A1F3D"/>
          </a:solidFill>
          <a:ln w="12700">
            <a:solidFill>
              <a:srgbClr val="12151C"/>
            </a:solidFill>
            <a:prstDash val="solid"/>
          </a:ln>
        </p:spPr>
      </p:sp>
      <p:sp>
        <p:nvSpPr>
          <p:cNvPr id="9" name="Shape 7"/>
          <p:cNvSpPr/>
          <p:nvPr/>
        </p:nvSpPr>
        <p:spPr>
          <a:xfrm>
            <a:off x="7863840" y="5943600"/>
            <a:ext cx="822960" cy="109728"/>
          </a:xfrm>
          <a:prstGeom prst="roundRect">
            <a:avLst>
              <a:gd name="adj" fmla="val 41667"/>
            </a:avLst>
          </a:prstGeom>
          <a:solidFill>
            <a:srgbClr val="1F6F6B"/>
          </a:solidFill>
          <a:ln w="12700">
            <a:solidFill>
              <a:srgbClr val="12151C"/>
            </a:solidFill>
            <a:prstDash val="solid"/>
          </a:ln>
        </p:spPr>
      </p:sp>
      <p:sp>
        <p:nvSpPr>
          <p:cNvPr id="10" name="Shape 8"/>
          <p:cNvSpPr/>
          <p:nvPr/>
        </p:nvSpPr>
        <p:spPr>
          <a:xfrm>
            <a:off x="8778240" y="5596128"/>
            <a:ext cx="822960" cy="109728"/>
          </a:xfrm>
          <a:prstGeom prst="roundRect">
            <a:avLst>
              <a:gd name="adj" fmla="val 41667"/>
            </a:avLst>
          </a:prstGeom>
          <a:solidFill>
            <a:srgbClr val="B4762C"/>
          </a:solidFill>
          <a:ln w="12700">
            <a:solidFill>
              <a:srgbClr val="12151C"/>
            </a:solidFill>
            <a:prstDash val="solid"/>
          </a:ln>
        </p:spPr>
      </p:sp>
      <p:sp>
        <p:nvSpPr>
          <p:cNvPr id="11" name="Shape 9"/>
          <p:cNvSpPr/>
          <p:nvPr/>
        </p:nvSpPr>
        <p:spPr>
          <a:xfrm>
            <a:off x="9692640" y="5422392"/>
            <a:ext cx="2194560" cy="109728"/>
          </a:xfrm>
          <a:prstGeom prst="roundRect">
            <a:avLst>
              <a:gd name="adj" fmla="val 41667"/>
            </a:avLst>
          </a:prstGeom>
          <a:solidFill>
            <a:srgbClr val="7A1F3D"/>
          </a:solidFill>
          <a:ln w="12700">
            <a:solidFill>
              <a:srgbClr val="12151C"/>
            </a:solidFill>
            <a:prstDash val="solid"/>
          </a:ln>
        </p:spPr>
      </p:sp>
      <p:sp>
        <p:nvSpPr>
          <p:cNvPr id="12" name="Shape 10"/>
          <p:cNvSpPr/>
          <p:nvPr/>
        </p:nvSpPr>
        <p:spPr>
          <a:xfrm>
            <a:off x="3108960" y="6117336"/>
            <a:ext cx="1005840" cy="109728"/>
          </a:xfrm>
          <a:prstGeom prst="roundRect">
            <a:avLst>
              <a:gd name="adj" fmla="val 41667"/>
            </a:avLst>
          </a:prstGeom>
          <a:solidFill>
            <a:srgbClr val="1F6F6B"/>
          </a:solidFill>
          <a:ln w="12700">
            <a:solidFill>
              <a:srgbClr val="12151C"/>
            </a:solidFill>
            <a:prstDash val="solid"/>
          </a:ln>
        </p:spPr>
      </p:sp>
      <p:sp>
        <p:nvSpPr>
          <p:cNvPr id="13" name="Shape 11"/>
          <p:cNvSpPr/>
          <p:nvPr/>
        </p:nvSpPr>
        <p:spPr>
          <a:xfrm>
            <a:off x="4480560" y="6291072"/>
            <a:ext cx="1280160" cy="109728"/>
          </a:xfrm>
          <a:prstGeom prst="roundRect">
            <a:avLst>
              <a:gd name="adj" fmla="val 41667"/>
            </a:avLst>
          </a:prstGeom>
          <a:solidFill>
            <a:srgbClr val="B4762C"/>
          </a:solidFill>
          <a:ln w="12700">
            <a:solidFill>
              <a:srgbClr val="12151C"/>
            </a:solidFill>
            <a:prstDash val="solid"/>
          </a:ln>
        </p:spPr>
      </p:sp>
      <p:sp>
        <p:nvSpPr>
          <p:cNvPr id="14" name="Shape 12"/>
          <p:cNvSpPr/>
          <p:nvPr/>
        </p:nvSpPr>
        <p:spPr>
          <a:xfrm>
            <a:off x="6400800" y="6117336"/>
            <a:ext cx="914400" cy="109728"/>
          </a:xfrm>
          <a:prstGeom prst="roundRect">
            <a:avLst>
              <a:gd name="adj" fmla="val 41667"/>
            </a:avLst>
          </a:prstGeom>
          <a:solidFill>
            <a:srgbClr val="7A1F3D"/>
          </a:solidFill>
          <a:ln w="12700">
            <a:solidFill>
              <a:srgbClr val="12151C"/>
            </a:solidFill>
            <a:prstDash val="solid"/>
          </a:ln>
        </p:spPr>
      </p:sp>
      <p:sp>
        <p:nvSpPr>
          <p:cNvPr id="15" name="Shape 13"/>
          <p:cNvSpPr/>
          <p:nvPr/>
        </p:nvSpPr>
        <p:spPr>
          <a:xfrm>
            <a:off x="7498080" y="6464808"/>
            <a:ext cx="1463040" cy="109728"/>
          </a:xfrm>
          <a:prstGeom prst="roundRect">
            <a:avLst>
              <a:gd name="adj" fmla="val 41667"/>
            </a:avLst>
          </a:prstGeom>
          <a:solidFill>
            <a:srgbClr val="1F6F6B"/>
          </a:solidFill>
          <a:ln w="12700">
            <a:solidFill>
              <a:srgbClr val="12151C"/>
            </a:solidFill>
            <a:prstDash val="solid"/>
          </a:ln>
        </p:spPr>
      </p:sp>
      <p:sp>
        <p:nvSpPr>
          <p:cNvPr id="16" name="Shape 14"/>
          <p:cNvSpPr/>
          <p:nvPr/>
        </p:nvSpPr>
        <p:spPr>
          <a:xfrm>
            <a:off x="9326880" y="6291072"/>
            <a:ext cx="1097280" cy="109728"/>
          </a:xfrm>
          <a:prstGeom prst="roundRect">
            <a:avLst>
              <a:gd name="adj" fmla="val 41667"/>
            </a:avLst>
          </a:prstGeom>
          <a:solidFill>
            <a:srgbClr val="B4762C"/>
          </a:solidFill>
          <a:ln w="12700">
            <a:solidFill>
              <a:srgbClr val="12151C"/>
            </a:solidFill>
            <a:prstDash val="solid"/>
          </a:ln>
        </p:spPr>
      </p:sp>
      <p:sp>
        <p:nvSpPr>
          <p:cNvPr id="17" name="Text 15"/>
          <p:cNvSpPr/>
          <p:nvPr/>
        </p:nvSpPr>
        <p:spPr>
          <a:xfrm>
            <a:off x="566928" y="6144768"/>
            <a:ext cx="5486400" cy="274320"/>
          </a:xfrm>
          <a:prstGeom prst="rect">
            <a:avLst/>
          </a:prstGeom>
          <a:noFill/>
          <a:ln/>
        </p:spPr>
        <p:txBody>
          <a:bodyPr wrap="square" lIns="0" tIns="0" rIns="0" bIns="0" rtlCol="0" anchor="ctr"/>
          <a:lstStyle/>
          <a:p>
            <a:pPr indent="0" marL="0">
              <a:buNone/>
            </a:pPr>
            <a:r>
              <a:rPr lang="en-US" sz="1100" dirty="0">
                <a:solidFill>
                  <a:srgbClr val="7F8792"/>
                </a:solidFill>
                <a:latin typeface="Calibri" pitchFamily="34" charset="0"/>
                <a:ea typeface="Calibri" pitchFamily="34" charset="-122"/>
                <a:cs typeface="Calibri" pitchFamily="34" charset="-120"/>
              </a:rPr>
              <a:t>Compiler Design — project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The idea in one slide</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You write this. The compiler produces this.</a:t>
            </a:r>
            <a:endParaRPr lang="en-US" sz="1500" dirty="0"/>
          </a:p>
        </p:txBody>
      </p:sp>
      <p:sp>
        <p:nvSpPr>
          <p:cNvPr id="4" name="Shape 2"/>
          <p:cNvSpPr/>
          <p:nvPr/>
        </p:nvSpPr>
        <p:spPr>
          <a:xfrm>
            <a:off x="566928" y="1691640"/>
            <a:ext cx="5394960" cy="3246120"/>
          </a:xfrm>
          <a:prstGeom prst="rect">
            <a:avLst/>
          </a:prstGeom>
          <a:solidFill>
            <a:srgbClr val="F4F2EE"/>
          </a:solidFill>
          <a:ln w="12700">
            <a:solidFill>
              <a:srgbClr val="DCDCD4"/>
            </a:solidFill>
            <a:prstDash val="solid"/>
          </a:ln>
        </p:spPr>
      </p:sp>
      <p:sp>
        <p:nvSpPr>
          <p:cNvPr id="5" name="Text 3"/>
          <p:cNvSpPr/>
          <p:nvPr/>
        </p:nvSpPr>
        <p:spPr>
          <a:xfrm>
            <a:off x="694944" y="1783080"/>
            <a:ext cx="5138928" cy="3063240"/>
          </a:xfrm>
          <a:prstGeom prst="rect">
            <a:avLst/>
          </a:prstGeom>
          <a:noFill/>
          <a:ln/>
        </p:spPr>
        <p:txBody>
          <a:bodyPr wrap="square" lIns="0" tIns="0" rIns="0" bIns="0" rtlCol="0" anchor="t"/>
          <a:lstStyle/>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tempo 120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key D minor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duration 8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instrument piano = "grand piano"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instrument bass  = "electric bass" ;</a:t>
            </a:r>
            <a:endParaRPr lang="en-US" sz="1150" dirty="0"/>
          </a:p>
          <a:p>
            <a:pPr indent="0" marL="0">
              <a:lnSpc>
                <a:spcPct val="106000"/>
              </a:lnSpc>
              <a:buNone/>
            </a:pP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phrase riff(t)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    transpose t of [ D4 F4 A4 &lt;D4 F4 A4&gt;/4 ]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phrase tail = [ ^5 ^3 ^1/4 r/8 ] ;</a:t>
            </a:r>
            <a:endParaRPr lang="en-US" sz="1150" dirty="0"/>
          </a:p>
          <a:p>
            <a:pPr indent="0" marL="0">
              <a:lnSpc>
                <a:spcPct val="106000"/>
              </a:lnSpc>
              <a:buNone/>
            </a:pP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voice lead on piano = repeat 2 of riff(0) tail ;</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voice low  on bass  = transpose -12 of</a:t>
            </a: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                      [ repeat 2 of riff(0) ] ;</a:t>
            </a:r>
            <a:endParaRPr lang="en-US" sz="1150" dirty="0"/>
          </a:p>
          <a:p>
            <a:pPr indent="0" marL="0">
              <a:lnSpc>
                <a:spcPct val="106000"/>
              </a:lnSpc>
              <a:buNone/>
            </a:pPr>
            <a:endParaRPr lang="en-US" sz="1150" dirty="0"/>
          </a:p>
          <a:p>
            <a:pPr indent="0" marL="0">
              <a:lnSpc>
                <a:spcPct val="106000"/>
              </a:lnSpc>
              <a:buNone/>
            </a:pPr>
            <a:r>
              <a:rPr lang="en-US" sz="1150" dirty="0">
                <a:solidFill>
                  <a:srgbClr val="12151C"/>
                </a:solidFill>
                <a:latin typeface="Courier New" pitchFamily="34" charset="0"/>
                <a:ea typeface="Courier New" pitchFamily="34" charset="-122"/>
                <a:cs typeface="Courier New" pitchFamily="34" charset="-120"/>
              </a:rPr>
              <a:t>play lead | low ;</a:t>
            </a:r>
            <a:endParaRPr lang="en-US" sz="1150" dirty="0"/>
          </a:p>
        </p:txBody>
      </p:sp>
      <p:sp>
        <p:nvSpPr>
          <p:cNvPr id="6" name="Text 4"/>
          <p:cNvSpPr/>
          <p:nvPr/>
        </p:nvSpPr>
        <p:spPr>
          <a:xfrm>
            <a:off x="566928" y="5029200"/>
            <a:ext cx="539496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17 lines of Cadence  ·  examples/03_riff.cad</a:t>
            </a:r>
            <a:endParaRPr lang="en-US" sz="1100" dirty="0"/>
          </a:p>
        </p:txBody>
      </p:sp>
      <p:sp>
        <p:nvSpPr>
          <p:cNvPr id="7" name="Shape 5"/>
          <p:cNvSpPr/>
          <p:nvPr/>
        </p:nvSpPr>
        <p:spPr>
          <a:xfrm>
            <a:off x="6400800" y="1691640"/>
            <a:ext cx="5212080" cy="3246120"/>
          </a:xfrm>
          <a:prstGeom prst="rect">
            <a:avLst/>
          </a:prstGeom>
          <a:solidFill>
            <a:srgbClr val="FFFFFF"/>
          </a:solidFill>
          <a:ln w="12700">
            <a:solidFill>
              <a:srgbClr val="DCDCD4"/>
            </a:solidFill>
            <a:prstDash val="solid"/>
          </a:ln>
        </p:spPr>
      </p:sp>
      <p:sp>
        <p:nvSpPr>
          <p:cNvPr id="8" name="Shape 6"/>
          <p:cNvSpPr/>
          <p:nvPr/>
        </p:nvSpPr>
        <p:spPr>
          <a:xfrm>
            <a:off x="7703820" y="1691640"/>
            <a:ext cx="0" cy="3246120"/>
          </a:xfrm>
          <a:prstGeom prst="line">
            <a:avLst/>
          </a:prstGeom>
          <a:noFill/>
          <a:ln w="12700">
            <a:solidFill>
              <a:srgbClr val="EFEEE8"/>
            </a:solidFill>
            <a:prstDash val="solid"/>
          </a:ln>
        </p:spPr>
      </p:sp>
      <p:sp>
        <p:nvSpPr>
          <p:cNvPr id="9" name="Shape 7"/>
          <p:cNvSpPr/>
          <p:nvPr/>
        </p:nvSpPr>
        <p:spPr>
          <a:xfrm>
            <a:off x="9006840" y="1691640"/>
            <a:ext cx="0" cy="3246120"/>
          </a:xfrm>
          <a:prstGeom prst="line">
            <a:avLst/>
          </a:prstGeom>
          <a:noFill/>
          <a:ln w="12700">
            <a:solidFill>
              <a:srgbClr val="EFEEE8"/>
            </a:solidFill>
            <a:prstDash val="solid"/>
          </a:ln>
        </p:spPr>
      </p:sp>
      <p:sp>
        <p:nvSpPr>
          <p:cNvPr id="10" name="Shape 8"/>
          <p:cNvSpPr/>
          <p:nvPr/>
        </p:nvSpPr>
        <p:spPr>
          <a:xfrm>
            <a:off x="10309860" y="1691640"/>
            <a:ext cx="0" cy="3246120"/>
          </a:xfrm>
          <a:prstGeom prst="line">
            <a:avLst/>
          </a:prstGeom>
          <a:noFill/>
          <a:ln w="12700">
            <a:solidFill>
              <a:srgbClr val="EFEEE8"/>
            </a:solidFill>
            <a:prstDash val="solid"/>
          </a:ln>
        </p:spPr>
      </p:sp>
      <p:sp>
        <p:nvSpPr>
          <p:cNvPr id="11" name="Shape 9"/>
          <p:cNvSpPr/>
          <p:nvPr/>
        </p:nvSpPr>
        <p:spPr>
          <a:xfrm>
            <a:off x="6556664" y="3264408"/>
            <a:ext cx="336665" cy="118872"/>
          </a:xfrm>
          <a:prstGeom prst="rect">
            <a:avLst/>
          </a:prstGeom>
          <a:solidFill>
            <a:srgbClr val="7A1F3D"/>
          </a:solidFill>
          <a:ln w="12700">
            <a:solidFill>
              <a:srgbClr val="7A1F3D"/>
            </a:solidFill>
            <a:prstDash val="solid"/>
          </a:ln>
        </p:spPr>
      </p:sp>
      <p:sp>
        <p:nvSpPr>
          <p:cNvPr id="12" name="Shape 10"/>
          <p:cNvSpPr/>
          <p:nvPr/>
        </p:nvSpPr>
        <p:spPr>
          <a:xfrm>
            <a:off x="6912033" y="2880360"/>
            <a:ext cx="336665" cy="118872"/>
          </a:xfrm>
          <a:prstGeom prst="rect">
            <a:avLst/>
          </a:prstGeom>
          <a:solidFill>
            <a:srgbClr val="7A1F3D"/>
          </a:solidFill>
          <a:ln w="12700">
            <a:solidFill>
              <a:srgbClr val="7A1F3D"/>
            </a:solidFill>
            <a:prstDash val="solid"/>
          </a:ln>
        </p:spPr>
      </p:sp>
      <p:sp>
        <p:nvSpPr>
          <p:cNvPr id="13" name="Shape 11"/>
          <p:cNvSpPr/>
          <p:nvPr/>
        </p:nvSpPr>
        <p:spPr>
          <a:xfrm>
            <a:off x="7267402" y="2496312"/>
            <a:ext cx="336665" cy="118872"/>
          </a:xfrm>
          <a:prstGeom prst="rect">
            <a:avLst/>
          </a:prstGeom>
          <a:solidFill>
            <a:srgbClr val="7A1F3D"/>
          </a:solidFill>
          <a:ln w="12700">
            <a:solidFill>
              <a:srgbClr val="7A1F3D"/>
            </a:solidFill>
            <a:prstDash val="solid"/>
          </a:ln>
        </p:spPr>
      </p:sp>
      <p:sp>
        <p:nvSpPr>
          <p:cNvPr id="14" name="Shape 12"/>
          <p:cNvSpPr/>
          <p:nvPr/>
        </p:nvSpPr>
        <p:spPr>
          <a:xfrm>
            <a:off x="7622771" y="3264408"/>
            <a:ext cx="673331" cy="118872"/>
          </a:xfrm>
          <a:prstGeom prst="rect">
            <a:avLst/>
          </a:prstGeom>
          <a:solidFill>
            <a:srgbClr val="7A1F3D"/>
          </a:solidFill>
          <a:ln w="12700">
            <a:solidFill>
              <a:srgbClr val="7A1F3D"/>
            </a:solidFill>
            <a:prstDash val="solid"/>
          </a:ln>
        </p:spPr>
      </p:sp>
      <p:sp>
        <p:nvSpPr>
          <p:cNvPr id="15" name="Shape 13"/>
          <p:cNvSpPr/>
          <p:nvPr/>
        </p:nvSpPr>
        <p:spPr>
          <a:xfrm>
            <a:off x="7622771" y="2880360"/>
            <a:ext cx="673331" cy="118872"/>
          </a:xfrm>
          <a:prstGeom prst="rect">
            <a:avLst/>
          </a:prstGeom>
          <a:solidFill>
            <a:srgbClr val="7A1F3D"/>
          </a:solidFill>
          <a:ln w="12700">
            <a:solidFill>
              <a:srgbClr val="7A1F3D"/>
            </a:solidFill>
            <a:prstDash val="solid"/>
          </a:ln>
        </p:spPr>
      </p:sp>
      <p:sp>
        <p:nvSpPr>
          <p:cNvPr id="16" name="Shape 14"/>
          <p:cNvSpPr/>
          <p:nvPr/>
        </p:nvSpPr>
        <p:spPr>
          <a:xfrm>
            <a:off x="7622771" y="2496312"/>
            <a:ext cx="673331" cy="118872"/>
          </a:xfrm>
          <a:prstGeom prst="rect">
            <a:avLst/>
          </a:prstGeom>
          <a:solidFill>
            <a:srgbClr val="7A1F3D"/>
          </a:solidFill>
          <a:ln w="12700">
            <a:solidFill>
              <a:srgbClr val="7A1F3D"/>
            </a:solidFill>
            <a:prstDash val="solid"/>
          </a:ln>
        </p:spPr>
      </p:sp>
      <p:sp>
        <p:nvSpPr>
          <p:cNvPr id="17" name="Shape 15"/>
          <p:cNvSpPr/>
          <p:nvPr/>
        </p:nvSpPr>
        <p:spPr>
          <a:xfrm>
            <a:off x="8314805" y="3264408"/>
            <a:ext cx="336665" cy="118872"/>
          </a:xfrm>
          <a:prstGeom prst="rect">
            <a:avLst/>
          </a:prstGeom>
          <a:solidFill>
            <a:srgbClr val="7A1F3D"/>
          </a:solidFill>
          <a:ln w="12700">
            <a:solidFill>
              <a:srgbClr val="7A1F3D"/>
            </a:solidFill>
            <a:prstDash val="solid"/>
          </a:ln>
        </p:spPr>
      </p:sp>
      <p:sp>
        <p:nvSpPr>
          <p:cNvPr id="18" name="Shape 16"/>
          <p:cNvSpPr/>
          <p:nvPr/>
        </p:nvSpPr>
        <p:spPr>
          <a:xfrm>
            <a:off x="8670175" y="2880360"/>
            <a:ext cx="336665" cy="118872"/>
          </a:xfrm>
          <a:prstGeom prst="rect">
            <a:avLst/>
          </a:prstGeom>
          <a:solidFill>
            <a:srgbClr val="7A1F3D"/>
          </a:solidFill>
          <a:ln w="12700">
            <a:solidFill>
              <a:srgbClr val="7A1F3D"/>
            </a:solidFill>
            <a:prstDash val="solid"/>
          </a:ln>
        </p:spPr>
      </p:sp>
      <p:sp>
        <p:nvSpPr>
          <p:cNvPr id="19" name="Shape 17"/>
          <p:cNvSpPr/>
          <p:nvPr/>
        </p:nvSpPr>
        <p:spPr>
          <a:xfrm>
            <a:off x="9025544" y="2496312"/>
            <a:ext cx="336665" cy="118872"/>
          </a:xfrm>
          <a:prstGeom prst="rect">
            <a:avLst/>
          </a:prstGeom>
          <a:solidFill>
            <a:srgbClr val="7A1F3D"/>
          </a:solidFill>
          <a:ln w="12700">
            <a:solidFill>
              <a:srgbClr val="7A1F3D"/>
            </a:solidFill>
            <a:prstDash val="solid"/>
          </a:ln>
        </p:spPr>
      </p:sp>
      <p:sp>
        <p:nvSpPr>
          <p:cNvPr id="20" name="Shape 18"/>
          <p:cNvSpPr/>
          <p:nvPr/>
        </p:nvSpPr>
        <p:spPr>
          <a:xfrm>
            <a:off x="9380913" y="3264408"/>
            <a:ext cx="673331" cy="118872"/>
          </a:xfrm>
          <a:prstGeom prst="rect">
            <a:avLst/>
          </a:prstGeom>
          <a:solidFill>
            <a:srgbClr val="7A1F3D"/>
          </a:solidFill>
          <a:ln w="12700">
            <a:solidFill>
              <a:srgbClr val="7A1F3D"/>
            </a:solidFill>
            <a:prstDash val="solid"/>
          </a:ln>
        </p:spPr>
      </p:sp>
      <p:sp>
        <p:nvSpPr>
          <p:cNvPr id="21" name="Shape 19"/>
          <p:cNvSpPr/>
          <p:nvPr/>
        </p:nvSpPr>
        <p:spPr>
          <a:xfrm>
            <a:off x="9380913" y="2880360"/>
            <a:ext cx="673331" cy="118872"/>
          </a:xfrm>
          <a:prstGeom prst="rect">
            <a:avLst/>
          </a:prstGeom>
          <a:solidFill>
            <a:srgbClr val="7A1F3D"/>
          </a:solidFill>
          <a:ln w="12700">
            <a:solidFill>
              <a:srgbClr val="7A1F3D"/>
            </a:solidFill>
            <a:prstDash val="solid"/>
          </a:ln>
        </p:spPr>
      </p:sp>
      <p:sp>
        <p:nvSpPr>
          <p:cNvPr id="22" name="Shape 20"/>
          <p:cNvSpPr/>
          <p:nvPr/>
        </p:nvSpPr>
        <p:spPr>
          <a:xfrm>
            <a:off x="9380913" y="2496312"/>
            <a:ext cx="673331" cy="118872"/>
          </a:xfrm>
          <a:prstGeom prst="rect">
            <a:avLst/>
          </a:prstGeom>
          <a:solidFill>
            <a:srgbClr val="7A1F3D"/>
          </a:solidFill>
          <a:ln w="12700">
            <a:solidFill>
              <a:srgbClr val="7A1F3D"/>
            </a:solidFill>
            <a:prstDash val="solid"/>
          </a:ln>
        </p:spPr>
      </p:sp>
      <p:sp>
        <p:nvSpPr>
          <p:cNvPr id="23" name="Shape 21"/>
          <p:cNvSpPr/>
          <p:nvPr/>
        </p:nvSpPr>
        <p:spPr>
          <a:xfrm>
            <a:off x="10072947" y="2496312"/>
            <a:ext cx="336665" cy="118872"/>
          </a:xfrm>
          <a:prstGeom prst="rect">
            <a:avLst/>
          </a:prstGeom>
          <a:solidFill>
            <a:srgbClr val="B4762C"/>
          </a:solidFill>
          <a:ln w="12700">
            <a:solidFill>
              <a:srgbClr val="B4762C"/>
            </a:solidFill>
            <a:prstDash val="solid"/>
          </a:ln>
        </p:spPr>
      </p:sp>
      <p:sp>
        <p:nvSpPr>
          <p:cNvPr id="24" name="Shape 22"/>
          <p:cNvSpPr/>
          <p:nvPr/>
        </p:nvSpPr>
        <p:spPr>
          <a:xfrm>
            <a:off x="10428316" y="2880360"/>
            <a:ext cx="336665" cy="118872"/>
          </a:xfrm>
          <a:prstGeom prst="rect">
            <a:avLst/>
          </a:prstGeom>
          <a:solidFill>
            <a:srgbClr val="B4762C"/>
          </a:solidFill>
          <a:ln w="12700">
            <a:solidFill>
              <a:srgbClr val="B4762C"/>
            </a:solidFill>
            <a:prstDash val="solid"/>
          </a:ln>
        </p:spPr>
      </p:sp>
      <p:sp>
        <p:nvSpPr>
          <p:cNvPr id="25" name="Shape 23"/>
          <p:cNvSpPr/>
          <p:nvPr/>
        </p:nvSpPr>
        <p:spPr>
          <a:xfrm>
            <a:off x="10783685" y="3264408"/>
            <a:ext cx="673331" cy="118872"/>
          </a:xfrm>
          <a:prstGeom prst="rect">
            <a:avLst/>
          </a:prstGeom>
          <a:solidFill>
            <a:srgbClr val="B4762C"/>
          </a:solidFill>
          <a:ln w="12700">
            <a:solidFill>
              <a:srgbClr val="B4762C"/>
            </a:solidFill>
            <a:prstDash val="solid"/>
          </a:ln>
        </p:spPr>
      </p:sp>
      <p:sp>
        <p:nvSpPr>
          <p:cNvPr id="26" name="Shape 24"/>
          <p:cNvSpPr/>
          <p:nvPr/>
        </p:nvSpPr>
        <p:spPr>
          <a:xfrm>
            <a:off x="6556664" y="4416552"/>
            <a:ext cx="336665" cy="118872"/>
          </a:xfrm>
          <a:prstGeom prst="rect">
            <a:avLst/>
          </a:prstGeom>
          <a:solidFill>
            <a:srgbClr val="1F6F6B"/>
          </a:solidFill>
          <a:ln w="12700">
            <a:solidFill>
              <a:srgbClr val="1F6F6B"/>
            </a:solidFill>
            <a:prstDash val="solid"/>
          </a:ln>
        </p:spPr>
      </p:sp>
      <p:sp>
        <p:nvSpPr>
          <p:cNvPr id="27" name="Shape 25"/>
          <p:cNvSpPr/>
          <p:nvPr/>
        </p:nvSpPr>
        <p:spPr>
          <a:xfrm>
            <a:off x="6912033" y="4032504"/>
            <a:ext cx="336665" cy="118872"/>
          </a:xfrm>
          <a:prstGeom prst="rect">
            <a:avLst/>
          </a:prstGeom>
          <a:solidFill>
            <a:srgbClr val="1F6F6B"/>
          </a:solidFill>
          <a:ln w="12700">
            <a:solidFill>
              <a:srgbClr val="1F6F6B"/>
            </a:solidFill>
            <a:prstDash val="solid"/>
          </a:ln>
        </p:spPr>
      </p:sp>
      <p:sp>
        <p:nvSpPr>
          <p:cNvPr id="28" name="Shape 26"/>
          <p:cNvSpPr/>
          <p:nvPr/>
        </p:nvSpPr>
        <p:spPr>
          <a:xfrm>
            <a:off x="7267402" y="3648456"/>
            <a:ext cx="336665" cy="118872"/>
          </a:xfrm>
          <a:prstGeom prst="rect">
            <a:avLst/>
          </a:prstGeom>
          <a:solidFill>
            <a:srgbClr val="1F6F6B"/>
          </a:solidFill>
          <a:ln w="12700">
            <a:solidFill>
              <a:srgbClr val="1F6F6B"/>
            </a:solidFill>
            <a:prstDash val="solid"/>
          </a:ln>
        </p:spPr>
      </p:sp>
      <p:sp>
        <p:nvSpPr>
          <p:cNvPr id="29" name="Shape 27"/>
          <p:cNvSpPr/>
          <p:nvPr/>
        </p:nvSpPr>
        <p:spPr>
          <a:xfrm>
            <a:off x="7622771" y="4416552"/>
            <a:ext cx="673331" cy="118872"/>
          </a:xfrm>
          <a:prstGeom prst="rect">
            <a:avLst/>
          </a:prstGeom>
          <a:solidFill>
            <a:srgbClr val="1F6F6B"/>
          </a:solidFill>
          <a:ln w="12700">
            <a:solidFill>
              <a:srgbClr val="1F6F6B"/>
            </a:solidFill>
            <a:prstDash val="solid"/>
          </a:ln>
        </p:spPr>
      </p:sp>
      <p:sp>
        <p:nvSpPr>
          <p:cNvPr id="30" name="Shape 28"/>
          <p:cNvSpPr/>
          <p:nvPr/>
        </p:nvSpPr>
        <p:spPr>
          <a:xfrm>
            <a:off x="8314805" y="4416552"/>
            <a:ext cx="336665" cy="118872"/>
          </a:xfrm>
          <a:prstGeom prst="rect">
            <a:avLst/>
          </a:prstGeom>
          <a:solidFill>
            <a:srgbClr val="1F6F6B"/>
          </a:solidFill>
          <a:ln w="12700">
            <a:solidFill>
              <a:srgbClr val="1F6F6B"/>
            </a:solidFill>
            <a:prstDash val="solid"/>
          </a:ln>
        </p:spPr>
      </p:sp>
      <p:sp>
        <p:nvSpPr>
          <p:cNvPr id="31" name="Shape 29"/>
          <p:cNvSpPr/>
          <p:nvPr/>
        </p:nvSpPr>
        <p:spPr>
          <a:xfrm>
            <a:off x="8670175" y="4032504"/>
            <a:ext cx="336665" cy="118872"/>
          </a:xfrm>
          <a:prstGeom prst="rect">
            <a:avLst/>
          </a:prstGeom>
          <a:solidFill>
            <a:srgbClr val="1F6F6B"/>
          </a:solidFill>
          <a:ln w="12700">
            <a:solidFill>
              <a:srgbClr val="1F6F6B"/>
            </a:solidFill>
            <a:prstDash val="solid"/>
          </a:ln>
        </p:spPr>
      </p:sp>
      <p:sp>
        <p:nvSpPr>
          <p:cNvPr id="32" name="Shape 30"/>
          <p:cNvSpPr/>
          <p:nvPr/>
        </p:nvSpPr>
        <p:spPr>
          <a:xfrm>
            <a:off x="9025544" y="3648456"/>
            <a:ext cx="336665" cy="118872"/>
          </a:xfrm>
          <a:prstGeom prst="rect">
            <a:avLst/>
          </a:prstGeom>
          <a:solidFill>
            <a:srgbClr val="1F6F6B"/>
          </a:solidFill>
          <a:ln w="12700">
            <a:solidFill>
              <a:srgbClr val="1F6F6B"/>
            </a:solidFill>
            <a:prstDash val="solid"/>
          </a:ln>
        </p:spPr>
      </p:sp>
      <p:sp>
        <p:nvSpPr>
          <p:cNvPr id="33" name="Shape 31"/>
          <p:cNvSpPr/>
          <p:nvPr/>
        </p:nvSpPr>
        <p:spPr>
          <a:xfrm>
            <a:off x="9380913" y="4416552"/>
            <a:ext cx="673331" cy="118872"/>
          </a:xfrm>
          <a:prstGeom prst="rect">
            <a:avLst/>
          </a:prstGeom>
          <a:solidFill>
            <a:srgbClr val="1F6F6B"/>
          </a:solidFill>
          <a:ln w="12700">
            <a:solidFill>
              <a:srgbClr val="1F6F6B"/>
            </a:solidFill>
            <a:prstDash val="solid"/>
          </a:ln>
        </p:spPr>
      </p:sp>
      <p:sp>
        <p:nvSpPr>
          <p:cNvPr id="34" name="Text 32"/>
          <p:cNvSpPr/>
          <p:nvPr/>
        </p:nvSpPr>
        <p:spPr>
          <a:xfrm>
            <a:off x="6583680" y="1709928"/>
            <a:ext cx="2743200" cy="219456"/>
          </a:xfrm>
          <a:prstGeom prst="rect">
            <a:avLst/>
          </a:prstGeom>
          <a:noFill/>
          <a:ln/>
        </p:spPr>
        <p:txBody>
          <a:bodyPr wrap="square" lIns="0" tIns="0" rIns="0" bIns="0" rtlCol="0" anchor="ctr"/>
          <a:lstStyle/>
          <a:p>
            <a:pPr indent="0" marL="0">
              <a:buNone/>
            </a:pPr>
            <a:r>
              <a:rPr lang="en-US" sz="900" b="1" dirty="0">
                <a:solidFill>
                  <a:srgbClr val="7A1F3D"/>
                </a:solidFill>
                <a:latin typeface="Calibri" pitchFamily="34" charset="0"/>
                <a:ea typeface="Calibri" pitchFamily="34" charset="-122"/>
                <a:cs typeface="Calibri" pitchFamily="34" charset="-120"/>
              </a:rPr>
              <a:t>lead (piano, channel 1)</a:t>
            </a:r>
            <a:endParaRPr lang="en-US" sz="900" dirty="0"/>
          </a:p>
        </p:txBody>
      </p:sp>
      <p:sp>
        <p:nvSpPr>
          <p:cNvPr id="35" name="Text 33"/>
          <p:cNvSpPr/>
          <p:nvPr/>
        </p:nvSpPr>
        <p:spPr>
          <a:xfrm>
            <a:off x="6583680" y="4389120"/>
            <a:ext cx="2743200" cy="219456"/>
          </a:xfrm>
          <a:prstGeom prst="rect">
            <a:avLst/>
          </a:prstGeom>
          <a:noFill/>
          <a:ln/>
        </p:spPr>
        <p:txBody>
          <a:bodyPr wrap="square" lIns="0" tIns="0" rIns="0" bIns="0" rtlCol="0" anchor="ctr"/>
          <a:lstStyle/>
          <a:p>
            <a:pPr indent="0" marL="0">
              <a:buNone/>
            </a:pPr>
            <a:r>
              <a:rPr lang="en-US" sz="900" b="1" dirty="0">
                <a:solidFill>
                  <a:srgbClr val="1F6F6B"/>
                </a:solidFill>
                <a:latin typeface="Calibri" pitchFamily="34" charset="0"/>
                <a:ea typeface="Calibri" pitchFamily="34" charset="-122"/>
                <a:cs typeface="Calibri" pitchFamily="34" charset="-120"/>
              </a:rPr>
              <a:t>low (bass, channel 2)</a:t>
            </a:r>
            <a:endParaRPr lang="en-US" sz="900" dirty="0"/>
          </a:p>
        </p:txBody>
      </p:sp>
      <p:sp>
        <p:nvSpPr>
          <p:cNvPr id="36" name="Text 34"/>
          <p:cNvSpPr/>
          <p:nvPr/>
        </p:nvSpPr>
        <p:spPr>
          <a:xfrm>
            <a:off x="6400800" y="5029200"/>
            <a:ext cx="521208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27 notes  ·  2 tracks  ·  3.75 seconds  ·  a 348-byte .mid file that plays</a:t>
            </a:r>
            <a:endParaRPr lang="en-US" sz="1100" dirty="0"/>
          </a:p>
        </p:txBody>
      </p:sp>
      <p:sp>
        <p:nvSpPr>
          <p:cNvPr id="37" name="Shape 35"/>
          <p:cNvSpPr/>
          <p:nvPr/>
        </p:nvSpPr>
        <p:spPr>
          <a:xfrm>
            <a:off x="566928" y="5440680"/>
            <a:ext cx="2103120" cy="841248"/>
          </a:xfrm>
          <a:prstGeom prst="roundRect">
            <a:avLst>
              <a:gd name="adj" fmla="val 6522"/>
            </a:avLst>
          </a:prstGeom>
          <a:solidFill>
            <a:srgbClr val="FFFFFF"/>
          </a:solidFill>
          <a:ln w="12700">
            <a:solidFill>
              <a:srgbClr val="DCDCD4"/>
            </a:solidFill>
            <a:prstDash val="solid"/>
          </a:ln>
        </p:spPr>
      </p:sp>
      <p:sp>
        <p:nvSpPr>
          <p:cNvPr id="38" name="Text 36"/>
          <p:cNvSpPr/>
          <p:nvPr/>
        </p:nvSpPr>
        <p:spPr>
          <a:xfrm>
            <a:off x="658368" y="5550408"/>
            <a:ext cx="1920240" cy="437449"/>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93</a:t>
            </a:r>
            <a:endParaRPr lang="en-US" sz="2600" dirty="0"/>
          </a:p>
        </p:txBody>
      </p:sp>
      <p:sp>
        <p:nvSpPr>
          <p:cNvPr id="39" name="Text 37"/>
          <p:cNvSpPr/>
          <p:nvPr/>
        </p:nvSpPr>
        <p:spPr>
          <a:xfrm>
            <a:off x="640080" y="5945429"/>
            <a:ext cx="1956816" cy="302849"/>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tokens scanned</a:t>
            </a:r>
            <a:endParaRPr lang="en-US" sz="1050" dirty="0"/>
          </a:p>
        </p:txBody>
      </p:sp>
      <p:sp>
        <p:nvSpPr>
          <p:cNvPr id="40" name="Shape 38"/>
          <p:cNvSpPr/>
          <p:nvPr/>
        </p:nvSpPr>
        <p:spPr>
          <a:xfrm>
            <a:off x="2852928" y="5440680"/>
            <a:ext cx="2103120" cy="841248"/>
          </a:xfrm>
          <a:prstGeom prst="roundRect">
            <a:avLst>
              <a:gd name="adj" fmla="val 6522"/>
            </a:avLst>
          </a:prstGeom>
          <a:solidFill>
            <a:srgbClr val="FFFFFF"/>
          </a:solidFill>
          <a:ln w="12700">
            <a:solidFill>
              <a:srgbClr val="DCDCD4"/>
            </a:solidFill>
            <a:prstDash val="solid"/>
          </a:ln>
        </p:spPr>
      </p:sp>
      <p:sp>
        <p:nvSpPr>
          <p:cNvPr id="41" name="Text 39"/>
          <p:cNvSpPr/>
          <p:nvPr/>
        </p:nvSpPr>
        <p:spPr>
          <a:xfrm>
            <a:off x="2944368" y="5550408"/>
            <a:ext cx="1920240" cy="437449"/>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83</a:t>
            </a:r>
            <a:endParaRPr lang="en-US" sz="2600" dirty="0"/>
          </a:p>
        </p:txBody>
      </p:sp>
      <p:sp>
        <p:nvSpPr>
          <p:cNvPr id="42" name="Text 40"/>
          <p:cNvSpPr/>
          <p:nvPr/>
        </p:nvSpPr>
        <p:spPr>
          <a:xfrm>
            <a:off x="2926080" y="5945429"/>
            <a:ext cx="1956816" cy="302849"/>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IR instructions</a:t>
            </a:r>
            <a:endParaRPr lang="en-US" sz="1050" dirty="0"/>
          </a:p>
        </p:txBody>
      </p:sp>
      <p:sp>
        <p:nvSpPr>
          <p:cNvPr id="43" name="Shape 41"/>
          <p:cNvSpPr/>
          <p:nvPr/>
        </p:nvSpPr>
        <p:spPr>
          <a:xfrm>
            <a:off x="5138928" y="5440680"/>
            <a:ext cx="2103120" cy="841248"/>
          </a:xfrm>
          <a:prstGeom prst="roundRect">
            <a:avLst>
              <a:gd name="adj" fmla="val 6522"/>
            </a:avLst>
          </a:prstGeom>
          <a:solidFill>
            <a:srgbClr val="FFFFFF"/>
          </a:solidFill>
          <a:ln w="12700">
            <a:solidFill>
              <a:srgbClr val="DCDCD4"/>
            </a:solidFill>
            <a:prstDash val="solid"/>
          </a:ln>
        </p:spPr>
      </p:sp>
      <p:sp>
        <p:nvSpPr>
          <p:cNvPr id="44" name="Text 42"/>
          <p:cNvSpPr/>
          <p:nvPr/>
        </p:nvSpPr>
        <p:spPr>
          <a:xfrm>
            <a:off x="5230368" y="5550408"/>
            <a:ext cx="1920240" cy="437449"/>
          </a:xfrm>
          <a:prstGeom prst="rect">
            <a:avLst/>
          </a:prstGeom>
          <a:noFill/>
          <a:ln/>
        </p:spPr>
        <p:txBody>
          <a:bodyPr wrap="square" lIns="0" tIns="0" rIns="0" bIns="0" rtlCol="0" anchor="ctr"/>
          <a:lstStyle/>
          <a:p>
            <a:pPr algn="ctr" indent="0" marL="0">
              <a:buNone/>
            </a:pPr>
            <a:r>
              <a:rPr lang="en-US" sz="2600" b="1" dirty="0">
                <a:solidFill>
                  <a:srgbClr val="B4762C"/>
                </a:solidFill>
                <a:latin typeface="Calibri" pitchFamily="34" charset="0"/>
                <a:ea typeface="Calibri" pitchFamily="34" charset="-122"/>
                <a:cs typeface="Calibri" pitchFamily="34" charset="-120"/>
              </a:rPr>
              <a:t>59%</a:t>
            </a:r>
            <a:endParaRPr lang="en-US" sz="2600" dirty="0"/>
          </a:p>
        </p:txBody>
      </p:sp>
      <p:sp>
        <p:nvSpPr>
          <p:cNvPr id="45" name="Text 43"/>
          <p:cNvSpPr/>
          <p:nvPr/>
        </p:nvSpPr>
        <p:spPr>
          <a:xfrm>
            <a:off x="5212080" y="5945429"/>
            <a:ext cx="1956816" cy="302849"/>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less work after optimising</a:t>
            </a:r>
            <a:endParaRPr lang="en-US" sz="1050" dirty="0"/>
          </a:p>
        </p:txBody>
      </p:sp>
      <p:sp>
        <p:nvSpPr>
          <p:cNvPr id="46" name="Shape 44"/>
          <p:cNvSpPr/>
          <p:nvPr/>
        </p:nvSpPr>
        <p:spPr>
          <a:xfrm>
            <a:off x="7424928" y="5440680"/>
            <a:ext cx="2103120" cy="841248"/>
          </a:xfrm>
          <a:prstGeom prst="roundRect">
            <a:avLst>
              <a:gd name="adj" fmla="val 6522"/>
            </a:avLst>
          </a:prstGeom>
          <a:solidFill>
            <a:srgbClr val="FFFFFF"/>
          </a:solidFill>
          <a:ln w="12700">
            <a:solidFill>
              <a:srgbClr val="DCDCD4"/>
            </a:solidFill>
            <a:prstDash val="solid"/>
          </a:ln>
        </p:spPr>
      </p:sp>
      <p:sp>
        <p:nvSpPr>
          <p:cNvPr id="47" name="Text 45"/>
          <p:cNvSpPr/>
          <p:nvPr/>
        </p:nvSpPr>
        <p:spPr>
          <a:xfrm>
            <a:off x="7516368" y="5550408"/>
            <a:ext cx="1920240" cy="437449"/>
          </a:xfrm>
          <a:prstGeom prst="rect">
            <a:avLst/>
          </a:prstGeom>
          <a:noFill/>
          <a:ln/>
        </p:spPr>
        <p:txBody>
          <a:bodyPr wrap="square" lIns="0" tIns="0" rIns="0" bIns="0" rtlCol="0" anchor="ctr"/>
          <a:lstStyle/>
          <a:p>
            <a:pPr algn="ctr" indent="0" marL="0">
              <a:buNone/>
            </a:pPr>
            <a:r>
              <a:rPr lang="en-US" sz="2600" b="1" dirty="0">
                <a:solidFill>
                  <a:srgbClr val="3C5AA6"/>
                </a:solidFill>
                <a:latin typeface="Calibri" pitchFamily="34" charset="0"/>
                <a:ea typeface="Calibri" pitchFamily="34" charset="-122"/>
                <a:cs typeface="Calibri" pitchFamily="34" charset="-120"/>
              </a:rPr>
              <a:t>0</a:t>
            </a:r>
            <a:endParaRPr lang="en-US" sz="2600" dirty="0"/>
          </a:p>
        </p:txBody>
      </p:sp>
      <p:sp>
        <p:nvSpPr>
          <p:cNvPr id="48" name="Text 46"/>
          <p:cNvSpPr/>
          <p:nvPr/>
        </p:nvSpPr>
        <p:spPr>
          <a:xfrm>
            <a:off x="7498080" y="5945429"/>
            <a:ext cx="1956816" cy="302849"/>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dependencies</a:t>
            </a:r>
            <a:endParaRPr lang="en-US" sz="1050" dirty="0"/>
          </a:p>
        </p:txBody>
      </p:sp>
      <p:sp>
        <p:nvSpPr>
          <p:cNvPr id="49" name="Text 47"/>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The idea</a:t>
            </a:r>
            <a:endParaRPr lang="en-US" sz="1000" dirty="0"/>
          </a:p>
        </p:txBody>
      </p:sp>
      <p:sp>
        <p:nvSpPr>
          <p:cNvPr id="50" name="Text 48"/>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Every module of the course, doing real work</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Not a demo per module — one program that needs all of them at once.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27664" cy="914400"/>
        </p:xfrm>
        <a:graphic>
          <a:graphicData uri="http://schemas.openxmlformats.org/drawingml/2006/table">
            <a:tbl>
              <a:tblPr/>
              <a:tblGrid>
                <a:gridCol w="777240"/>
                <a:gridCol w="3200400"/>
                <a:gridCol w="7050024"/>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Syllabus topic</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Cadence actually does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Lexical analysis, regex → DFA, Lex</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Direct method (nullable/firstpos/lastpos/followpos), then minimisation. 47 states. Python's re module is never used.</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Ambiguity, LL(1), SLR, CLR, LALR</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All four tables built from one grammar. LALR parses; recursive descent cross-checks it.</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SDD, evaluation order, L-attributed</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6 inherited + 3 synthesised attributes. A scale degree cannot be resolved without the inherited key.</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Three-address code, backpatching, procedures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Quadruples, one procedure per phrase with an activation record, real backpatch lists for loop exits.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Basic blocks, DAG, data flow, peephole</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13 passes. Live variables, reaching definitions, available expressions, dominators, natural loops.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Naive code generator for a VM + security checking</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A VM with a frame stack, and a verifier that checks 5 safety properties by abstract interpretation.</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Target machine, register allocation, activation records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MIDI channels are the registers: interference graph, Chaitin colouring, spilling.</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DSL compilation, parallelism, SSA</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Cadence IS the DSL. Parallel voices become independent tracks; SSA is the stated next step.</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5" name="Text 2"/>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Syllabus coverage</a:t>
            </a:r>
            <a:endParaRPr lang="en-US" sz="1000" dirty="0"/>
          </a:p>
        </p:txBody>
      </p:sp>
      <p:sp>
        <p:nvSpPr>
          <p:cNvPr id="6" name="Text 3"/>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The pipeline</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Twelve stages. Every intermediate artefact can be printed.</a:t>
            </a:r>
            <a:endParaRPr lang="en-US" sz="1500" dirty="0"/>
          </a:p>
        </p:txBody>
      </p:sp>
      <p:sp>
        <p:nvSpPr>
          <p:cNvPr id="4" name="Shape 2"/>
          <p:cNvSpPr/>
          <p:nvPr/>
        </p:nvSpPr>
        <p:spPr>
          <a:xfrm>
            <a:off x="566928" y="1965960"/>
            <a:ext cx="1170432" cy="658368"/>
          </a:xfrm>
          <a:prstGeom prst="roundRect">
            <a:avLst>
              <a:gd name="adj" fmla="val 6944"/>
            </a:avLst>
          </a:prstGeom>
          <a:solidFill>
            <a:srgbClr val="FFFFFF"/>
          </a:solidFill>
          <a:ln w="12700">
            <a:solidFill>
              <a:srgbClr val="DCDCD4"/>
            </a:solidFill>
            <a:prstDash val="solid"/>
          </a:ln>
        </p:spPr>
      </p:sp>
      <p:sp>
        <p:nvSpPr>
          <p:cNvPr id="5" name="Text 3"/>
          <p:cNvSpPr/>
          <p:nvPr/>
        </p:nvSpPr>
        <p:spPr>
          <a:xfrm>
            <a:off x="612648" y="1965960"/>
            <a:ext cx="1078992" cy="658368"/>
          </a:xfrm>
          <a:prstGeom prst="rect">
            <a:avLst/>
          </a:prstGeom>
          <a:noFill/>
          <a:ln/>
        </p:spPr>
        <p:txBody>
          <a:bodyPr wrap="square" lIns="0" tIns="0" rIns="0" bIns="0" rtlCol="0" anchor="ctr"/>
          <a:lstStyle/>
          <a:p>
            <a:pPr algn="ctr" indent="0" marL="0">
              <a:buNone/>
            </a:pPr>
            <a:r>
              <a:rPr lang="en-US" sz="1050" b="1" dirty="0">
                <a:solidFill>
                  <a:srgbClr val="12151C"/>
                </a:solidFill>
                <a:latin typeface="Calibri" pitchFamily="34" charset="0"/>
                <a:ea typeface="Calibri" pitchFamily="34" charset="-122"/>
                <a:cs typeface="Calibri" pitchFamily="34" charset="-120"/>
              </a:rPr>
              <a:t>source .cad</a:t>
            </a:r>
            <a:endParaRPr lang="en-US" sz="1050" dirty="0"/>
          </a:p>
        </p:txBody>
      </p:sp>
      <p:sp>
        <p:nvSpPr>
          <p:cNvPr id="6" name="Shape 4"/>
          <p:cNvSpPr/>
          <p:nvPr/>
        </p:nvSpPr>
        <p:spPr>
          <a:xfrm>
            <a:off x="1741932" y="2295144"/>
            <a:ext cx="91440" cy="0"/>
          </a:xfrm>
          <a:prstGeom prst="line">
            <a:avLst/>
          </a:prstGeom>
          <a:noFill/>
          <a:ln w="19050">
            <a:solidFill>
              <a:srgbClr val="6B6F76"/>
            </a:solidFill>
            <a:prstDash val="solid"/>
            <a:tailEnd type="triangle"/>
          </a:ln>
        </p:spPr>
      </p:sp>
      <p:sp>
        <p:nvSpPr>
          <p:cNvPr id="7" name="Shape 5"/>
          <p:cNvSpPr/>
          <p:nvPr/>
        </p:nvSpPr>
        <p:spPr>
          <a:xfrm>
            <a:off x="1837944" y="1965960"/>
            <a:ext cx="1170432" cy="658368"/>
          </a:xfrm>
          <a:prstGeom prst="roundRect">
            <a:avLst>
              <a:gd name="adj" fmla="val 6944"/>
            </a:avLst>
          </a:prstGeom>
          <a:solidFill>
            <a:srgbClr val="7A1F3D"/>
          </a:solidFill>
          <a:ln w="12700">
            <a:solidFill>
              <a:srgbClr val="7A1F3D"/>
            </a:solidFill>
            <a:prstDash val="solid"/>
          </a:ln>
        </p:spPr>
      </p:sp>
      <p:sp>
        <p:nvSpPr>
          <p:cNvPr id="8" name="Text 6"/>
          <p:cNvSpPr/>
          <p:nvPr/>
        </p:nvSpPr>
        <p:spPr>
          <a:xfrm>
            <a:off x="1883664"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tokens</a:t>
            </a:r>
            <a:endParaRPr lang="en-US" sz="1050" dirty="0"/>
          </a:p>
        </p:txBody>
      </p:sp>
      <p:sp>
        <p:nvSpPr>
          <p:cNvPr id="9" name="Shape 7"/>
          <p:cNvSpPr/>
          <p:nvPr/>
        </p:nvSpPr>
        <p:spPr>
          <a:xfrm>
            <a:off x="3012948" y="2295144"/>
            <a:ext cx="91440" cy="0"/>
          </a:xfrm>
          <a:prstGeom prst="line">
            <a:avLst/>
          </a:prstGeom>
          <a:noFill/>
          <a:ln w="19050">
            <a:solidFill>
              <a:srgbClr val="6B6F76"/>
            </a:solidFill>
            <a:prstDash val="solid"/>
            <a:tailEnd type="triangle"/>
          </a:ln>
        </p:spPr>
      </p:sp>
      <p:sp>
        <p:nvSpPr>
          <p:cNvPr id="10" name="Shape 8"/>
          <p:cNvSpPr/>
          <p:nvPr/>
        </p:nvSpPr>
        <p:spPr>
          <a:xfrm>
            <a:off x="3108960" y="1965960"/>
            <a:ext cx="1170432" cy="658368"/>
          </a:xfrm>
          <a:prstGeom prst="roundRect">
            <a:avLst>
              <a:gd name="adj" fmla="val 6944"/>
            </a:avLst>
          </a:prstGeom>
          <a:solidFill>
            <a:srgbClr val="7A1F3D"/>
          </a:solidFill>
          <a:ln w="12700">
            <a:solidFill>
              <a:srgbClr val="7A1F3D"/>
            </a:solidFill>
            <a:prstDash val="solid"/>
          </a:ln>
        </p:spPr>
      </p:sp>
      <p:sp>
        <p:nvSpPr>
          <p:cNvPr id="11" name="Text 9"/>
          <p:cNvSpPr/>
          <p:nvPr/>
        </p:nvSpPr>
        <p:spPr>
          <a:xfrm>
            <a:off x="3154680"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syntax tree</a:t>
            </a:r>
            <a:endParaRPr lang="en-US" sz="1050" dirty="0"/>
          </a:p>
        </p:txBody>
      </p:sp>
      <p:sp>
        <p:nvSpPr>
          <p:cNvPr id="12" name="Shape 10"/>
          <p:cNvSpPr/>
          <p:nvPr/>
        </p:nvSpPr>
        <p:spPr>
          <a:xfrm>
            <a:off x="4283964" y="2295144"/>
            <a:ext cx="91440" cy="0"/>
          </a:xfrm>
          <a:prstGeom prst="line">
            <a:avLst/>
          </a:prstGeom>
          <a:noFill/>
          <a:ln w="19050">
            <a:solidFill>
              <a:srgbClr val="6B6F76"/>
            </a:solidFill>
            <a:prstDash val="solid"/>
            <a:tailEnd type="triangle"/>
          </a:ln>
        </p:spPr>
      </p:sp>
      <p:sp>
        <p:nvSpPr>
          <p:cNvPr id="13" name="Shape 11"/>
          <p:cNvSpPr/>
          <p:nvPr/>
        </p:nvSpPr>
        <p:spPr>
          <a:xfrm>
            <a:off x="4379976" y="1965960"/>
            <a:ext cx="1170432" cy="658368"/>
          </a:xfrm>
          <a:prstGeom prst="roundRect">
            <a:avLst>
              <a:gd name="adj" fmla="val 6944"/>
            </a:avLst>
          </a:prstGeom>
          <a:solidFill>
            <a:srgbClr val="1F6F6B"/>
          </a:solidFill>
          <a:ln w="12700">
            <a:solidFill>
              <a:srgbClr val="1F6F6B"/>
            </a:solidFill>
            <a:prstDash val="solid"/>
          </a:ln>
        </p:spPr>
      </p:sp>
      <p:sp>
        <p:nvSpPr>
          <p:cNvPr id="14" name="Text 12"/>
          <p:cNvSpPr/>
          <p:nvPr/>
        </p:nvSpPr>
        <p:spPr>
          <a:xfrm>
            <a:off x="4425696"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annotated tree</a:t>
            </a:r>
            <a:endParaRPr lang="en-US" sz="1050" dirty="0"/>
          </a:p>
        </p:txBody>
      </p:sp>
      <p:sp>
        <p:nvSpPr>
          <p:cNvPr id="15" name="Shape 13"/>
          <p:cNvSpPr/>
          <p:nvPr/>
        </p:nvSpPr>
        <p:spPr>
          <a:xfrm>
            <a:off x="5554980" y="2295144"/>
            <a:ext cx="91440" cy="0"/>
          </a:xfrm>
          <a:prstGeom prst="line">
            <a:avLst/>
          </a:prstGeom>
          <a:noFill/>
          <a:ln w="19050">
            <a:solidFill>
              <a:srgbClr val="6B6F76"/>
            </a:solidFill>
            <a:prstDash val="solid"/>
            <a:tailEnd type="triangle"/>
          </a:ln>
        </p:spPr>
      </p:sp>
      <p:sp>
        <p:nvSpPr>
          <p:cNvPr id="16" name="Shape 14"/>
          <p:cNvSpPr/>
          <p:nvPr/>
        </p:nvSpPr>
        <p:spPr>
          <a:xfrm>
            <a:off x="5650992" y="1965960"/>
            <a:ext cx="1170432" cy="658368"/>
          </a:xfrm>
          <a:prstGeom prst="roundRect">
            <a:avLst>
              <a:gd name="adj" fmla="val 6944"/>
            </a:avLst>
          </a:prstGeom>
          <a:solidFill>
            <a:srgbClr val="1F6F6B"/>
          </a:solidFill>
          <a:ln w="12700">
            <a:solidFill>
              <a:srgbClr val="1F6F6B"/>
            </a:solidFill>
            <a:prstDash val="solid"/>
          </a:ln>
        </p:spPr>
      </p:sp>
      <p:sp>
        <p:nvSpPr>
          <p:cNvPr id="17" name="Text 15"/>
          <p:cNvSpPr/>
          <p:nvPr/>
        </p:nvSpPr>
        <p:spPr>
          <a:xfrm>
            <a:off x="5696712"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three-address code</a:t>
            </a:r>
            <a:endParaRPr lang="en-US" sz="1050" dirty="0"/>
          </a:p>
        </p:txBody>
      </p:sp>
      <p:sp>
        <p:nvSpPr>
          <p:cNvPr id="18" name="Shape 16"/>
          <p:cNvSpPr/>
          <p:nvPr/>
        </p:nvSpPr>
        <p:spPr>
          <a:xfrm>
            <a:off x="6825996" y="2295144"/>
            <a:ext cx="91440" cy="0"/>
          </a:xfrm>
          <a:prstGeom prst="line">
            <a:avLst/>
          </a:prstGeom>
          <a:noFill/>
          <a:ln w="19050">
            <a:solidFill>
              <a:srgbClr val="6B6F76"/>
            </a:solidFill>
            <a:prstDash val="solid"/>
            <a:tailEnd type="triangle"/>
          </a:ln>
        </p:spPr>
      </p:sp>
      <p:sp>
        <p:nvSpPr>
          <p:cNvPr id="19" name="Shape 17"/>
          <p:cNvSpPr/>
          <p:nvPr/>
        </p:nvSpPr>
        <p:spPr>
          <a:xfrm>
            <a:off x="6922008" y="1965960"/>
            <a:ext cx="1170432" cy="658368"/>
          </a:xfrm>
          <a:prstGeom prst="roundRect">
            <a:avLst>
              <a:gd name="adj" fmla="val 6944"/>
            </a:avLst>
          </a:prstGeom>
          <a:solidFill>
            <a:srgbClr val="B4762C"/>
          </a:solidFill>
          <a:ln w="12700">
            <a:solidFill>
              <a:srgbClr val="B4762C"/>
            </a:solidFill>
            <a:prstDash val="solid"/>
          </a:ln>
        </p:spPr>
      </p:sp>
      <p:sp>
        <p:nvSpPr>
          <p:cNvPr id="20" name="Text 18"/>
          <p:cNvSpPr/>
          <p:nvPr/>
        </p:nvSpPr>
        <p:spPr>
          <a:xfrm>
            <a:off x="6967728"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verified code</a:t>
            </a:r>
            <a:endParaRPr lang="en-US" sz="1050" dirty="0"/>
          </a:p>
        </p:txBody>
      </p:sp>
      <p:sp>
        <p:nvSpPr>
          <p:cNvPr id="21" name="Shape 19"/>
          <p:cNvSpPr/>
          <p:nvPr/>
        </p:nvSpPr>
        <p:spPr>
          <a:xfrm>
            <a:off x="8097012" y="2295144"/>
            <a:ext cx="91440" cy="0"/>
          </a:xfrm>
          <a:prstGeom prst="line">
            <a:avLst/>
          </a:prstGeom>
          <a:noFill/>
          <a:ln w="19050">
            <a:solidFill>
              <a:srgbClr val="6B6F76"/>
            </a:solidFill>
            <a:prstDash val="solid"/>
            <a:tailEnd type="triangle"/>
          </a:ln>
        </p:spPr>
      </p:sp>
      <p:sp>
        <p:nvSpPr>
          <p:cNvPr id="22" name="Shape 20"/>
          <p:cNvSpPr/>
          <p:nvPr/>
        </p:nvSpPr>
        <p:spPr>
          <a:xfrm>
            <a:off x="8193024" y="1965960"/>
            <a:ext cx="1170432" cy="658368"/>
          </a:xfrm>
          <a:prstGeom prst="roundRect">
            <a:avLst>
              <a:gd name="adj" fmla="val 6944"/>
            </a:avLst>
          </a:prstGeom>
          <a:solidFill>
            <a:srgbClr val="B4762C"/>
          </a:solidFill>
          <a:ln w="12700">
            <a:solidFill>
              <a:srgbClr val="B4762C"/>
            </a:solidFill>
            <a:prstDash val="solid"/>
          </a:ln>
        </p:spPr>
      </p:sp>
      <p:sp>
        <p:nvSpPr>
          <p:cNvPr id="23" name="Text 21"/>
          <p:cNvSpPr/>
          <p:nvPr/>
        </p:nvSpPr>
        <p:spPr>
          <a:xfrm>
            <a:off x="8238744"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optimised code</a:t>
            </a:r>
            <a:endParaRPr lang="en-US" sz="1050" dirty="0"/>
          </a:p>
        </p:txBody>
      </p:sp>
      <p:sp>
        <p:nvSpPr>
          <p:cNvPr id="24" name="Shape 22"/>
          <p:cNvSpPr/>
          <p:nvPr/>
        </p:nvSpPr>
        <p:spPr>
          <a:xfrm>
            <a:off x="9368028" y="2295144"/>
            <a:ext cx="91440" cy="0"/>
          </a:xfrm>
          <a:prstGeom prst="line">
            <a:avLst/>
          </a:prstGeom>
          <a:noFill/>
          <a:ln w="19050">
            <a:solidFill>
              <a:srgbClr val="6B6F76"/>
            </a:solidFill>
            <a:prstDash val="solid"/>
            <a:tailEnd type="triangle"/>
          </a:ln>
        </p:spPr>
      </p:sp>
      <p:sp>
        <p:nvSpPr>
          <p:cNvPr id="25" name="Shape 23"/>
          <p:cNvSpPr/>
          <p:nvPr/>
        </p:nvSpPr>
        <p:spPr>
          <a:xfrm>
            <a:off x="9464040" y="1965960"/>
            <a:ext cx="1170432" cy="658368"/>
          </a:xfrm>
          <a:prstGeom prst="roundRect">
            <a:avLst>
              <a:gd name="adj" fmla="val 6944"/>
            </a:avLst>
          </a:prstGeom>
          <a:solidFill>
            <a:srgbClr val="3C5AA6"/>
          </a:solidFill>
          <a:ln w="12700">
            <a:solidFill>
              <a:srgbClr val="3C5AA6"/>
            </a:solidFill>
            <a:prstDash val="solid"/>
          </a:ln>
        </p:spPr>
      </p:sp>
      <p:sp>
        <p:nvSpPr>
          <p:cNvPr id="26" name="Text 24"/>
          <p:cNvSpPr/>
          <p:nvPr/>
        </p:nvSpPr>
        <p:spPr>
          <a:xfrm>
            <a:off x="9509760"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timed events</a:t>
            </a:r>
            <a:endParaRPr lang="en-US" sz="1050" dirty="0"/>
          </a:p>
        </p:txBody>
      </p:sp>
      <p:sp>
        <p:nvSpPr>
          <p:cNvPr id="27" name="Shape 25"/>
          <p:cNvSpPr/>
          <p:nvPr/>
        </p:nvSpPr>
        <p:spPr>
          <a:xfrm>
            <a:off x="10639044" y="2295144"/>
            <a:ext cx="91440" cy="0"/>
          </a:xfrm>
          <a:prstGeom prst="line">
            <a:avLst/>
          </a:prstGeom>
          <a:noFill/>
          <a:ln w="19050">
            <a:solidFill>
              <a:srgbClr val="6B6F76"/>
            </a:solidFill>
            <a:prstDash val="solid"/>
            <a:tailEnd type="triangle"/>
          </a:ln>
        </p:spPr>
      </p:sp>
      <p:sp>
        <p:nvSpPr>
          <p:cNvPr id="28" name="Shape 26"/>
          <p:cNvSpPr/>
          <p:nvPr/>
        </p:nvSpPr>
        <p:spPr>
          <a:xfrm>
            <a:off x="10735056" y="1965960"/>
            <a:ext cx="1170432" cy="658368"/>
          </a:xfrm>
          <a:prstGeom prst="roundRect">
            <a:avLst>
              <a:gd name="adj" fmla="val 6944"/>
            </a:avLst>
          </a:prstGeom>
          <a:solidFill>
            <a:srgbClr val="12151C"/>
          </a:solidFill>
          <a:ln w="12700">
            <a:solidFill>
              <a:srgbClr val="12151C"/>
            </a:solidFill>
            <a:prstDash val="solid"/>
          </a:ln>
        </p:spPr>
      </p:sp>
      <p:sp>
        <p:nvSpPr>
          <p:cNvPr id="29" name="Text 27"/>
          <p:cNvSpPr/>
          <p:nvPr/>
        </p:nvSpPr>
        <p:spPr>
          <a:xfrm>
            <a:off x="10780776" y="1965960"/>
            <a:ext cx="1078992" cy="65836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.mid file</a:t>
            </a:r>
            <a:endParaRPr lang="en-US" sz="1050" dirty="0"/>
          </a:p>
        </p:txBody>
      </p:sp>
      <p:sp>
        <p:nvSpPr>
          <p:cNvPr id="30" name="Shape 28"/>
          <p:cNvSpPr/>
          <p:nvPr/>
        </p:nvSpPr>
        <p:spPr>
          <a:xfrm>
            <a:off x="566928" y="3182112"/>
            <a:ext cx="91440" cy="91440"/>
          </a:xfrm>
          <a:prstGeom prst="rect">
            <a:avLst/>
          </a:prstGeom>
          <a:solidFill>
            <a:srgbClr val="7A1F3D"/>
          </a:solidFill>
          <a:ln w="12700">
            <a:solidFill>
              <a:srgbClr val="7A1F3D"/>
            </a:solidFill>
            <a:prstDash val="solid"/>
          </a:ln>
        </p:spPr>
      </p:sp>
      <p:sp>
        <p:nvSpPr>
          <p:cNvPr id="31" name="Text 29"/>
          <p:cNvSpPr/>
          <p:nvPr/>
        </p:nvSpPr>
        <p:spPr>
          <a:xfrm>
            <a:off x="786384" y="3063240"/>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1  lexical analysis</a:t>
            </a:r>
            <a:endParaRPr lang="en-US" sz="1250" dirty="0"/>
          </a:p>
        </p:txBody>
      </p:sp>
      <p:sp>
        <p:nvSpPr>
          <p:cNvPr id="32" name="Text 30"/>
          <p:cNvSpPr/>
          <p:nvPr/>
        </p:nvSpPr>
        <p:spPr>
          <a:xfrm>
            <a:off x="3127248" y="3063240"/>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regex → DFA → minimise → maximal munch</a:t>
            </a:r>
            <a:endParaRPr lang="en-US" sz="1200" dirty="0"/>
          </a:p>
        </p:txBody>
      </p:sp>
      <p:sp>
        <p:nvSpPr>
          <p:cNvPr id="33" name="Shape 31"/>
          <p:cNvSpPr/>
          <p:nvPr/>
        </p:nvSpPr>
        <p:spPr>
          <a:xfrm>
            <a:off x="566928" y="3584448"/>
            <a:ext cx="91440" cy="91440"/>
          </a:xfrm>
          <a:prstGeom prst="rect">
            <a:avLst/>
          </a:prstGeom>
          <a:solidFill>
            <a:srgbClr val="7A1F3D"/>
          </a:solidFill>
          <a:ln w="12700">
            <a:solidFill>
              <a:srgbClr val="7A1F3D"/>
            </a:solidFill>
            <a:prstDash val="solid"/>
          </a:ln>
        </p:spPr>
      </p:sp>
      <p:sp>
        <p:nvSpPr>
          <p:cNvPr id="34" name="Text 32"/>
          <p:cNvSpPr/>
          <p:nvPr/>
        </p:nvSpPr>
        <p:spPr>
          <a:xfrm>
            <a:off x="786384" y="3465576"/>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2  syntax analysis</a:t>
            </a:r>
            <a:endParaRPr lang="en-US" sz="1250" dirty="0"/>
          </a:p>
        </p:txBody>
      </p:sp>
      <p:sp>
        <p:nvSpPr>
          <p:cNvPr id="35" name="Text 33"/>
          <p:cNvSpPr/>
          <p:nvPr/>
        </p:nvSpPr>
        <p:spPr>
          <a:xfrm>
            <a:off x="3127248" y="3465576"/>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LALR(1) table + recursive-descent cross-check</a:t>
            </a:r>
            <a:endParaRPr lang="en-US" sz="1200" dirty="0"/>
          </a:p>
        </p:txBody>
      </p:sp>
      <p:sp>
        <p:nvSpPr>
          <p:cNvPr id="36" name="Shape 34"/>
          <p:cNvSpPr/>
          <p:nvPr/>
        </p:nvSpPr>
        <p:spPr>
          <a:xfrm>
            <a:off x="566928" y="3986784"/>
            <a:ext cx="91440" cy="91440"/>
          </a:xfrm>
          <a:prstGeom prst="rect">
            <a:avLst/>
          </a:prstGeom>
          <a:solidFill>
            <a:srgbClr val="1F6F6B"/>
          </a:solidFill>
          <a:ln w="12700">
            <a:solidFill>
              <a:srgbClr val="1F6F6B"/>
            </a:solidFill>
            <a:prstDash val="solid"/>
          </a:ln>
        </p:spPr>
      </p:sp>
      <p:sp>
        <p:nvSpPr>
          <p:cNvPr id="37" name="Text 35"/>
          <p:cNvSpPr/>
          <p:nvPr/>
        </p:nvSpPr>
        <p:spPr>
          <a:xfrm>
            <a:off x="786384" y="3867912"/>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3  semantic analysis</a:t>
            </a:r>
            <a:endParaRPr lang="en-US" sz="1250" dirty="0"/>
          </a:p>
        </p:txBody>
      </p:sp>
      <p:sp>
        <p:nvSpPr>
          <p:cNvPr id="38" name="Text 36"/>
          <p:cNvSpPr/>
          <p:nvPr/>
        </p:nvSpPr>
        <p:spPr>
          <a:xfrm>
            <a:off x="3127248" y="3867912"/>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L-attributed walk, symbol table, 12 checks</a:t>
            </a:r>
            <a:endParaRPr lang="en-US" sz="1200" dirty="0"/>
          </a:p>
        </p:txBody>
      </p:sp>
      <p:sp>
        <p:nvSpPr>
          <p:cNvPr id="39" name="Shape 37"/>
          <p:cNvSpPr/>
          <p:nvPr/>
        </p:nvSpPr>
        <p:spPr>
          <a:xfrm>
            <a:off x="566928" y="4389120"/>
            <a:ext cx="91440" cy="91440"/>
          </a:xfrm>
          <a:prstGeom prst="rect">
            <a:avLst/>
          </a:prstGeom>
          <a:solidFill>
            <a:srgbClr val="1F6F6B"/>
          </a:solidFill>
          <a:ln w="12700">
            <a:solidFill>
              <a:srgbClr val="1F6F6B"/>
            </a:solidFill>
            <a:prstDash val="solid"/>
          </a:ln>
        </p:spPr>
      </p:sp>
      <p:sp>
        <p:nvSpPr>
          <p:cNvPr id="40" name="Text 38"/>
          <p:cNvSpPr/>
          <p:nvPr/>
        </p:nvSpPr>
        <p:spPr>
          <a:xfrm>
            <a:off x="786384" y="4270248"/>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4  intermediate code</a:t>
            </a:r>
            <a:endParaRPr lang="en-US" sz="1250" dirty="0"/>
          </a:p>
        </p:txBody>
      </p:sp>
      <p:sp>
        <p:nvSpPr>
          <p:cNvPr id="41" name="Text 39"/>
          <p:cNvSpPr/>
          <p:nvPr/>
        </p:nvSpPr>
        <p:spPr>
          <a:xfrm>
            <a:off x="3127248" y="4270248"/>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quadruples, backpatching, activation records</a:t>
            </a:r>
            <a:endParaRPr lang="en-US" sz="1200" dirty="0"/>
          </a:p>
        </p:txBody>
      </p:sp>
      <p:sp>
        <p:nvSpPr>
          <p:cNvPr id="42" name="Shape 40"/>
          <p:cNvSpPr/>
          <p:nvPr/>
        </p:nvSpPr>
        <p:spPr>
          <a:xfrm>
            <a:off x="566928" y="4791456"/>
            <a:ext cx="91440" cy="91440"/>
          </a:xfrm>
          <a:prstGeom prst="rect">
            <a:avLst/>
          </a:prstGeom>
          <a:solidFill>
            <a:srgbClr val="B4762C"/>
          </a:solidFill>
          <a:ln w="12700">
            <a:solidFill>
              <a:srgbClr val="B4762C"/>
            </a:solidFill>
            <a:prstDash val="solid"/>
          </a:ln>
        </p:spPr>
      </p:sp>
      <p:sp>
        <p:nvSpPr>
          <p:cNvPr id="43" name="Text 41"/>
          <p:cNvSpPr/>
          <p:nvPr/>
        </p:nvSpPr>
        <p:spPr>
          <a:xfrm>
            <a:off x="786384" y="4672584"/>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5  verification</a:t>
            </a:r>
            <a:endParaRPr lang="en-US" sz="1250" dirty="0"/>
          </a:p>
        </p:txBody>
      </p:sp>
      <p:sp>
        <p:nvSpPr>
          <p:cNvPr id="44" name="Text 42"/>
          <p:cNvSpPr/>
          <p:nvPr/>
        </p:nvSpPr>
        <p:spPr>
          <a:xfrm>
            <a:off x="3127248" y="4672584"/>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5 safety properties by abstract interpretation</a:t>
            </a:r>
            <a:endParaRPr lang="en-US" sz="1200" dirty="0"/>
          </a:p>
        </p:txBody>
      </p:sp>
      <p:sp>
        <p:nvSpPr>
          <p:cNvPr id="45" name="Shape 43"/>
          <p:cNvSpPr/>
          <p:nvPr/>
        </p:nvSpPr>
        <p:spPr>
          <a:xfrm>
            <a:off x="566928" y="5193792"/>
            <a:ext cx="91440" cy="91440"/>
          </a:xfrm>
          <a:prstGeom prst="rect">
            <a:avLst/>
          </a:prstGeom>
          <a:solidFill>
            <a:srgbClr val="B4762C"/>
          </a:solidFill>
          <a:ln w="12700">
            <a:solidFill>
              <a:srgbClr val="B4762C"/>
            </a:solidFill>
            <a:prstDash val="solid"/>
          </a:ln>
        </p:spPr>
      </p:sp>
      <p:sp>
        <p:nvSpPr>
          <p:cNvPr id="46" name="Text 44"/>
          <p:cNvSpPr/>
          <p:nvPr/>
        </p:nvSpPr>
        <p:spPr>
          <a:xfrm>
            <a:off x="786384" y="5074920"/>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5  optimisation</a:t>
            </a:r>
            <a:endParaRPr lang="en-US" sz="1250" dirty="0"/>
          </a:p>
        </p:txBody>
      </p:sp>
      <p:sp>
        <p:nvSpPr>
          <p:cNvPr id="47" name="Text 45"/>
          <p:cNvSpPr/>
          <p:nvPr/>
        </p:nvSpPr>
        <p:spPr>
          <a:xfrm>
            <a:off x="3127248" y="5074920"/>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13 passes, each one measured and proved inaudible</a:t>
            </a:r>
            <a:endParaRPr lang="en-US" sz="1200" dirty="0"/>
          </a:p>
        </p:txBody>
      </p:sp>
      <p:sp>
        <p:nvSpPr>
          <p:cNvPr id="48" name="Shape 46"/>
          <p:cNvSpPr/>
          <p:nvPr/>
        </p:nvSpPr>
        <p:spPr>
          <a:xfrm>
            <a:off x="566928" y="5596128"/>
            <a:ext cx="91440" cy="91440"/>
          </a:xfrm>
          <a:prstGeom prst="rect">
            <a:avLst/>
          </a:prstGeom>
          <a:solidFill>
            <a:srgbClr val="3C5AA6"/>
          </a:solidFill>
          <a:ln w="12700">
            <a:solidFill>
              <a:srgbClr val="3C5AA6"/>
            </a:solidFill>
            <a:prstDash val="solid"/>
          </a:ln>
        </p:spPr>
      </p:sp>
      <p:sp>
        <p:nvSpPr>
          <p:cNvPr id="49" name="Text 47"/>
          <p:cNvSpPr/>
          <p:nvPr/>
        </p:nvSpPr>
        <p:spPr>
          <a:xfrm>
            <a:off x="786384" y="5477256"/>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6  code generation</a:t>
            </a:r>
            <a:endParaRPr lang="en-US" sz="1250" dirty="0"/>
          </a:p>
        </p:txBody>
      </p:sp>
      <p:sp>
        <p:nvSpPr>
          <p:cNvPr id="50" name="Text 48"/>
          <p:cNvSpPr/>
          <p:nvPr/>
        </p:nvSpPr>
        <p:spPr>
          <a:xfrm>
            <a:off x="3127248" y="5477256"/>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virtual machine, then graph-colouring allocation</a:t>
            </a:r>
            <a:endParaRPr lang="en-US" sz="1200" dirty="0"/>
          </a:p>
        </p:txBody>
      </p:sp>
      <p:sp>
        <p:nvSpPr>
          <p:cNvPr id="51" name="Shape 49"/>
          <p:cNvSpPr/>
          <p:nvPr/>
        </p:nvSpPr>
        <p:spPr>
          <a:xfrm>
            <a:off x="566928" y="5998464"/>
            <a:ext cx="91440" cy="91440"/>
          </a:xfrm>
          <a:prstGeom prst="rect">
            <a:avLst/>
          </a:prstGeom>
          <a:solidFill>
            <a:srgbClr val="12151C"/>
          </a:solidFill>
          <a:ln w="12700">
            <a:solidFill>
              <a:srgbClr val="12151C"/>
            </a:solidFill>
            <a:prstDash val="solid"/>
          </a:ln>
        </p:spPr>
      </p:sp>
      <p:sp>
        <p:nvSpPr>
          <p:cNvPr id="52" name="Text 50"/>
          <p:cNvSpPr/>
          <p:nvPr/>
        </p:nvSpPr>
        <p:spPr>
          <a:xfrm>
            <a:off x="786384" y="5879592"/>
            <a:ext cx="2286000" cy="329184"/>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  back end</a:t>
            </a:r>
            <a:endParaRPr lang="en-US" sz="1250" dirty="0"/>
          </a:p>
        </p:txBody>
      </p:sp>
      <p:sp>
        <p:nvSpPr>
          <p:cNvPr id="53" name="Text 51"/>
          <p:cNvSpPr/>
          <p:nvPr/>
        </p:nvSpPr>
        <p:spPr>
          <a:xfrm>
            <a:off x="3127248" y="5879592"/>
            <a:ext cx="7772400" cy="329184"/>
          </a:xfrm>
          <a:prstGeom prst="rect">
            <a:avLst/>
          </a:prstGeom>
          <a:noFill/>
          <a:ln/>
        </p:spPr>
        <p:txBody>
          <a:bodyPr wrap="square" lIns="0" tIns="0" rIns="0" bIns="0" rtlCol="0" anchor="ctr"/>
          <a:lstStyle/>
          <a:p>
            <a:pPr indent="0" marL="0">
              <a:buNone/>
            </a:pPr>
            <a:r>
              <a:rPr lang="en-US" sz="1200" dirty="0">
                <a:solidFill>
                  <a:srgbClr val="6B6F76"/>
                </a:solidFill>
                <a:latin typeface="Calibri" pitchFamily="34" charset="0"/>
                <a:ea typeface="Calibri" pitchFamily="34" charset="-122"/>
                <a:cs typeface="Calibri" pitchFamily="34" charset="-120"/>
              </a:rPr>
              <a:t>Standard MIDI File, written byte by byte</a:t>
            </a:r>
            <a:endParaRPr lang="en-US" sz="1200" dirty="0"/>
          </a:p>
        </p:txBody>
      </p:sp>
      <p:sp>
        <p:nvSpPr>
          <p:cNvPr id="54" name="Text 52"/>
          <p:cNvSpPr/>
          <p:nvPr/>
        </p:nvSpPr>
        <p:spPr>
          <a:xfrm>
            <a:off x="566928" y="6355080"/>
            <a:ext cx="1051560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Every arrow is a --dump flag: --dump tokens, ast, ir, passes, dataflow, channels, events.</a:t>
            </a:r>
            <a:endParaRPr lang="en-US" sz="1100" dirty="0"/>
          </a:p>
        </p:txBody>
      </p:sp>
      <p:sp>
        <p:nvSpPr>
          <p:cNvPr id="55" name="Text 53"/>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Architecture</a:t>
            </a:r>
            <a:endParaRPr lang="en-US" sz="1000" dirty="0"/>
          </a:p>
        </p:txBody>
      </p:sp>
      <p:sp>
        <p:nvSpPr>
          <p:cNvPr id="56" name="Text 54"/>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1 — regular expressions become a DFA directly</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No NFA, no subset construction of an NFA, and no use of Python's re module.</a:t>
            </a:r>
            <a:endParaRPr lang="en-US" sz="1500" dirty="0"/>
          </a:p>
        </p:txBody>
      </p:sp>
      <p:sp>
        <p:nvSpPr>
          <p:cNvPr id="4" name="Shape 2"/>
          <p:cNvSpPr/>
          <p:nvPr/>
        </p:nvSpPr>
        <p:spPr>
          <a:xfrm>
            <a:off x="896112" y="2130552"/>
            <a:ext cx="768096" cy="768096"/>
          </a:xfrm>
          <a:prstGeom prst="ellipse">
            <a:avLst/>
          </a:prstGeom>
          <a:solidFill>
            <a:srgbClr val="FFFFFF"/>
          </a:solidFill>
          <a:ln w="19050">
            <a:solidFill>
              <a:srgbClr val="12151C"/>
            </a:solidFill>
            <a:prstDash val="solid"/>
          </a:ln>
        </p:spPr>
      </p:sp>
      <p:sp>
        <p:nvSpPr>
          <p:cNvPr id="5" name="Text 3"/>
          <p:cNvSpPr/>
          <p:nvPr/>
        </p:nvSpPr>
        <p:spPr>
          <a:xfrm>
            <a:off x="896112" y="2130552"/>
            <a:ext cx="768096" cy="768096"/>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0</a:t>
            </a:r>
            <a:endParaRPr lang="en-US" sz="1500" dirty="0"/>
          </a:p>
        </p:txBody>
      </p:sp>
      <p:sp>
        <p:nvSpPr>
          <p:cNvPr id="6" name="Shape 4"/>
          <p:cNvSpPr/>
          <p:nvPr/>
        </p:nvSpPr>
        <p:spPr>
          <a:xfrm>
            <a:off x="2816352" y="2130552"/>
            <a:ext cx="768096" cy="768096"/>
          </a:xfrm>
          <a:prstGeom prst="ellipse">
            <a:avLst/>
          </a:prstGeom>
          <a:solidFill>
            <a:srgbClr val="FFFFFF"/>
          </a:solidFill>
          <a:ln w="19050">
            <a:solidFill>
              <a:srgbClr val="12151C"/>
            </a:solidFill>
            <a:prstDash val="solid"/>
          </a:ln>
        </p:spPr>
      </p:sp>
      <p:sp>
        <p:nvSpPr>
          <p:cNvPr id="7" name="Text 5"/>
          <p:cNvSpPr/>
          <p:nvPr/>
        </p:nvSpPr>
        <p:spPr>
          <a:xfrm>
            <a:off x="2816352" y="2130552"/>
            <a:ext cx="768096" cy="768096"/>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1</a:t>
            </a:r>
            <a:endParaRPr lang="en-US" sz="1500" dirty="0"/>
          </a:p>
        </p:txBody>
      </p:sp>
      <p:sp>
        <p:nvSpPr>
          <p:cNvPr id="8" name="Shape 6"/>
          <p:cNvSpPr/>
          <p:nvPr/>
        </p:nvSpPr>
        <p:spPr>
          <a:xfrm>
            <a:off x="4736592" y="2130552"/>
            <a:ext cx="768096" cy="768096"/>
          </a:xfrm>
          <a:prstGeom prst="ellipse">
            <a:avLst/>
          </a:prstGeom>
          <a:solidFill>
            <a:srgbClr val="FFFFFF"/>
          </a:solidFill>
          <a:ln w="19050">
            <a:solidFill>
              <a:srgbClr val="12151C"/>
            </a:solidFill>
            <a:prstDash val="solid"/>
          </a:ln>
        </p:spPr>
      </p:sp>
      <p:sp>
        <p:nvSpPr>
          <p:cNvPr id="9" name="Text 7"/>
          <p:cNvSpPr/>
          <p:nvPr/>
        </p:nvSpPr>
        <p:spPr>
          <a:xfrm>
            <a:off x="4736592" y="2130552"/>
            <a:ext cx="768096" cy="768096"/>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2</a:t>
            </a:r>
            <a:endParaRPr lang="en-US" sz="1500" dirty="0"/>
          </a:p>
        </p:txBody>
      </p:sp>
      <p:sp>
        <p:nvSpPr>
          <p:cNvPr id="10" name="Shape 8"/>
          <p:cNvSpPr/>
          <p:nvPr/>
        </p:nvSpPr>
        <p:spPr>
          <a:xfrm>
            <a:off x="6656832" y="2130552"/>
            <a:ext cx="768096" cy="768096"/>
          </a:xfrm>
          <a:prstGeom prst="ellipse">
            <a:avLst/>
          </a:prstGeom>
          <a:solidFill>
            <a:srgbClr val="7A1F3D"/>
          </a:solidFill>
          <a:ln w="19050">
            <a:solidFill>
              <a:srgbClr val="7A1F3D"/>
            </a:solidFill>
            <a:prstDash val="solid"/>
          </a:ln>
        </p:spPr>
      </p:sp>
      <p:sp>
        <p:nvSpPr>
          <p:cNvPr id="11" name="Shape 9"/>
          <p:cNvSpPr/>
          <p:nvPr/>
        </p:nvSpPr>
        <p:spPr>
          <a:xfrm>
            <a:off x="6574536" y="2048256"/>
            <a:ext cx="932688" cy="932688"/>
          </a:xfrm>
          <a:prstGeom prst="ellipse">
            <a:avLst/>
          </a:prstGeom>
          <a:ln w="19050">
            <a:solidFill>
              <a:srgbClr val="7A1F3D"/>
            </a:solidFill>
            <a:prstDash val="solid"/>
          </a:ln>
        </p:spPr>
      </p:sp>
      <p:sp>
        <p:nvSpPr>
          <p:cNvPr id="12" name="Text 10"/>
          <p:cNvSpPr/>
          <p:nvPr/>
        </p:nvSpPr>
        <p:spPr>
          <a:xfrm>
            <a:off x="6656832" y="2130552"/>
            <a:ext cx="768096" cy="7680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Shape 11"/>
          <p:cNvSpPr/>
          <p:nvPr/>
        </p:nvSpPr>
        <p:spPr>
          <a:xfrm>
            <a:off x="1700784" y="2514600"/>
            <a:ext cx="1078992" cy="0"/>
          </a:xfrm>
          <a:prstGeom prst="line">
            <a:avLst/>
          </a:prstGeom>
          <a:noFill/>
          <a:ln w="19050">
            <a:solidFill>
              <a:srgbClr val="12151C"/>
            </a:solidFill>
            <a:prstDash val="solid"/>
            <a:tailEnd type="triangle"/>
          </a:ln>
        </p:spPr>
      </p:sp>
      <p:sp>
        <p:nvSpPr>
          <p:cNvPr id="14" name="Text 12"/>
          <p:cNvSpPr/>
          <p:nvPr/>
        </p:nvSpPr>
        <p:spPr>
          <a:xfrm>
            <a:off x="2057400" y="2112264"/>
            <a:ext cx="365760" cy="274320"/>
          </a:xfrm>
          <a:prstGeom prst="rect">
            <a:avLst/>
          </a:prstGeom>
          <a:noFill/>
          <a:ln/>
        </p:spPr>
        <p:txBody>
          <a:bodyPr wrap="square" lIns="0" tIns="0" rIns="0" bIns="0" rtlCol="0" anchor="ctr"/>
          <a:lstStyle/>
          <a:p>
            <a:pPr algn="ctr" indent="0" marL="0">
              <a:buNone/>
            </a:pPr>
            <a:r>
              <a:rPr lang="en-US" sz="1300" b="1" dirty="0">
                <a:solidFill>
                  <a:srgbClr val="7A1F3D"/>
                </a:solidFill>
                <a:latin typeface="Courier New" pitchFamily="34" charset="0"/>
                <a:ea typeface="Courier New" pitchFamily="34" charset="-122"/>
                <a:cs typeface="Courier New" pitchFamily="34" charset="-120"/>
              </a:rPr>
              <a:t>a</a:t>
            </a:r>
            <a:endParaRPr lang="en-US" sz="1300" dirty="0"/>
          </a:p>
        </p:txBody>
      </p:sp>
      <p:sp>
        <p:nvSpPr>
          <p:cNvPr id="15" name="Shape 13"/>
          <p:cNvSpPr/>
          <p:nvPr/>
        </p:nvSpPr>
        <p:spPr>
          <a:xfrm>
            <a:off x="3621024" y="2514600"/>
            <a:ext cx="1078992" cy="0"/>
          </a:xfrm>
          <a:prstGeom prst="line">
            <a:avLst/>
          </a:prstGeom>
          <a:noFill/>
          <a:ln w="19050">
            <a:solidFill>
              <a:srgbClr val="12151C"/>
            </a:solidFill>
            <a:prstDash val="solid"/>
            <a:tailEnd type="triangle"/>
          </a:ln>
        </p:spPr>
      </p:sp>
      <p:sp>
        <p:nvSpPr>
          <p:cNvPr id="16" name="Text 14"/>
          <p:cNvSpPr/>
          <p:nvPr/>
        </p:nvSpPr>
        <p:spPr>
          <a:xfrm>
            <a:off x="3977640" y="2112264"/>
            <a:ext cx="365760" cy="274320"/>
          </a:xfrm>
          <a:prstGeom prst="rect">
            <a:avLst/>
          </a:prstGeom>
          <a:noFill/>
          <a:ln/>
        </p:spPr>
        <p:txBody>
          <a:bodyPr wrap="square" lIns="0" tIns="0" rIns="0" bIns="0" rtlCol="0" anchor="ctr"/>
          <a:lstStyle/>
          <a:p>
            <a:pPr algn="ctr" indent="0" marL="0">
              <a:buNone/>
            </a:pPr>
            <a:r>
              <a:rPr lang="en-US" sz="1300" b="1" dirty="0">
                <a:solidFill>
                  <a:srgbClr val="7A1F3D"/>
                </a:solidFill>
                <a:latin typeface="Courier New" pitchFamily="34" charset="0"/>
                <a:ea typeface="Courier New" pitchFamily="34" charset="-122"/>
                <a:cs typeface="Courier New" pitchFamily="34" charset="-120"/>
              </a:rPr>
              <a:t>b</a:t>
            </a:r>
            <a:endParaRPr lang="en-US" sz="1300" dirty="0"/>
          </a:p>
        </p:txBody>
      </p:sp>
      <p:sp>
        <p:nvSpPr>
          <p:cNvPr id="17" name="Shape 15"/>
          <p:cNvSpPr/>
          <p:nvPr/>
        </p:nvSpPr>
        <p:spPr>
          <a:xfrm>
            <a:off x="5541264" y="2514600"/>
            <a:ext cx="1078992" cy="0"/>
          </a:xfrm>
          <a:prstGeom prst="line">
            <a:avLst/>
          </a:prstGeom>
          <a:noFill/>
          <a:ln w="19050">
            <a:solidFill>
              <a:srgbClr val="12151C"/>
            </a:solidFill>
            <a:prstDash val="solid"/>
            <a:tailEnd type="triangle"/>
          </a:ln>
        </p:spPr>
      </p:sp>
      <p:sp>
        <p:nvSpPr>
          <p:cNvPr id="18" name="Text 16"/>
          <p:cNvSpPr/>
          <p:nvPr/>
        </p:nvSpPr>
        <p:spPr>
          <a:xfrm>
            <a:off x="5897880" y="2112264"/>
            <a:ext cx="365760" cy="274320"/>
          </a:xfrm>
          <a:prstGeom prst="rect">
            <a:avLst/>
          </a:prstGeom>
          <a:noFill/>
          <a:ln/>
        </p:spPr>
        <p:txBody>
          <a:bodyPr wrap="square" lIns="0" tIns="0" rIns="0" bIns="0" rtlCol="0" anchor="ctr"/>
          <a:lstStyle/>
          <a:p>
            <a:pPr algn="ctr" indent="0" marL="0">
              <a:buNone/>
            </a:pPr>
            <a:r>
              <a:rPr lang="en-US" sz="1300" b="1" dirty="0">
                <a:solidFill>
                  <a:srgbClr val="7A1F3D"/>
                </a:solidFill>
                <a:latin typeface="Courier New" pitchFamily="34" charset="0"/>
                <a:ea typeface="Courier New" pitchFamily="34" charset="-122"/>
                <a:cs typeface="Courier New" pitchFamily="34" charset="-120"/>
              </a:rPr>
              <a:t>b</a:t>
            </a:r>
            <a:endParaRPr lang="en-US" sz="1300" dirty="0"/>
          </a:p>
        </p:txBody>
      </p:sp>
      <p:sp>
        <p:nvSpPr>
          <p:cNvPr id="19" name="Text 17"/>
          <p:cNvSpPr/>
          <p:nvPr/>
        </p:nvSpPr>
        <p:spPr>
          <a:xfrm>
            <a:off x="384048" y="2368296"/>
            <a:ext cx="502920" cy="274320"/>
          </a:xfrm>
          <a:prstGeom prst="rect">
            <a:avLst/>
          </a:prstGeom>
          <a:noFill/>
          <a:ln/>
        </p:spPr>
        <p:txBody>
          <a:bodyPr wrap="square" lIns="0" tIns="0" rIns="0" bIns="0" rtlCol="0" anchor="ctr"/>
          <a:lstStyle/>
          <a:p>
            <a:pPr algn="r" indent="0" marL="0">
              <a:buNone/>
            </a:pPr>
            <a:r>
              <a:rPr lang="en-US" sz="1000" dirty="0">
                <a:solidFill>
                  <a:srgbClr val="6B6F76"/>
                </a:solidFill>
                <a:latin typeface="Calibri" pitchFamily="34" charset="0"/>
                <a:ea typeface="Calibri" pitchFamily="34" charset="-122"/>
                <a:cs typeface="Calibri" pitchFamily="34" charset="-120"/>
              </a:rPr>
              <a:t>start</a:t>
            </a:r>
            <a:endParaRPr lang="en-US" sz="1000" dirty="0"/>
          </a:p>
        </p:txBody>
      </p:sp>
      <p:sp>
        <p:nvSpPr>
          <p:cNvPr id="20" name="Shape 18"/>
          <p:cNvSpPr/>
          <p:nvPr/>
        </p:nvSpPr>
        <p:spPr>
          <a:xfrm>
            <a:off x="896112" y="2514600"/>
            <a:ext cx="-27432" cy="0"/>
          </a:xfrm>
          <a:prstGeom prst="line">
            <a:avLst/>
          </a:prstGeom>
          <a:noFill/>
          <a:ln w="19050">
            <a:solidFill>
              <a:srgbClr val="6B6F76"/>
            </a:solidFill>
            <a:prstDash val="solid"/>
            <a:tailEnd type="triangle"/>
          </a:ln>
        </p:spPr>
      </p:sp>
      <p:sp>
        <p:nvSpPr>
          <p:cNvPr id="21" name="Text 19"/>
          <p:cNvSpPr/>
          <p:nvPr/>
        </p:nvSpPr>
        <p:spPr>
          <a:xfrm>
            <a:off x="914400" y="3200400"/>
            <a:ext cx="694944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state 0 loops on b · states 1, 2 and 3 all go back to state 1 on a · state 3 returns to 0 on b</a:t>
            </a:r>
            <a:endParaRPr lang="en-US" sz="1100" dirty="0"/>
          </a:p>
        </p:txBody>
      </p:sp>
      <p:sp>
        <p:nvSpPr>
          <p:cNvPr id="22" name="Shape 20"/>
          <p:cNvSpPr/>
          <p:nvPr/>
        </p:nvSpPr>
        <p:spPr>
          <a:xfrm>
            <a:off x="868680" y="3584448"/>
            <a:ext cx="6766560" cy="960120"/>
          </a:xfrm>
          <a:prstGeom prst="rect">
            <a:avLst/>
          </a:prstGeom>
          <a:solidFill>
            <a:srgbClr val="F4F2EE"/>
          </a:solidFill>
          <a:ln w="12700">
            <a:solidFill>
              <a:srgbClr val="DCDCD4"/>
            </a:solidFill>
            <a:prstDash val="solid"/>
          </a:ln>
        </p:spPr>
      </p:sp>
      <p:sp>
        <p:nvSpPr>
          <p:cNvPr id="23" name="Text 21"/>
          <p:cNvSpPr/>
          <p:nvPr/>
        </p:nvSpPr>
        <p:spPr>
          <a:xfrm>
            <a:off x="996696" y="3675888"/>
            <a:ext cx="6510528" cy="77724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TOKEN_RULES = [ ... ]            # 25 extended regular expressions</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dfa = build_dfa(TOKEN_RULES)     # one tree, positions numbered, followpos</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dfa = minimise(dfa)              # Moore partition refinement</a:t>
            </a:r>
            <a:endParaRPr lang="en-US" sz="1100" dirty="0"/>
          </a:p>
        </p:txBody>
      </p:sp>
      <p:sp>
        <p:nvSpPr>
          <p:cNvPr id="24" name="Text 22"/>
          <p:cNvSpPr/>
          <p:nvPr/>
        </p:nvSpPr>
        <p:spPr>
          <a:xfrm>
            <a:off x="868680" y="4645152"/>
            <a:ext cx="676656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Checked against the textbook example: build_dfa([("A", "(a|b)*abb")]) reproduces exactly this 4-state automaton, with 6 numbered positions.</a:t>
            </a:r>
            <a:endParaRPr lang="en-US" sz="1100" dirty="0"/>
          </a:p>
        </p:txBody>
      </p:sp>
      <p:sp>
        <p:nvSpPr>
          <p:cNvPr id="25" name="Shape 23"/>
          <p:cNvSpPr/>
          <p:nvPr/>
        </p:nvSpPr>
        <p:spPr>
          <a:xfrm>
            <a:off x="8092440" y="1828800"/>
            <a:ext cx="1783080" cy="868680"/>
          </a:xfrm>
          <a:prstGeom prst="roundRect">
            <a:avLst>
              <a:gd name="adj" fmla="val 6316"/>
            </a:avLst>
          </a:prstGeom>
          <a:solidFill>
            <a:srgbClr val="FFFFFF"/>
          </a:solidFill>
          <a:ln w="12700">
            <a:solidFill>
              <a:srgbClr val="DCDCD4"/>
            </a:solidFill>
            <a:prstDash val="solid"/>
          </a:ln>
        </p:spPr>
      </p:sp>
      <p:sp>
        <p:nvSpPr>
          <p:cNvPr id="26" name="Text 24"/>
          <p:cNvSpPr/>
          <p:nvPr/>
        </p:nvSpPr>
        <p:spPr>
          <a:xfrm>
            <a:off x="8183880" y="1938528"/>
            <a:ext cx="1600200" cy="451714"/>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25</a:t>
            </a:r>
            <a:endParaRPr lang="en-US" sz="2600" dirty="0"/>
          </a:p>
        </p:txBody>
      </p:sp>
      <p:sp>
        <p:nvSpPr>
          <p:cNvPr id="27" name="Text 25"/>
          <p:cNvSpPr/>
          <p:nvPr/>
        </p:nvSpPr>
        <p:spPr>
          <a:xfrm>
            <a:off x="8165592" y="2350008"/>
            <a:ext cx="1636776" cy="312725"/>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token rules</a:t>
            </a:r>
            <a:endParaRPr lang="en-US" sz="1050" dirty="0"/>
          </a:p>
        </p:txBody>
      </p:sp>
      <p:sp>
        <p:nvSpPr>
          <p:cNvPr id="28" name="Shape 26"/>
          <p:cNvSpPr/>
          <p:nvPr/>
        </p:nvSpPr>
        <p:spPr>
          <a:xfrm>
            <a:off x="10012680" y="1828800"/>
            <a:ext cx="1600200" cy="868680"/>
          </a:xfrm>
          <a:prstGeom prst="roundRect">
            <a:avLst>
              <a:gd name="adj" fmla="val 6316"/>
            </a:avLst>
          </a:prstGeom>
          <a:solidFill>
            <a:srgbClr val="FFFFFF"/>
          </a:solidFill>
          <a:ln w="12700">
            <a:solidFill>
              <a:srgbClr val="DCDCD4"/>
            </a:solidFill>
            <a:prstDash val="solid"/>
          </a:ln>
        </p:spPr>
      </p:sp>
      <p:sp>
        <p:nvSpPr>
          <p:cNvPr id="29" name="Text 27"/>
          <p:cNvSpPr/>
          <p:nvPr/>
        </p:nvSpPr>
        <p:spPr>
          <a:xfrm>
            <a:off x="10104120" y="1938528"/>
            <a:ext cx="1417320" cy="451714"/>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101</a:t>
            </a:r>
            <a:endParaRPr lang="en-US" sz="2600" dirty="0"/>
          </a:p>
        </p:txBody>
      </p:sp>
      <p:sp>
        <p:nvSpPr>
          <p:cNvPr id="30" name="Text 28"/>
          <p:cNvSpPr/>
          <p:nvPr/>
        </p:nvSpPr>
        <p:spPr>
          <a:xfrm>
            <a:off x="10085832" y="2350008"/>
            <a:ext cx="1453896" cy="312725"/>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positions</a:t>
            </a:r>
            <a:endParaRPr lang="en-US" sz="1050" dirty="0"/>
          </a:p>
        </p:txBody>
      </p:sp>
      <p:sp>
        <p:nvSpPr>
          <p:cNvPr id="31" name="Shape 29"/>
          <p:cNvSpPr/>
          <p:nvPr/>
        </p:nvSpPr>
        <p:spPr>
          <a:xfrm>
            <a:off x="8092440" y="2816352"/>
            <a:ext cx="1783080" cy="868680"/>
          </a:xfrm>
          <a:prstGeom prst="roundRect">
            <a:avLst>
              <a:gd name="adj" fmla="val 6316"/>
            </a:avLst>
          </a:prstGeom>
          <a:solidFill>
            <a:srgbClr val="FFFFFF"/>
          </a:solidFill>
          <a:ln w="12700">
            <a:solidFill>
              <a:srgbClr val="DCDCD4"/>
            </a:solidFill>
            <a:prstDash val="solid"/>
          </a:ln>
        </p:spPr>
      </p:sp>
      <p:sp>
        <p:nvSpPr>
          <p:cNvPr id="32" name="Text 30"/>
          <p:cNvSpPr/>
          <p:nvPr/>
        </p:nvSpPr>
        <p:spPr>
          <a:xfrm>
            <a:off x="8183880" y="2926080"/>
            <a:ext cx="1600200" cy="451714"/>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37</a:t>
            </a:r>
            <a:endParaRPr lang="en-US" sz="2600" dirty="0"/>
          </a:p>
        </p:txBody>
      </p:sp>
      <p:sp>
        <p:nvSpPr>
          <p:cNvPr id="33" name="Text 31"/>
          <p:cNvSpPr/>
          <p:nvPr/>
        </p:nvSpPr>
        <p:spPr>
          <a:xfrm>
            <a:off x="8165592" y="3337560"/>
            <a:ext cx="1636776" cy="312725"/>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character classes</a:t>
            </a:r>
            <a:endParaRPr lang="en-US" sz="1050" dirty="0"/>
          </a:p>
        </p:txBody>
      </p:sp>
      <p:sp>
        <p:nvSpPr>
          <p:cNvPr id="34" name="Shape 32"/>
          <p:cNvSpPr/>
          <p:nvPr/>
        </p:nvSpPr>
        <p:spPr>
          <a:xfrm>
            <a:off x="10012680" y="2816352"/>
            <a:ext cx="1600200" cy="868680"/>
          </a:xfrm>
          <a:prstGeom prst="roundRect">
            <a:avLst>
              <a:gd name="adj" fmla="val 6316"/>
            </a:avLst>
          </a:prstGeom>
          <a:solidFill>
            <a:srgbClr val="FFFFFF"/>
          </a:solidFill>
          <a:ln w="12700">
            <a:solidFill>
              <a:srgbClr val="DCDCD4"/>
            </a:solidFill>
            <a:prstDash val="solid"/>
          </a:ln>
        </p:spPr>
      </p:sp>
      <p:sp>
        <p:nvSpPr>
          <p:cNvPr id="35" name="Text 33"/>
          <p:cNvSpPr/>
          <p:nvPr/>
        </p:nvSpPr>
        <p:spPr>
          <a:xfrm>
            <a:off x="10104120" y="2926080"/>
            <a:ext cx="1417320" cy="451714"/>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47</a:t>
            </a:r>
            <a:endParaRPr lang="en-US" sz="2600" dirty="0"/>
          </a:p>
        </p:txBody>
      </p:sp>
      <p:sp>
        <p:nvSpPr>
          <p:cNvPr id="36" name="Text 34"/>
          <p:cNvSpPr/>
          <p:nvPr/>
        </p:nvSpPr>
        <p:spPr>
          <a:xfrm>
            <a:off x="10085832" y="3337560"/>
            <a:ext cx="1453896" cy="312725"/>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DFA states</a:t>
            </a:r>
            <a:endParaRPr lang="en-US" sz="1050" dirty="0"/>
          </a:p>
        </p:txBody>
      </p:sp>
      <p:sp>
        <p:nvSpPr>
          <p:cNvPr id="37" name="Shape 35"/>
          <p:cNvSpPr/>
          <p:nvPr/>
        </p:nvSpPr>
        <p:spPr>
          <a:xfrm>
            <a:off x="8092440" y="3840480"/>
            <a:ext cx="3520440" cy="1481328"/>
          </a:xfrm>
          <a:prstGeom prst="roundRect">
            <a:avLst>
              <a:gd name="adj" fmla="val 3704"/>
            </a:avLst>
          </a:prstGeom>
          <a:solidFill>
            <a:srgbClr val="F4F2EE"/>
          </a:solidFill>
          <a:ln w="12700">
            <a:solidFill>
              <a:srgbClr val="DCDCD4"/>
            </a:solidFill>
            <a:prstDash val="solid"/>
          </a:ln>
        </p:spPr>
      </p:sp>
      <p:sp>
        <p:nvSpPr>
          <p:cNvPr id="38" name="Text 36"/>
          <p:cNvSpPr/>
          <p:nvPr/>
        </p:nvSpPr>
        <p:spPr>
          <a:xfrm>
            <a:off x="8229600" y="3931920"/>
            <a:ext cx="3291840" cy="274320"/>
          </a:xfrm>
          <a:prstGeom prst="rect">
            <a:avLst/>
          </a:prstGeom>
          <a:noFill/>
          <a:ln/>
        </p:spPr>
        <p:txBody>
          <a:bodyPr wrap="square" lIns="0" tIns="0" rIns="0" bIns="0" rtlCol="0" anchor="ctr"/>
          <a:lstStyle/>
          <a:p>
            <a:pPr indent="0" marL="0">
              <a:buNone/>
            </a:pPr>
            <a:r>
              <a:rPr lang="en-US" sz="1200" b="1" dirty="0">
                <a:solidFill>
                  <a:srgbClr val="12151C"/>
                </a:solidFill>
                <a:latin typeface="Calibri" pitchFamily="34" charset="0"/>
                <a:ea typeface="Calibri" pitchFamily="34" charset="-122"/>
                <a:cs typeface="Calibri" pitchFamily="34" charset="-120"/>
              </a:rPr>
              <a:t>Why 37 classes and not 256?</a:t>
            </a:r>
            <a:endParaRPr lang="en-US" sz="1200" dirty="0"/>
          </a:p>
        </p:txBody>
      </p:sp>
      <p:sp>
        <p:nvSpPr>
          <p:cNvPr id="39" name="Text 37"/>
          <p:cNvSpPr/>
          <p:nvPr/>
        </p:nvSpPr>
        <p:spPr>
          <a:xfrm>
            <a:off x="8229600" y="4224528"/>
            <a:ext cx="3291840" cy="1005840"/>
          </a:xfrm>
          <a:prstGeom prst="rect">
            <a:avLst/>
          </a:prstGeom>
          <a:noFill/>
          <a:ln/>
        </p:spPr>
        <p:txBody>
          <a:bodyPr wrap="square" lIns="0" tIns="0" rIns="0" bIns="0" rtlCol="0" anchor="ctr"/>
          <a:lstStyle/>
          <a:p>
            <a:pPr indent="0" marL="0">
              <a:lnSpc>
                <a:spcPct val="115000"/>
              </a:lnSpc>
              <a:buNone/>
            </a:pPr>
            <a:r>
              <a:rPr lang="en-US" sz="1050" dirty="0">
                <a:solidFill>
                  <a:srgbClr val="6B6F76"/>
                </a:solidFill>
                <a:latin typeface="Calibri" pitchFamily="34" charset="0"/>
                <a:ea typeface="Calibri" pitchFamily="34" charset="-122"/>
                <a:cs typeface="Calibri" pitchFamily="34" charset="-120"/>
              </a:rPr>
              <a:t>Two characters that appear in exactly the same set of positions can never be told apart by this automaton, so transitions are computed once per group. [0-9] is one column of the table, not ten.</a:t>
            </a:r>
            <a:endParaRPr lang="en-US" sz="1050" dirty="0"/>
          </a:p>
        </p:txBody>
      </p:sp>
      <p:sp>
        <p:nvSpPr>
          <p:cNvPr id="40" name="Text 38"/>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1 · lexical analysis</a:t>
            </a:r>
            <a:endParaRPr lang="en-US" sz="1000" dirty="0"/>
          </a:p>
        </p:txBody>
      </p:sp>
      <p:sp>
        <p:nvSpPr>
          <p:cNvPr id="41" name="Text 39"/>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1 — the two rules that make a scanner a scanner</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Longest match first; declaration order only breaks ties.</a:t>
            </a:r>
            <a:endParaRPr lang="en-US" sz="1500" dirty="0"/>
          </a:p>
        </p:txBody>
      </p:sp>
      <p:sp>
        <p:nvSpPr>
          <p:cNvPr id="4" name="Shape 2"/>
          <p:cNvSpPr/>
          <p:nvPr/>
        </p:nvSpPr>
        <p:spPr>
          <a:xfrm>
            <a:off x="566928" y="1737360"/>
            <a:ext cx="5349240" cy="1481328"/>
          </a:xfrm>
          <a:prstGeom prst="rect">
            <a:avLst/>
          </a:prstGeom>
          <a:solidFill>
            <a:srgbClr val="F4F2EE"/>
          </a:solidFill>
          <a:ln w="12700">
            <a:solidFill>
              <a:srgbClr val="DCDCD4"/>
            </a:solidFill>
            <a:prstDash val="solid"/>
          </a:ln>
        </p:spPr>
      </p:sp>
      <p:sp>
        <p:nvSpPr>
          <p:cNvPr id="5" name="Text 3"/>
          <p:cNvSpPr/>
          <p:nvPr/>
        </p:nvSpPr>
        <p:spPr>
          <a:xfrm>
            <a:off x="694944" y="1828800"/>
            <a:ext cx="5093208" cy="1298448"/>
          </a:xfrm>
          <a:prstGeom prst="rect">
            <a:avLst/>
          </a:prstGeom>
          <a:noFill/>
          <a:ln/>
        </p:spPr>
        <p:txBody>
          <a:bodyPr wrap="square" lIns="0" tIns="0" rIns="0" bIns="0" rtlCol="0" anchor="t"/>
          <a:lstStyle/>
          <a:p>
            <a:pPr indent="0" marL="0">
              <a:lnSpc>
                <a:spcPct val="106000"/>
              </a:lnSpc>
              <a:buNone/>
            </a:pPr>
            <a:r>
              <a:rPr lang="en-US" sz="1200" dirty="0">
                <a:solidFill>
                  <a:srgbClr val="12151C"/>
                </a:solidFill>
                <a:latin typeface="Courier New" pitchFamily="34" charset="0"/>
                <a:ea typeface="Courier New" pitchFamily="34" charset="-122"/>
                <a:cs typeface="Courier New" pitchFamily="34" charset="-120"/>
              </a:rPr>
              <a:t>REST      (r|~)(/(1|2|4|8|16|32|64)\.?)?</a:t>
            </a:r>
            <a:endParaRPr lang="en-US" sz="1200" dirty="0"/>
          </a:p>
          <a:p>
            <a:pPr indent="0" marL="0">
              <a:lnSpc>
                <a:spcPct val="106000"/>
              </a:lnSpc>
              <a:buNone/>
            </a:pPr>
            <a:r>
              <a:rPr lang="en-US" sz="1200" dirty="0">
                <a:solidFill>
                  <a:srgbClr val="12151C"/>
                </a:solidFill>
                <a:latin typeface="Courier New" pitchFamily="34" charset="0"/>
                <a:ea typeface="Courier New" pitchFamily="34" charset="-122"/>
                <a:cs typeface="Courier New" pitchFamily="34" charset="-120"/>
              </a:rPr>
              <a:t>PITCHNAME [A-G](#|b)?</a:t>
            </a:r>
            <a:endParaRPr lang="en-US" sz="1200" dirty="0"/>
          </a:p>
          <a:p>
            <a:pPr indent="0" marL="0">
              <a:lnSpc>
                <a:spcPct val="106000"/>
              </a:lnSpc>
              <a:buNone/>
            </a:pPr>
            <a:r>
              <a:rPr lang="en-US" sz="1200" dirty="0">
                <a:solidFill>
                  <a:srgbClr val="12151C"/>
                </a:solidFill>
                <a:latin typeface="Courier New" pitchFamily="34" charset="0"/>
                <a:ea typeface="Courier New" pitchFamily="34" charset="-122"/>
                <a:cs typeface="Courier New" pitchFamily="34" charset="-120"/>
              </a:rPr>
              <a:t>NOTE      [A-G](#|b)?[0-8](/...)?</a:t>
            </a:r>
            <a:endParaRPr lang="en-US" sz="1200" dirty="0"/>
          </a:p>
          <a:p>
            <a:pPr indent="0" marL="0">
              <a:lnSpc>
                <a:spcPct val="106000"/>
              </a:lnSpc>
              <a:buNone/>
            </a:pPr>
            <a:r>
              <a:rPr lang="en-US" sz="1200" dirty="0">
                <a:solidFill>
                  <a:srgbClr val="12151C"/>
                </a:solidFill>
                <a:latin typeface="Courier New" pitchFamily="34" charset="0"/>
                <a:ea typeface="Courier New" pitchFamily="34" charset="-122"/>
                <a:cs typeface="Courier New" pitchFamily="34" charset="-120"/>
              </a:rPr>
              <a:t>ID        [a-z_][a-zA-Z0-9_]*</a:t>
            </a:r>
            <a:endParaRPr lang="en-US" sz="1200" dirty="0"/>
          </a:p>
        </p:txBody>
      </p:sp>
      <p:sp>
        <p:nvSpPr>
          <p:cNvPr id="6" name="Text 4"/>
          <p:cNvSpPr/>
          <p:nvPr/>
        </p:nvSpPr>
        <p:spPr>
          <a:xfrm>
            <a:off x="566928" y="3291840"/>
            <a:ext cx="534924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four of the twenty-five rules, in priority order</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749040"/>
          <a:ext cx="5349240" cy="914400"/>
        </p:xfrm>
        <a:graphic>
          <a:graphicData uri="http://schemas.openxmlformats.org/drawingml/2006/table">
            <a:tbl>
              <a:tblPr/>
              <a:tblGrid>
                <a:gridCol w="822960"/>
                <a:gridCol w="1965960"/>
                <a:gridCol w="1005840"/>
                <a:gridCol w="155448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rules that match</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chosen</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riff</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ID (4 chars), REST (1 char)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maximal munch: longest wins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REST (1), ID (1)</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REST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tie → the rule declared first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D4/8</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NOTE (4), PITCHNAME (1)</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NOTE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maximal munch</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PITCHNAME (1), NOTE (0)</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PITCHNAME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NOTE needs an octave digit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tempo</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ID (5)</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TEMPO</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keywords are folded after scanning</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8" name="Shape 5"/>
          <p:cNvSpPr/>
          <p:nvPr/>
        </p:nvSpPr>
        <p:spPr>
          <a:xfrm>
            <a:off x="6309360" y="1737360"/>
            <a:ext cx="5285232" cy="2011680"/>
          </a:xfrm>
          <a:prstGeom prst="roundRect">
            <a:avLst>
              <a:gd name="adj" fmla="val 2727"/>
            </a:avLst>
          </a:prstGeom>
          <a:solidFill>
            <a:srgbClr val="F4F2EE"/>
          </a:solidFill>
          <a:ln w="12700">
            <a:solidFill>
              <a:srgbClr val="DCDCD4"/>
            </a:solidFill>
            <a:prstDash val="solid"/>
          </a:ln>
        </p:spPr>
      </p:sp>
      <p:sp>
        <p:nvSpPr>
          <p:cNvPr id="9" name="Text 6"/>
          <p:cNvSpPr/>
          <p:nvPr/>
        </p:nvSpPr>
        <p:spPr>
          <a:xfrm>
            <a:off x="6446520" y="1828800"/>
            <a:ext cx="5029200" cy="292608"/>
          </a:xfrm>
          <a:prstGeom prst="rect">
            <a:avLst/>
          </a:prstGeom>
          <a:noFill/>
          <a:ln/>
        </p:spPr>
        <p:txBody>
          <a:bodyPr wrap="square" lIns="0" tIns="0" rIns="0" bIns="0" rtlCol="0" anchor="ctr"/>
          <a:lstStyle/>
          <a:p>
            <a:pPr indent="0" marL="0">
              <a:buNone/>
            </a:pPr>
            <a:r>
              <a:rPr lang="en-US" sz="1300" b="1" dirty="0">
                <a:solidFill>
                  <a:srgbClr val="12151C"/>
                </a:solidFill>
                <a:latin typeface="Calibri" pitchFamily="34" charset="0"/>
                <a:ea typeface="Calibri" pitchFamily="34" charset="-122"/>
                <a:cs typeface="Calibri" pitchFamily="34" charset="-120"/>
              </a:rPr>
              <a:t>Keywords are not in the DFA</a:t>
            </a:r>
            <a:endParaRPr lang="en-US" sz="1300" dirty="0"/>
          </a:p>
        </p:txBody>
      </p:sp>
      <p:sp>
        <p:nvSpPr>
          <p:cNvPr id="10" name="Text 7"/>
          <p:cNvSpPr/>
          <p:nvPr/>
        </p:nvSpPr>
        <p:spPr>
          <a:xfrm>
            <a:off x="6446520" y="2157984"/>
            <a:ext cx="5029200" cy="1463040"/>
          </a:xfrm>
          <a:prstGeom prst="rect">
            <a:avLst/>
          </a:prstGeom>
          <a:noFill/>
          <a:ln/>
        </p:spPr>
        <p:txBody>
          <a:bodyPr wrap="square" lIns="0" tIns="0" rIns="0" bIns="0" rtlCol="0" anchor="ctr"/>
          <a:lstStyle/>
          <a:p>
            <a:pPr indent="0" marL="0">
              <a:lnSpc>
                <a:spcPct val="120000"/>
              </a:lnSpc>
              <a:buNone/>
            </a:pPr>
            <a:r>
              <a:rPr lang="en-US" sz="1200" dirty="0">
                <a:solidFill>
                  <a:srgbClr val="6B6F76"/>
                </a:solidFill>
                <a:latin typeface="Calibri" pitchFamily="34" charset="0"/>
                <a:ea typeface="Calibri" pitchFamily="34" charset="-122"/>
                <a:cs typeface="Calibri" pitchFamily="34" charset="-120"/>
              </a:rPr>
              <a:t>Twenty reserved words would add twenty near-identical paths to the automaton. Instead ID is scanned, then looked up in a keyword table — the same trick Lex users apply by hand. 'tempo' becomes TEMPO; 'tempoo' stays an ID.</a:t>
            </a:r>
            <a:endParaRPr lang="en-US" sz="1200" dirty="0"/>
          </a:p>
        </p:txBody>
      </p:sp>
      <p:sp>
        <p:nvSpPr>
          <p:cNvPr id="11" name="Text 8"/>
          <p:cNvSpPr/>
          <p:nvPr/>
        </p:nvSpPr>
        <p:spPr>
          <a:xfrm>
            <a:off x="6309360" y="3931920"/>
            <a:ext cx="5285232" cy="292608"/>
          </a:xfrm>
          <a:prstGeom prst="rect">
            <a:avLst/>
          </a:prstGeom>
          <a:noFill/>
          <a:ln/>
        </p:spPr>
        <p:txBody>
          <a:bodyPr wrap="square" lIns="0" tIns="0" rIns="0" bIns="0" rtlCol="0" anchor="ctr"/>
          <a:lstStyle/>
          <a:p>
            <a:pPr indent="0" marL="0">
              <a:buNone/>
            </a:pPr>
            <a:r>
              <a:rPr lang="en-US" sz="1300" b="1" dirty="0">
                <a:solidFill>
                  <a:srgbClr val="12151C"/>
                </a:solidFill>
                <a:latin typeface="Calibri" pitchFamily="34" charset="0"/>
                <a:ea typeface="Calibri" pitchFamily="34" charset="-122"/>
                <a:cs typeface="Calibri" pitchFamily="34" charset="-120"/>
              </a:rPr>
              <a:t>Errors do not stop the scan</a:t>
            </a:r>
            <a:endParaRPr lang="en-US" sz="1300" dirty="0"/>
          </a:p>
        </p:txBody>
      </p:sp>
      <p:sp>
        <p:nvSpPr>
          <p:cNvPr id="12" name="Shape 9"/>
          <p:cNvSpPr/>
          <p:nvPr/>
        </p:nvSpPr>
        <p:spPr>
          <a:xfrm>
            <a:off x="6309360" y="4279392"/>
            <a:ext cx="5285232" cy="1572768"/>
          </a:xfrm>
          <a:prstGeom prst="rect">
            <a:avLst/>
          </a:prstGeom>
          <a:solidFill>
            <a:srgbClr val="F4F2EE"/>
          </a:solidFill>
          <a:ln w="12700">
            <a:solidFill>
              <a:srgbClr val="DCDCD4"/>
            </a:solidFill>
            <a:prstDash val="solid"/>
          </a:ln>
        </p:spPr>
      </p:sp>
      <p:sp>
        <p:nvSpPr>
          <p:cNvPr id="13" name="Text 10"/>
          <p:cNvSpPr/>
          <p:nvPr/>
        </p:nvSpPr>
        <p:spPr>
          <a:xfrm>
            <a:off x="6437376" y="4370832"/>
            <a:ext cx="5029200" cy="1389888"/>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[lexical error] line 7:20: unterminated string</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instrument piano = "grand piano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hint: add the closing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[lexical error] line 8:31: stray character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voice tune on piano = [ C4 E4 $ G4 ]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p:txBody>
      </p:sp>
      <p:sp>
        <p:nvSpPr>
          <p:cNvPr id="14" name="Text 11"/>
          <p:cNvSpPr/>
          <p:nvPr/>
        </p:nvSpPr>
        <p:spPr>
          <a:xfrm>
            <a:off x="6309360" y="5907024"/>
            <a:ext cx="5285232"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panic-mode recovery: skip one character, keep scanning, report both</a:t>
            </a:r>
            <a:endParaRPr lang="en-US" sz="1100" dirty="0"/>
          </a:p>
        </p:txBody>
      </p:sp>
      <p:sp>
        <p:nvSpPr>
          <p:cNvPr id="15" name="Text 12"/>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1 · maximal munch</a:t>
            </a:r>
            <a:endParaRPr lang="en-US" sz="1000" dirty="0"/>
          </a:p>
        </p:txBody>
      </p:sp>
      <p:sp>
        <p:nvSpPr>
          <p:cNvPr id="16" name="Text 13"/>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2 — one grammar, four parsers, one honest comparison</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56 productions. Built at start-up, in about 250 milliseconds.</a:t>
            </a:r>
            <a:endParaRPr lang="en-US" sz="1500" dirty="0"/>
          </a:p>
        </p:txBody>
      </p:sp>
      <p:graphicFrame>
        <p:nvGraphicFramePr>
          <p:cNvPr id="4" name="Chart 0" descr=""/>
          <p:cNvGraphicFramePr/>
          <p:nvPr/>
        </p:nvGraphicFramePr>
        <p:xfrm>
          <a:off x="566928" y="1737360"/>
          <a:ext cx="512064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4279392"/>
          <a:ext cx="5120640" cy="914400"/>
        </p:xfrm>
        <a:graphic>
          <a:graphicData uri="http://schemas.openxmlformats.org/drawingml/2006/table">
            <a:tbl>
              <a:tblPr/>
              <a:tblGrid>
                <a:gridCol w="1463040"/>
                <a:gridCol w="914400"/>
                <a:gridCol w="1005840"/>
                <a:gridCol w="868680"/>
                <a:gridCol w="86868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parser</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states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entries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s/r</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r/r</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SLR(1)</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114</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742</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50" b="1" dirty="0">
                          <a:solidFill>
                            <a:srgbClr val="12151C"/>
                          </a:solidFill>
                          <a:latin typeface="Calibri" pitchFamily="34" charset="0"/>
                          <a:ea typeface="Calibri" pitchFamily="34" charset="-122"/>
                          <a:cs typeface="Calibri" pitchFamily="34" charset="-120"/>
                        </a:rPr>
                        <a:t>CLR(1)</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204</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1343</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50" b="1" dirty="0">
                          <a:solidFill>
                            <a:srgbClr val="7A1F3D"/>
                          </a:solidFill>
                          <a:latin typeface="Calibri" pitchFamily="34" charset="0"/>
                          <a:ea typeface="Calibri" pitchFamily="34" charset="-122"/>
                          <a:cs typeface="Calibri" pitchFamily="34" charset="-120"/>
                        </a:rPr>
                        <a:t>LALR(1)</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b="1" dirty="0">
                          <a:solidFill>
                            <a:srgbClr val="7A1F3D"/>
                          </a:solidFill>
                          <a:latin typeface="Calibri" pitchFamily="34" charset="0"/>
                          <a:ea typeface="Calibri" pitchFamily="34" charset="-122"/>
                          <a:cs typeface="Calibri" pitchFamily="34" charset="-120"/>
                        </a:rPr>
                        <a:t>114</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b="1" dirty="0">
                          <a:solidFill>
                            <a:srgbClr val="7A1F3D"/>
                          </a:solidFill>
                          <a:latin typeface="Calibri" pitchFamily="34" charset="0"/>
                          <a:ea typeface="Calibri" pitchFamily="34" charset="-122"/>
                          <a:cs typeface="Calibri" pitchFamily="34" charset="-120"/>
                        </a:rPr>
                        <a:t>742</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50" dirty="0">
                          <a:solidFill>
                            <a:srgbClr val="12151C"/>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6" name="Shape 2"/>
          <p:cNvSpPr/>
          <p:nvPr/>
        </p:nvSpPr>
        <p:spPr>
          <a:xfrm>
            <a:off x="5989320" y="1737360"/>
            <a:ext cx="5605272" cy="2148840"/>
          </a:xfrm>
          <a:prstGeom prst="roundRect">
            <a:avLst>
              <a:gd name="adj" fmla="val 2553"/>
            </a:avLst>
          </a:prstGeom>
          <a:solidFill>
            <a:srgbClr val="12151C"/>
          </a:solidFill>
          <a:ln w="12700">
            <a:solidFill>
              <a:srgbClr val="12151C"/>
            </a:solidFill>
            <a:prstDash val="solid"/>
          </a:ln>
        </p:spPr>
      </p:sp>
      <p:sp>
        <p:nvSpPr>
          <p:cNvPr id="7" name="Text 3"/>
          <p:cNvSpPr/>
          <p:nvPr/>
        </p:nvSpPr>
        <p:spPr>
          <a:xfrm>
            <a:off x="6172200" y="1847088"/>
            <a:ext cx="52578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trade-off LALR exists to make — measured</a:t>
            </a:r>
            <a:endParaRPr lang="en-US" sz="1400" dirty="0"/>
          </a:p>
        </p:txBody>
      </p:sp>
      <p:sp>
        <p:nvSpPr>
          <p:cNvPr id="8" name="Text 4"/>
          <p:cNvSpPr/>
          <p:nvPr/>
        </p:nvSpPr>
        <p:spPr>
          <a:xfrm>
            <a:off x="6172200" y="2212848"/>
            <a:ext cx="5257800" cy="1463040"/>
          </a:xfrm>
          <a:prstGeom prst="rect">
            <a:avLst/>
          </a:prstGeom>
          <a:noFill/>
          <a:ln/>
        </p:spPr>
        <p:txBody>
          <a:bodyPr wrap="square" lIns="0" tIns="0" rIns="0" bIns="0" rtlCol="0" anchor="ctr"/>
          <a:lstStyle/>
          <a:p>
            <a:pPr indent="0" marL="0">
              <a:lnSpc>
                <a:spcPct val="125000"/>
              </a:lnSpc>
              <a:buNone/>
            </a:pPr>
            <a:r>
              <a:rPr lang="en-US" sz="1250" dirty="0">
                <a:solidFill>
                  <a:srgbClr val="CBD0D8"/>
                </a:solidFill>
                <a:latin typeface="Calibri" pitchFamily="34" charset="0"/>
                <a:ea typeface="Calibri" pitchFamily="34" charset="-122"/>
                <a:cs typeface="Calibri" pitchFamily="34" charset="-120"/>
              </a:rPr>
              <a:t>CLR(1) keeps a separate state for every lookahead context: 204 states.</a:t>
            </a:r>
            <a:endParaRPr lang="en-US" sz="1250" dirty="0"/>
          </a:p>
          <a:p>
            <a:pPr indent="0" marL="0">
              <a:lnSpc>
                <a:spcPct val="125000"/>
              </a:lnSpc>
              <a:buNone/>
            </a:pPr>
            <a:r>
              <a:rPr lang="en-US" sz="1250" dirty="0">
                <a:solidFill>
                  <a:srgbClr val="CBD0D8"/>
                </a:solidFill>
                <a:latin typeface="Calibri" pitchFamily="34" charset="0"/>
                <a:ea typeface="Calibri" pitchFamily="34" charset="-122"/>
                <a:cs typeface="Calibri" pitchFamily="34" charset="-120"/>
              </a:rPr>
              <a:t>Merge the states that share a core and you are back to 114 — the same size as SLR(1) — without reintroducing a single conflict.</a:t>
            </a:r>
            <a:endParaRPr lang="en-US" sz="1250" dirty="0"/>
          </a:p>
          <a:p>
            <a:pPr indent="0" marL="0">
              <a:lnSpc>
                <a:spcPct val="125000"/>
              </a:lnSpc>
              <a:buNone/>
            </a:pPr>
            <a:r>
              <a:rPr lang="en-US" sz="1250" dirty="0">
                <a:solidFill>
                  <a:srgbClr val="CBD0D8"/>
                </a:solidFill>
                <a:latin typeface="Calibri" pitchFamily="34" charset="0"/>
                <a:ea typeface="Calibri" pitchFamily="34" charset="-122"/>
                <a:cs typeface="Calibri" pitchFamily="34" charset="-120"/>
              </a:rPr>
              <a:t>44 % fewer states than CLR, all of CLR's power on this grammar.</a:t>
            </a:r>
            <a:endParaRPr lang="en-US" sz="1250" dirty="0"/>
          </a:p>
        </p:txBody>
      </p:sp>
      <p:sp>
        <p:nvSpPr>
          <p:cNvPr id="9" name="Text 5"/>
          <p:cNvSpPr/>
          <p:nvPr/>
        </p:nvSpPr>
        <p:spPr>
          <a:xfrm>
            <a:off x="5989320" y="4041648"/>
            <a:ext cx="5605272" cy="310896"/>
          </a:xfrm>
          <a:prstGeom prst="rect">
            <a:avLst/>
          </a:prstGeom>
          <a:noFill/>
          <a:ln/>
        </p:spPr>
        <p:txBody>
          <a:bodyPr wrap="square" lIns="0" tIns="0" rIns="0" bIns="0" rtlCol="0" anchor="ctr"/>
          <a:lstStyle/>
          <a:p>
            <a:pPr indent="0" marL="0">
              <a:buNone/>
            </a:pPr>
            <a:r>
              <a:rPr lang="en-US" sz="1400" b="1" dirty="0">
                <a:solidFill>
                  <a:srgbClr val="12151C"/>
                </a:solidFill>
                <a:latin typeface="Calibri" pitchFamily="34" charset="0"/>
                <a:ea typeface="Calibri" pitchFamily="34" charset="-122"/>
                <a:cs typeface="Calibri" pitchFamily="34" charset="-120"/>
              </a:rPr>
              <a:t>And LL(1)? It fails — which is the point.</a:t>
            </a:r>
            <a:endParaRPr lang="en-US" sz="1400" dirty="0"/>
          </a:p>
        </p:txBody>
      </p:sp>
      <p:sp>
        <p:nvSpPr>
          <p:cNvPr id="10" name="Text 6"/>
          <p:cNvSpPr/>
          <p:nvPr/>
        </p:nvSpPr>
        <p:spPr>
          <a:xfrm>
            <a:off x="5989320" y="4352544"/>
            <a:ext cx="5605272" cy="1691640"/>
          </a:xfrm>
          <a:prstGeom prst="rect">
            <a:avLst/>
          </a:prstGeom>
          <a:noFill/>
          <a:ln/>
        </p:spPr>
        <p:txBody>
          <a:bodyPr wrap="square" lIns="0" tIns="0" rIns="0" bIns="0" rtlCol="0" anchor="ctr"/>
          <a:lstStyle/>
          <a:p>
            <a:pPr marL="342900" indent="-342900">
              <a:lnSpc>
                <a:spcPct val="115000"/>
              </a:lnSpc>
              <a:buSzPct val="100000"/>
              <a:buChar char="•"/>
            </a:pPr>
            <a:r>
              <a:rPr lang="en-US" sz="1150" dirty="0">
                <a:solidFill>
                  <a:srgbClr val="12151C"/>
                </a:solidFill>
                <a:latin typeface="Calibri" pitchFamily="34" charset="0"/>
                <a:ea typeface="Calibri" pitchFamily="34" charset="-122"/>
                <a:cs typeface="Calibri" pitchFamily="34" charset="-120"/>
              </a:rPr>
              <a:t>56 conflicting entries in the LL(1) table.</a:t>
            </a:r>
            <a:endParaRPr lang="en-US" sz="1150" dirty="0"/>
          </a:p>
          <a:p>
            <a:pPr marL="342900" indent="-342900">
              <a:lnSpc>
                <a:spcPct val="115000"/>
              </a:lnSpc>
              <a:buSzPct val="100000"/>
              <a:buChar char="•"/>
            </a:pPr>
            <a:r>
              <a:rPr lang="en-US" sz="1150" dirty="0">
                <a:solidFill>
                  <a:srgbClr val="12151C"/>
                </a:solidFill>
                <a:latin typeface="Calibri" pitchFamily="34" charset="0"/>
                <a:ea typeface="Calibri" pitchFamily="34" charset="-122"/>
                <a:cs typeface="Calibri" pitchFamily="34" charset="-120"/>
              </a:rPr>
              <a:t>8 nonterminals are left-recursive: arglist, comp, decls, expr, idlist, notelist, seq, term.</a:t>
            </a:r>
            <a:endParaRPr lang="en-US" sz="1150" dirty="0"/>
          </a:p>
          <a:p>
            <a:pPr marL="342900" indent="-342900">
              <a:lnSpc>
                <a:spcPct val="115000"/>
              </a:lnSpc>
              <a:buSzPct val="100000"/>
              <a:buChar char="•"/>
            </a:pPr>
            <a:r>
              <a:rPr lang="en-US" sz="1150" dirty="0">
                <a:solidFill>
                  <a:srgbClr val="12151C"/>
                </a:solidFill>
                <a:latin typeface="Calibri" pitchFamily="34" charset="0"/>
                <a:ea typeface="Calibri" pitchFamily="34" charset="-122"/>
                <a:cs typeface="Calibri" pitchFamily="34" charset="-120"/>
              </a:rPr>
              <a:t>So the grammar keeps its natural left recursion and is parsed bottom-up. Recursive descent survives only as the cross-check, with its left recursion hand-converted into loops.</a:t>
            </a:r>
            <a:endParaRPr lang="en-US" sz="1150" dirty="0"/>
          </a:p>
        </p:txBody>
      </p:sp>
      <p:sp>
        <p:nvSpPr>
          <p:cNvPr id="11" name="Text 7"/>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2 · parse tables</a:t>
            </a:r>
            <a:endParaRPr lang="en-US" sz="1000" dirty="0"/>
          </a:p>
        </p:txBody>
      </p:sp>
      <p:sp>
        <p:nvSpPr>
          <p:cNvPr id="12" name="Text 8"/>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2 — the first grammar I wrote was ambiguous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The table builder found it. The fix was to change the language, not to hack the table.</a:t>
            </a:r>
            <a:endParaRPr lang="en-US" sz="1500" dirty="0"/>
          </a:p>
        </p:txBody>
      </p:sp>
      <p:sp>
        <p:nvSpPr>
          <p:cNvPr id="4" name="Text 2"/>
          <p:cNvSpPr/>
          <p:nvPr/>
        </p:nvSpPr>
        <p:spPr>
          <a:xfrm>
            <a:off x="566928" y="1664208"/>
            <a:ext cx="5303520" cy="274320"/>
          </a:xfrm>
          <a:prstGeom prst="rect">
            <a:avLst/>
          </a:prstGeom>
          <a:noFill/>
          <a:ln/>
        </p:spPr>
        <p:txBody>
          <a:bodyPr wrap="square" lIns="0" tIns="0" rIns="0" bIns="0" rtlCol="0" anchor="ctr"/>
          <a:lstStyle/>
          <a:p>
            <a:pPr indent="0" marL="0">
              <a:buNone/>
            </a:pPr>
            <a:r>
              <a:rPr lang="en-US" sz="1200" b="1" dirty="0">
                <a:solidFill>
                  <a:srgbClr val="7A1F3D"/>
                </a:solidFill>
                <a:latin typeface="Calibri" pitchFamily="34" charset="0"/>
                <a:ea typeface="Calibri" pitchFamily="34" charset="-122"/>
                <a:cs typeface="Calibri" pitchFamily="34" charset="-120"/>
              </a:rPr>
              <a:t>first draft</a:t>
            </a:r>
            <a:endParaRPr lang="en-US" sz="1200" dirty="0"/>
          </a:p>
        </p:txBody>
      </p:sp>
      <p:sp>
        <p:nvSpPr>
          <p:cNvPr id="5" name="Shape 3"/>
          <p:cNvSpPr/>
          <p:nvPr/>
        </p:nvSpPr>
        <p:spPr>
          <a:xfrm>
            <a:off x="566928" y="1975104"/>
            <a:ext cx="5303520" cy="1371600"/>
          </a:xfrm>
          <a:prstGeom prst="rect">
            <a:avLst/>
          </a:prstGeom>
          <a:solidFill>
            <a:srgbClr val="F4F2EE"/>
          </a:solidFill>
          <a:ln w="12700">
            <a:solidFill>
              <a:srgbClr val="DCDCD4"/>
            </a:solidFill>
            <a:prstDash val="solid"/>
          </a:ln>
        </p:spPr>
      </p:sp>
      <p:sp>
        <p:nvSpPr>
          <p:cNvPr id="6" name="Text 4"/>
          <p:cNvSpPr/>
          <p:nvPr/>
        </p:nvSpPr>
        <p:spPr>
          <a:xfrm>
            <a:off x="694944" y="2066544"/>
            <a:ext cx="5047488" cy="118872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comp -&gt; comp comp          | seq</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elem -&gt; LPAREN comp RPAREN            // group</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elem -&gt; LPAREN notelist RPAREN SLASH dur</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 chord</a:t>
            </a:r>
            <a:endParaRPr lang="en-US" sz="1100" dirty="0"/>
          </a:p>
        </p:txBody>
      </p:sp>
      <p:sp>
        <p:nvSpPr>
          <p:cNvPr id="7" name="Text 5"/>
          <p:cNvSpPr/>
          <p:nvPr/>
        </p:nvSpPr>
        <p:spPr>
          <a:xfrm>
            <a:off x="6309360" y="1664208"/>
            <a:ext cx="5303520" cy="274320"/>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after</a:t>
            </a:r>
            <a:endParaRPr lang="en-US" sz="1200" dirty="0"/>
          </a:p>
        </p:txBody>
      </p:sp>
      <p:sp>
        <p:nvSpPr>
          <p:cNvPr id="8" name="Shape 6"/>
          <p:cNvSpPr/>
          <p:nvPr/>
        </p:nvSpPr>
        <p:spPr>
          <a:xfrm>
            <a:off x="6309360" y="1975104"/>
            <a:ext cx="5285232" cy="1371600"/>
          </a:xfrm>
          <a:prstGeom prst="rect">
            <a:avLst/>
          </a:prstGeom>
          <a:solidFill>
            <a:srgbClr val="F4F2EE"/>
          </a:solidFill>
          <a:ln w="12700">
            <a:solidFill>
              <a:srgbClr val="DCDCD4"/>
            </a:solidFill>
            <a:prstDash val="solid"/>
          </a:ln>
        </p:spPr>
      </p:sp>
      <p:sp>
        <p:nvSpPr>
          <p:cNvPr id="9" name="Text 7"/>
          <p:cNvSpPr/>
          <p:nvPr/>
        </p:nvSpPr>
        <p:spPr>
          <a:xfrm>
            <a:off x="6437376" y="2066544"/>
            <a:ext cx="5029200" cy="118872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comp -&gt; comp BAR seq       | seq</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seq  -&gt; seq elem           | elem</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elem -&gt; LBRACK comp RBRACK            // group</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elem -&gt; LT notelist GT SLASH dur      // chord</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3611880"/>
          <a:ext cx="11027664" cy="914400"/>
        </p:xfrm>
        <a:graphic>
          <a:graphicData uri="http://schemas.openxmlformats.org/drawingml/2006/table">
            <a:tbl>
              <a:tblPr/>
              <a:tblGrid>
                <a:gridCol w="2560320"/>
                <a:gridCol w="1280160"/>
                <a:gridCol w="2011680"/>
                <a:gridCol w="2103120"/>
                <a:gridCol w="3072384"/>
              </a:tblGrid>
              <a:tr h="0">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states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shift/reduce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reduce/reduce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ambiguous draft</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b="1" dirty="0">
                          <a:solidFill>
                            <a:srgbClr val="7A1F3D"/>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b="1" dirty="0">
                          <a:solidFill>
                            <a:srgbClr val="7A1F3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unusable</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final grammar</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114</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b="1" dirty="0">
                          <a:solidFill>
                            <a:srgbClr val="1F6F6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b="1" dirty="0">
                          <a:solidFill>
                            <a:srgbClr val="1F6F6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200" dirty="0">
                          <a:solidFill>
                            <a:srgbClr val="12151C"/>
                          </a:solidFill>
                          <a:latin typeface="Calibri" pitchFamily="34" charset="0"/>
                          <a:ea typeface="Calibri" pitchFamily="34" charset="-122"/>
                          <a:cs typeface="Calibri" pitchFamily="34" charset="-120"/>
                        </a:rPr>
                        <a:t>parses</a:t>
                      </a:r>
                      <a:endParaRPr lang="en-US" sz="12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11" name="Shape 8"/>
          <p:cNvSpPr/>
          <p:nvPr/>
        </p:nvSpPr>
        <p:spPr>
          <a:xfrm>
            <a:off x="566928" y="4800600"/>
            <a:ext cx="11027664" cy="1298448"/>
          </a:xfrm>
          <a:prstGeom prst="roundRect">
            <a:avLst>
              <a:gd name="adj" fmla="val 4225"/>
            </a:avLst>
          </a:prstGeom>
          <a:solidFill>
            <a:srgbClr val="F4F2EE"/>
          </a:solidFill>
          <a:ln w="12700">
            <a:solidFill>
              <a:srgbClr val="DCDCD4"/>
            </a:solidFill>
            <a:prstDash val="solid"/>
          </a:ln>
        </p:spPr>
      </p:sp>
      <p:sp>
        <p:nvSpPr>
          <p:cNvPr id="12" name="Text 9"/>
          <p:cNvSpPr/>
          <p:nvPr/>
        </p:nvSpPr>
        <p:spPr>
          <a:xfrm>
            <a:off x="731520" y="4901184"/>
            <a:ext cx="10698480" cy="274320"/>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The reduce/reduce pair is the interesting one</a:t>
            </a:r>
            <a:endParaRPr lang="en-US" sz="1250" dirty="0"/>
          </a:p>
        </p:txBody>
      </p:sp>
      <p:sp>
        <p:nvSpPr>
          <p:cNvPr id="13" name="Text 10"/>
          <p:cNvSpPr/>
          <p:nvPr/>
        </p:nvSpPr>
        <p:spPr>
          <a:xfrm>
            <a:off x="731520" y="5193792"/>
            <a:ext cx="10698480" cy="822960"/>
          </a:xfrm>
          <a:prstGeom prst="rect">
            <a:avLst/>
          </a:prstGeom>
          <a:noFill/>
          <a:ln/>
        </p:spPr>
        <p:txBody>
          <a:bodyPr wrap="square" lIns="0" tIns="0" rIns="0" bIns="0" rtlCol="0" anchor="ctr"/>
          <a:lstStyle/>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After reading ( D4 the parser cannot know whether it is inside a chord or inside a group — the decision needs the token after the closing bracket, which is more lookahead than LR(1) has. Chords now use angle brackets, so one token of lookahead is enough. Both grammars are still in the source, and the report prints the conflicts with the state, the lookahead and the two competing actions.</a:t>
            </a:r>
            <a:endParaRPr lang="en-US" sz="1150" dirty="0"/>
          </a:p>
        </p:txBody>
      </p:sp>
      <p:sp>
        <p:nvSpPr>
          <p:cNvPr id="14" name="Text 11"/>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2 · ambiguity</a:t>
            </a:r>
            <a:endParaRPr lang="en-US" sz="1000" dirty="0"/>
          </a:p>
        </p:txBody>
      </p:sp>
      <p:sp>
        <p:nvSpPr>
          <p:cNvPr id="15" name="Text 12"/>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2 — two parsers, one grammar, byte-identical trees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Differential testing: the cheapest strong evidence that a parser is correct.</a:t>
            </a:r>
            <a:endParaRPr lang="en-US" sz="1500" dirty="0"/>
          </a:p>
        </p:txBody>
      </p:sp>
      <p:sp>
        <p:nvSpPr>
          <p:cNvPr id="4" name="Shape 2"/>
          <p:cNvSpPr/>
          <p:nvPr/>
        </p:nvSpPr>
        <p:spPr>
          <a:xfrm>
            <a:off x="5074920" y="1783080"/>
            <a:ext cx="2011680" cy="566928"/>
          </a:xfrm>
          <a:prstGeom prst="roundRect">
            <a:avLst>
              <a:gd name="adj" fmla="val 8065"/>
            </a:avLst>
          </a:prstGeom>
          <a:solidFill>
            <a:srgbClr val="12151C"/>
          </a:solidFill>
          <a:ln w="12700">
            <a:solidFill>
              <a:srgbClr val="12151C"/>
            </a:solidFill>
            <a:prstDash val="solid"/>
          </a:ln>
        </p:spPr>
      </p:sp>
      <p:sp>
        <p:nvSpPr>
          <p:cNvPr id="5" name="Text 3"/>
          <p:cNvSpPr/>
          <p:nvPr/>
        </p:nvSpPr>
        <p:spPr>
          <a:xfrm>
            <a:off x="5120640" y="1783080"/>
            <a:ext cx="19202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token stream</a:t>
            </a:r>
            <a:endParaRPr lang="en-US" sz="1200" dirty="0"/>
          </a:p>
        </p:txBody>
      </p:sp>
      <p:sp>
        <p:nvSpPr>
          <p:cNvPr id="6" name="Shape 4"/>
          <p:cNvSpPr/>
          <p:nvPr/>
        </p:nvSpPr>
        <p:spPr>
          <a:xfrm>
            <a:off x="4754880" y="2066544"/>
            <a:ext cx="-822960" cy="585216"/>
          </a:xfrm>
          <a:prstGeom prst="line">
            <a:avLst/>
          </a:prstGeom>
          <a:noFill/>
          <a:ln w="19050">
            <a:solidFill>
              <a:srgbClr val="6B6F76"/>
            </a:solidFill>
            <a:prstDash val="solid"/>
            <a:tailEnd type="triangle"/>
          </a:ln>
        </p:spPr>
      </p:sp>
      <p:sp>
        <p:nvSpPr>
          <p:cNvPr id="7" name="Shape 5"/>
          <p:cNvSpPr/>
          <p:nvPr/>
        </p:nvSpPr>
        <p:spPr>
          <a:xfrm>
            <a:off x="7406640" y="2066544"/>
            <a:ext cx="822960" cy="585216"/>
          </a:xfrm>
          <a:prstGeom prst="line">
            <a:avLst/>
          </a:prstGeom>
          <a:noFill/>
          <a:ln w="19050">
            <a:solidFill>
              <a:srgbClr val="6B6F76"/>
            </a:solidFill>
            <a:prstDash val="solid"/>
            <a:tailEnd type="triangle"/>
          </a:ln>
        </p:spPr>
      </p:sp>
      <p:sp>
        <p:nvSpPr>
          <p:cNvPr id="8" name="Shape 6"/>
          <p:cNvSpPr/>
          <p:nvPr/>
        </p:nvSpPr>
        <p:spPr>
          <a:xfrm>
            <a:off x="1371600" y="2651760"/>
            <a:ext cx="3749040" cy="1371600"/>
          </a:xfrm>
          <a:prstGeom prst="roundRect">
            <a:avLst>
              <a:gd name="adj" fmla="val 4000"/>
            </a:avLst>
          </a:prstGeom>
          <a:solidFill>
            <a:srgbClr val="FFFFFF"/>
          </a:solidFill>
          <a:ln w="19050">
            <a:solidFill>
              <a:srgbClr val="7A1F3D"/>
            </a:solidFill>
            <a:prstDash val="solid"/>
          </a:ln>
        </p:spPr>
      </p:sp>
      <p:sp>
        <p:nvSpPr>
          <p:cNvPr id="9" name="Text 7"/>
          <p:cNvSpPr/>
          <p:nvPr/>
        </p:nvSpPr>
        <p:spPr>
          <a:xfrm>
            <a:off x="1508760" y="2743200"/>
            <a:ext cx="3474720" cy="274320"/>
          </a:xfrm>
          <a:prstGeom prst="rect">
            <a:avLst/>
          </a:prstGeom>
          <a:noFill/>
          <a:ln/>
        </p:spPr>
        <p:txBody>
          <a:bodyPr wrap="square" lIns="0" tIns="0" rIns="0" bIns="0" rtlCol="0" anchor="ctr"/>
          <a:lstStyle/>
          <a:p>
            <a:pPr indent="0" marL="0">
              <a:buNone/>
            </a:pPr>
            <a:r>
              <a:rPr lang="en-US" sz="1300" b="1" dirty="0">
                <a:solidFill>
                  <a:srgbClr val="7A1F3D"/>
                </a:solidFill>
                <a:latin typeface="Calibri" pitchFamily="34" charset="0"/>
                <a:ea typeface="Calibri" pitchFamily="34" charset="-122"/>
                <a:cs typeface="Calibri" pitchFamily="34" charset="-120"/>
              </a:rPr>
              <a:t>LALR(1) table-driven</a:t>
            </a:r>
            <a:endParaRPr lang="en-US" sz="1300" dirty="0"/>
          </a:p>
        </p:txBody>
      </p:sp>
      <p:sp>
        <p:nvSpPr>
          <p:cNvPr id="10" name="Text 8"/>
          <p:cNvSpPr/>
          <p:nvPr/>
        </p:nvSpPr>
        <p:spPr>
          <a:xfrm>
            <a:off x="1508760" y="3054096"/>
            <a:ext cx="3474720" cy="914400"/>
          </a:xfrm>
          <a:prstGeom prst="rect">
            <a:avLst/>
          </a:prstGeom>
          <a:noFill/>
          <a:ln/>
        </p:spPr>
        <p:txBody>
          <a:bodyPr wrap="square" lIns="0" tIns="0" rIns="0" bIns="0" rtlCol="0" anchor="ctr"/>
          <a:lstStyle/>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114 states · 742 entries</a:t>
            </a:r>
            <a:endParaRPr lang="en-US" sz="1150" dirty="0"/>
          </a:p>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shift / reduce / goto / accept</a:t>
            </a:r>
            <a:endParaRPr lang="en-US" sz="1150" dirty="0"/>
          </a:p>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statement-level panic-mode recovery</a:t>
            </a:r>
            <a:endParaRPr lang="en-US" sz="1150" dirty="0"/>
          </a:p>
        </p:txBody>
      </p:sp>
      <p:sp>
        <p:nvSpPr>
          <p:cNvPr id="11" name="Shape 9"/>
          <p:cNvSpPr/>
          <p:nvPr/>
        </p:nvSpPr>
        <p:spPr>
          <a:xfrm>
            <a:off x="7040880" y="2651760"/>
            <a:ext cx="3749040" cy="1371600"/>
          </a:xfrm>
          <a:prstGeom prst="roundRect">
            <a:avLst>
              <a:gd name="adj" fmla="val 4000"/>
            </a:avLst>
          </a:prstGeom>
          <a:solidFill>
            <a:srgbClr val="FFFFFF"/>
          </a:solidFill>
          <a:ln w="19050">
            <a:solidFill>
              <a:srgbClr val="1F6F6B"/>
            </a:solidFill>
            <a:prstDash val="solid"/>
          </a:ln>
        </p:spPr>
      </p:sp>
      <p:sp>
        <p:nvSpPr>
          <p:cNvPr id="12" name="Text 10"/>
          <p:cNvSpPr/>
          <p:nvPr/>
        </p:nvSpPr>
        <p:spPr>
          <a:xfrm>
            <a:off x="7178040" y="2743200"/>
            <a:ext cx="3474720" cy="274320"/>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recursive descent</a:t>
            </a:r>
            <a:endParaRPr lang="en-US" sz="1300" dirty="0"/>
          </a:p>
        </p:txBody>
      </p:sp>
      <p:sp>
        <p:nvSpPr>
          <p:cNvPr id="13" name="Text 11"/>
          <p:cNvSpPr/>
          <p:nvPr/>
        </p:nvSpPr>
        <p:spPr>
          <a:xfrm>
            <a:off x="7178040" y="3054096"/>
            <a:ext cx="3474720" cy="914400"/>
          </a:xfrm>
          <a:prstGeom prst="rect">
            <a:avLst/>
          </a:prstGeom>
          <a:noFill/>
          <a:ln/>
        </p:spPr>
        <p:txBody>
          <a:bodyPr wrap="square" lIns="0" tIns="0" rIns="0" bIns="0" rtlCol="0" anchor="ctr"/>
          <a:lstStyle/>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one function per nonterminal</a:t>
            </a:r>
            <a:endParaRPr lang="en-US" sz="1150" dirty="0"/>
          </a:p>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left recursion turned into loops by hand</a:t>
            </a:r>
            <a:endParaRPr lang="en-US" sz="1150" dirty="0"/>
          </a:p>
          <a:p>
            <a:pPr indent="0" marL="0">
              <a:lnSpc>
                <a:spcPct val="118000"/>
              </a:lnSpc>
              <a:buNone/>
            </a:pPr>
            <a:r>
              <a:rPr lang="en-US" sz="1150" dirty="0">
                <a:solidFill>
                  <a:srgbClr val="6B6F76"/>
                </a:solidFill>
                <a:latin typeface="Calibri" pitchFamily="34" charset="0"/>
                <a:ea typeface="Calibri" pitchFamily="34" charset="-122"/>
                <a:cs typeface="Calibri" pitchFamily="34" charset="-120"/>
              </a:rPr>
              <a:t>predictive: chooses on FIRST sets</a:t>
            </a:r>
            <a:endParaRPr lang="en-US" sz="1150" dirty="0"/>
          </a:p>
        </p:txBody>
      </p:sp>
      <p:sp>
        <p:nvSpPr>
          <p:cNvPr id="14" name="Shape 12"/>
          <p:cNvSpPr/>
          <p:nvPr/>
        </p:nvSpPr>
        <p:spPr>
          <a:xfrm>
            <a:off x="3246120" y="4069080"/>
            <a:ext cx="2148840" cy="548640"/>
          </a:xfrm>
          <a:prstGeom prst="line">
            <a:avLst/>
          </a:prstGeom>
          <a:noFill/>
          <a:ln w="19050">
            <a:solidFill>
              <a:srgbClr val="7A1F3D"/>
            </a:solidFill>
            <a:prstDash val="solid"/>
            <a:tailEnd type="triangle"/>
          </a:ln>
        </p:spPr>
      </p:sp>
      <p:sp>
        <p:nvSpPr>
          <p:cNvPr id="15" name="Shape 13"/>
          <p:cNvSpPr/>
          <p:nvPr/>
        </p:nvSpPr>
        <p:spPr>
          <a:xfrm>
            <a:off x="8915400" y="4069080"/>
            <a:ext cx="-2148840" cy="548640"/>
          </a:xfrm>
          <a:prstGeom prst="line">
            <a:avLst/>
          </a:prstGeom>
          <a:noFill/>
          <a:ln w="19050">
            <a:solidFill>
              <a:srgbClr val="1F6F6B"/>
            </a:solidFill>
            <a:prstDash val="solid"/>
            <a:tailEnd type="triangle"/>
          </a:ln>
        </p:spPr>
      </p:sp>
      <p:sp>
        <p:nvSpPr>
          <p:cNvPr id="16" name="Shape 14"/>
          <p:cNvSpPr/>
          <p:nvPr/>
        </p:nvSpPr>
        <p:spPr>
          <a:xfrm>
            <a:off x="4343400" y="4617720"/>
            <a:ext cx="3474720" cy="603504"/>
          </a:xfrm>
          <a:prstGeom prst="roundRect">
            <a:avLst>
              <a:gd name="adj" fmla="val 7576"/>
            </a:avLst>
          </a:prstGeom>
          <a:solidFill>
            <a:srgbClr val="B4762C"/>
          </a:solidFill>
          <a:ln w="12700">
            <a:solidFill>
              <a:srgbClr val="B4762C"/>
            </a:solidFill>
            <a:prstDash val="solid"/>
          </a:ln>
        </p:spPr>
      </p:sp>
      <p:sp>
        <p:nvSpPr>
          <p:cNvPr id="17" name="Text 15"/>
          <p:cNvSpPr/>
          <p:nvPr/>
        </p:nvSpPr>
        <p:spPr>
          <a:xfrm>
            <a:off x="4389120" y="4617720"/>
            <a:ext cx="3383280" cy="60350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dump both trees and compare</a:t>
            </a:r>
            <a:endParaRPr lang="en-US" sz="1250" dirty="0"/>
          </a:p>
        </p:txBody>
      </p:sp>
      <p:sp>
        <p:nvSpPr>
          <p:cNvPr id="18" name="Text 16"/>
          <p:cNvSpPr/>
          <p:nvPr/>
        </p:nvSpPr>
        <p:spPr>
          <a:xfrm>
            <a:off x="4343400" y="5349240"/>
            <a:ext cx="3474720" cy="329184"/>
          </a:xfrm>
          <a:prstGeom prst="rect">
            <a:avLst/>
          </a:prstGeom>
          <a:noFill/>
          <a:ln/>
        </p:spPr>
        <p:txBody>
          <a:bodyPr wrap="square" lIns="0" tIns="0" rIns="0" bIns="0" rtlCol="0" anchor="ctr"/>
          <a:lstStyle/>
          <a:p>
            <a:pPr algn="ctr" indent="0" marL="0">
              <a:buNone/>
            </a:pPr>
            <a:r>
              <a:rPr lang="en-US" sz="1400" b="1" dirty="0">
                <a:solidFill>
                  <a:srgbClr val="1F6F6B"/>
                </a:solidFill>
                <a:latin typeface="Courier New" pitchFamily="34" charset="0"/>
                <a:ea typeface="Courier New" pitchFamily="34" charset="-122"/>
                <a:cs typeface="Courier New" pitchFamily="34" charset="-120"/>
              </a:rPr>
              <a:t>TREES IDENTICAL: True</a:t>
            </a:r>
            <a:endParaRPr lang="en-US" sz="1400" dirty="0"/>
          </a:p>
        </p:txBody>
      </p:sp>
      <p:sp>
        <p:nvSpPr>
          <p:cNvPr id="19" name="Text 17"/>
          <p:cNvSpPr/>
          <p:nvPr/>
        </p:nvSpPr>
        <p:spPr>
          <a:xfrm>
            <a:off x="566928" y="5870448"/>
            <a:ext cx="11027664"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Checked for all seven working examples on every run, and asserted in the test suite. If the two parsers ever disagree, the build says so — one of them has a bug, and I know immediately.</a:t>
            </a:r>
            <a:endParaRPr lang="en-US" sz="1100" dirty="0"/>
          </a:p>
        </p:txBody>
      </p:sp>
      <p:sp>
        <p:nvSpPr>
          <p:cNvPr id="20" name="Text 18"/>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2 · differential testing</a:t>
            </a:r>
            <a:endParaRPr lang="en-US" sz="1000" dirty="0"/>
          </a:p>
        </p:txBody>
      </p:sp>
      <p:sp>
        <p:nvSpPr>
          <p:cNvPr id="21" name="Text 19"/>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3 — why this language genuinely needs inherited attributes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^5 is not a note. It becomes one only when the key reaches it.</a:t>
            </a:r>
            <a:endParaRPr lang="en-US" sz="1500" dirty="0"/>
          </a:p>
        </p:txBody>
      </p:sp>
      <p:sp>
        <p:nvSpPr>
          <p:cNvPr id="4" name="Shape 2"/>
          <p:cNvSpPr/>
          <p:nvPr/>
        </p:nvSpPr>
        <p:spPr>
          <a:xfrm>
            <a:off x="2176272" y="1828800"/>
            <a:ext cx="1316736" cy="457200"/>
          </a:xfrm>
          <a:prstGeom prst="roundRect">
            <a:avLst>
              <a:gd name="adj" fmla="val 10000"/>
            </a:avLst>
          </a:prstGeom>
          <a:solidFill>
            <a:srgbClr val="FFFFFF"/>
          </a:solidFill>
          <a:ln w="12700">
            <a:solidFill>
              <a:srgbClr val="DCDCD4"/>
            </a:solidFill>
            <a:prstDash val="solid"/>
          </a:ln>
        </p:spPr>
      </p:sp>
      <p:sp>
        <p:nvSpPr>
          <p:cNvPr id="5" name="Text 3"/>
          <p:cNvSpPr/>
          <p:nvPr/>
        </p:nvSpPr>
        <p:spPr>
          <a:xfrm>
            <a:off x="2221992" y="182880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voice lead</a:t>
            </a:r>
            <a:endParaRPr lang="en-US" sz="1100" dirty="0"/>
          </a:p>
        </p:txBody>
      </p:sp>
      <p:sp>
        <p:nvSpPr>
          <p:cNvPr id="6" name="Shape 4"/>
          <p:cNvSpPr/>
          <p:nvPr/>
        </p:nvSpPr>
        <p:spPr>
          <a:xfrm>
            <a:off x="2176272" y="1828800"/>
            <a:ext cx="1316736" cy="457200"/>
          </a:xfrm>
          <a:prstGeom prst="roundRect">
            <a:avLst>
              <a:gd name="adj" fmla="val 10000"/>
            </a:avLst>
          </a:prstGeom>
          <a:solidFill>
            <a:srgbClr val="12151C"/>
          </a:solidFill>
          <a:ln w="12700">
            <a:solidFill>
              <a:srgbClr val="12151C"/>
            </a:solidFill>
            <a:prstDash val="solid"/>
          </a:ln>
        </p:spPr>
      </p:sp>
      <p:sp>
        <p:nvSpPr>
          <p:cNvPr id="7" name="Text 5"/>
          <p:cNvSpPr/>
          <p:nvPr/>
        </p:nvSpPr>
        <p:spPr>
          <a:xfrm>
            <a:off x="2176272" y="182880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voice lead</a:t>
            </a:r>
            <a:endParaRPr lang="en-US" sz="1100" dirty="0"/>
          </a:p>
        </p:txBody>
      </p:sp>
      <p:sp>
        <p:nvSpPr>
          <p:cNvPr id="8" name="Shape 6"/>
          <p:cNvSpPr/>
          <p:nvPr/>
        </p:nvSpPr>
        <p:spPr>
          <a:xfrm>
            <a:off x="2176272" y="2606040"/>
            <a:ext cx="1316736" cy="457200"/>
          </a:xfrm>
          <a:prstGeom prst="roundRect">
            <a:avLst>
              <a:gd name="adj" fmla="val 10000"/>
            </a:avLst>
          </a:prstGeom>
          <a:solidFill>
            <a:srgbClr val="FFFFFF"/>
          </a:solidFill>
          <a:ln w="12700">
            <a:solidFill>
              <a:srgbClr val="DCDCD4"/>
            </a:solidFill>
            <a:prstDash val="solid"/>
          </a:ln>
        </p:spPr>
      </p:sp>
      <p:sp>
        <p:nvSpPr>
          <p:cNvPr id="9" name="Text 7"/>
          <p:cNvSpPr/>
          <p:nvPr/>
        </p:nvSpPr>
        <p:spPr>
          <a:xfrm>
            <a:off x="2221992" y="260604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repeat 2 of</a:t>
            </a:r>
            <a:endParaRPr lang="en-US" sz="1100" dirty="0"/>
          </a:p>
        </p:txBody>
      </p:sp>
      <p:sp>
        <p:nvSpPr>
          <p:cNvPr id="10" name="Shape 8"/>
          <p:cNvSpPr/>
          <p:nvPr/>
        </p:nvSpPr>
        <p:spPr>
          <a:xfrm>
            <a:off x="2176272" y="2606040"/>
            <a:ext cx="1316736" cy="457200"/>
          </a:xfrm>
          <a:prstGeom prst="roundRect">
            <a:avLst>
              <a:gd name="adj" fmla="val 10000"/>
            </a:avLst>
          </a:prstGeom>
          <a:solidFill>
            <a:srgbClr val="7A1F3D"/>
          </a:solidFill>
          <a:ln w="12700">
            <a:solidFill>
              <a:srgbClr val="7A1F3D"/>
            </a:solidFill>
            <a:prstDash val="solid"/>
          </a:ln>
        </p:spPr>
      </p:sp>
      <p:sp>
        <p:nvSpPr>
          <p:cNvPr id="11" name="Text 9"/>
          <p:cNvSpPr/>
          <p:nvPr/>
        </p:nvSpPr>
        <p:spPr>
          <a:xfrm>
            <a:off x="2176272" y="260604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repeat 2 of</a:t>
            </a:r>
            <a:endParaRPr lang="en-US" sz="1100" dirty="0"/>
          </a:p>
        </p:txBody>
      </p:sp>
      <p:sp>
        <p:nvSpPr>
          <p:cNvPr id="12" name="Shape 10"/>
          <p:cNvSpPr/>
          <p:nvPr/>
        </p:nvSpPr>
        <p:spPr>
          <a:xfrm>
            <a:off x="2176272" y="3383280"/>
            <a:ext cx="1316736" cy="457200"/>
          </a:xfrm>
          <a:prstGeom prst="roundRect">
            <a:avLst>
              <a:gd name="adj" fmla="val 10000"/>
            </a:avLst>
          </a:prstGeom>
          <a:solidFill>
            <a:srgbClr val="FFFFFF"/>
          </a:solidFill>
          <a:ln w="12700">
            <a:solidFill>
              <a:srgbClr val="DCDCD4"/>
            </a:solidFill>
            <a:prstDash val="solid"/>
          </a:ln>
        </p:spPr>
      </p:sp>
      <p:sp>
        <p:nvSpPr>
          <p:cNvPr id="13" name="Text 11"/>
          <p:cNvSpPr/>
          <p:nvPr/>
        </p:nvSpPr>
        <p:spPr>
          <a:xfrm>
            <a:off x="2221992" y="338328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tail</a:t>
            </a:r>
            <a:endParaRPr lang="en-US" sz="1100" dirty="0"/>
          </a:p>
        </p:txBody>
      </p:sp>
      <p:sp>
        <p:nvSpPr>
          <p:cNvPr id="14" name="Shape 12"/>
          <p:cNvSpPr/>
          <p:nvPr/>
        </p:nvSpPr>
        <p:spPr>
          <a:xfrm>
            <a:off x="2176272" y="3383280"/>
            <a:ext cx="1316736" cy="457200"/>
          </a:xfrm>
          <a:prstGeom prst="roundRect">
            <a:avLst>
              <a:gd name="adj" fmla="val 10000"/>
            </a:avLst>
          </a:prstGeom>
          <a:solidFill>
            <a:srgbClr val="7A1F3D"/>
          </a:solidFill>
          <a:ln w="12700">
            <a:solidFill>
              <a:srgbClr val="7A1F3D"/>
            </a:solidFill>
            <a:prstDash val="solid"/>
          </a:ln>
        </p:spPr>
      </p:sp>
      <p:sp>
        <p:nvSpPr>
          <p:cNvPr id="15" name="Text 13"/>
          <p:cNvSpPr/>
          <p:nvPr/>
        </p:nvSpPr>
        <p:spPr>
          <a:xfrm>
            <a:off x="2176272" y="338328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tail</a:t>
            </a:r>
            <a:endParaRPr lang="en-US" sz="1100" dirty="0"/>
          </a:p>
        </p:txBody>
      </p:sp>
      <p:sp>
        <p:nvSpPr>
          <p:cNvPr id="16" name="Shape 14"/>
          <p:cNvSpPr/>
          <p:nvPr/>
        </p:nvSpPr>
        <p:spPr>
          <a:xfrm>
            <a:off x="2176272" y="4160520"/>
            <a:ext cx="1316736" cy="457200"/>
          </a:xfrm>
          <a:prstGeom prst="roundRect">
            <a:avLst>
              <a:gd name="adj" fmla="val 10000"/>
            </a:avLst>
          </a:prstGeom>
          <a:solidFill>
            <a:srgbClr val="FFFFFF"/>
          </a:solidFill>
          <a:ln w="12700">
            <a:solidFill>
              <a:srgbClr val="DCDCD4"/>
            </a:solidFill>
            <a:prstDash val="solid"/>
          </a:ln>
        </p:spPr>
      </p:sp>
      <p:sp>
        <p:nvSpPr>
          <p:cNvPr id="17" name="Text 15"/>
          <p:cNvSpPr/>
          <p:nvPr/>
        </p:nvSpPr>
        <p:spPr>
          <a:xfrm>
            <a:off x="2221992" y="416052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seq</a:t>
            </a:r>
            <a:endParaRPr lang="en-US" sz="1100" dirty="0"/>
          </a:p>
        </p:txBody>
      </p:sp>
      <p:sp>
        <p:nvSpPr>
          <p:cNvPr id="18" name="Shape 16"/>
          <p:cNvSpPr/>
          <p:nvPr/>
        </p:nvSpPr>
        <p:spPr>
          <a:xfrm>
            <a:off x="2176272" y="4160520"/>
            <a:ext cx="1316736" cy="457200"/>
          </a:xfrm>
          <a:prstGeom prst="roundRect">
            <a:avLst>
              <a:gd name="adj" fmla="val 10000"/>
            </a:avLst>
          </a:prstGeom>
          <a:solidFill>
            <a:srgbClr val="1F6F6B"/>
          </a:solidFill>
          <a:ln w="12700">
            <a:solidFill>
              <a:srgbClr val="1F6F6B"/>
            </a:solidFill>
            <a:prstDash val="solid"/>
          </a:ln>
        </p:spPr>
      </p:sp>
      <p:sp>
        <p:nvSpPr>
          <p:cNvPr id="19" name="Text 17"/>
          <p:cNvSpPr/>
          <p:nvPr/>
        </p:nvSpPr>
        <p:spPr>
          <a:xfrm>
            <a:off x="2176272" y="416052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seq</a:t>
            </a:r>
            <a:endParaRPr lang="en-US" sz="1100" dirty="0"/>
          </a:p>
        </p:txBody>
      </p:sp>
      <p:sp>
        <p:nvSpPr>
          <p:cNvPr id="20" name="Shape 18"/>
          <p:cNvSpPr/>
          <p:nvPr/>
        </p:nvSpPr>
        <p:spPr>
          <a:xfrm>
            <a:off x="576072" y="4937760"/>
            <a:ext cx="1316736" cy="457200"/>
          </a:xfrm>
          <a:prstGeom prst="roundRect">
            <a:avLst>
              <a:gd name="adj" fmla="val 10000"/>
            </a:avLst>
          </a:prstGeom>
          <a:solidFill>
            <a:srgbClr val="FFFFFF"/>
          </a:solidFill>
          <a:ln w="12700">
            <a:solidFill>
              <a:srgbClr val="DCDCD4"/>
            </a:solidFill>
            <a:prstDash val="solid"/>
          </a:ln>
        </p:spPr>
      </p:sp>
      <p:sp>
        <p:nvSpPr>
          <p:cNvPr id="21" name="Text 19"/>
          <p:cNvSpPr/>
          <p:nvPr/>
        </p:nvSpPr>
        <p:spPr>
          <a:xfrm>
            <a:off x="621792" y="493776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Shape 20"/>
          <p:cNvSpPr/>
          <p:nvPr/>
        </p:nvSpPr>
        <p:spPr>
          <a:xfrm>
            <a:off x="576072" y="4937760"/>
            <a:ext cx="1316736" cy="457200"/>
          </a:xfrm>
          <a:prstGeom prst="roundRect">
            <a:avLst>
              <a:gd name="adj" fmla="val 10000"/>
            </a:avLst>
          </a:prstGeom>
          <a:solidFill>
            <a:srgbClr val="B4762C"/>
          </a:solidFill>
          <a:ln w="12700">
            <a:solidFill>
              <a:srgbClr val="B4762C"/>
            </a:solidFill>
            <a:prstDash val="solid"/>
          </a:ln>
        </p:spPr>
      </p:sp>
      <p:sp>
        <p:nvSpPr>
          <p:cNvPr id="23" name="Text 21"/>
          <p:cNvSpPr/>
          <p:nvPr/>
        </p:nvSpPr>
        <p:spPr>
          <a:xfrm>
            <a:off x="576072" y="493776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Shape 22"/>
          <p:cNvSpPr/>
          <p:nvPr/>
        </p:nvSpPr>
        <p:spPr>
          <a:xfrm>
            <a:off x="2176272" y="4937760"/>
            <a:ext cx="1316736" cy="457200"/>
          </a:xfrm>
          <a:prstGeom prst="roundRect">
            <a:avLst>
              <a:gd name="adj" fmla="val 10000"/>
            </a:avLst>
          </a:prstGeom>
          <a:solidFill>
            <a:srgbClr val="FFFFFF"/>
          </a:solidFill>
          <a:ln w="12700">
            <a:solidFill>
              <a:srgbClr val="DCDCD4"/>
            </a:solidFill>
            <a:prstDash val="solid"/>
          </a:ln>
        </p:spPr>
      </p:sp>
      <p:sp>
        <p:nvSpPr>
          <p:cNvPr id="25" name="Text 23"/>
          <p:cNvSpPr/>
          <p:nvPr/>
        </p:nvSpPr>
        <p:spPr>
          <a:xfrm>
            <a:off x="2221992" y="493776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4"/>
          <p:cNvSpPr/>
          <p:nvPr/>
        </p:nvSpPr>
        <p:spPr>
          <a:xfrm>
            <a:off x="2176272" y="4937760"/>
            <a:ext cx="1316736" cy="457200"/>
          </a:xfrm>
          <a:prstGeom prst="roundRect">
            <a:avLst>
              <a:gd name="adj" fmla="val 10000"/>
            </a:avLst>
          </a:prstGeom>
          <a:solidFill>
            <a:srgbClr val="B4762C"/>
          </a:solidFill>
          <a:ln w="12700">
            <a:solidFill>
              <a:srgbClr val="B4762C"/>
            </a:solidFill>
            <a:prstDash val="solid"/>
          </a:ln>
        </p:spPr>
      </p:sp>
      <p:sp>
        <p:nvSpPr>
          <p:cNvPr id="27" name="Text 25"/>
          <p:cNvSpPr/>
          <p:nvPr/>
        </p:nvSpPr>
        <p:spPr>
          <a:xfrm>
            <a:off x="2176272" y="493776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6"/>
          <p:cNvSpPr/>
          <p:nvPr/>
        </p:nvSpPr>
        <p:spPr>
          <a:xfrm>
            <a:off x="3776472" y="4937760"/>
            <a:ext cx="1316736" cy="457200"/>
          </a:xfrm>
          <a:prstGeom prst="roundRect">
            <a:avLst>
              <a:gd name="adj" fmla="val 10000"/>
            </a:avLst>
          </a:prstGeom>
          <a:solidFill>
            <a:srgbClr val="FFFFFF"/>
          </a:solidFill>
          <a:ln w="12700">
            <a:solidFill>
              <a:srgbClr val="DCDCD4"/>
            </a:solidFill>
            <a:prstDash val="solid"/>
          </a:ln>
        </p:spPr>
      </p:sp>
      <p:sp>
        <p:nvSpPr>
          <p:cNvPr id="29" name="Text 27"/>
          <p:cNvSpPr/>
          <p:nvPr/>
        </p:nvSpPr>
        <p:spPr>
          <a:xfrm>
            <a:off x="3822192" y="4937760"/>
            <a:ext cx="122529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30" name="Shape 28"/>
          <p:cNvSpPr/>
          <p:nvPr/>
        </p:nvSpPr>
        <p:spPr>
          <a:xfrm>
            <a:off x="3776472" y="4937760"/>
            <a:ext cx="1316736" cy="457200"/>
          </a:xfrm>
          <a:prstGeom prst="roundRect">
            <a:avLst>
              <a:gd name="adj" fmla="val 10000"/>
            </a:avLst>
          </a:prstGeom>
          <a:solidFill>
            <a:srgbClr val="B4762C"/>
          </a:solidFill>
          <a:ln w="12700">
            <a:solidFill>
              <a:srgbClr val="B4762C"/>
            </a:solidFill>
            <a:prstDash val="solid"/>
          </a:ln>
        </p:spPr>
      </p:sp>
      <p:sp>
        <p:nvSpPr>
          <p:cNvPr id="31" name="Text 29"/>
          <p:cNvSpPr/>
          <p:nvPr/>
        </p:nvSpPr>
        <p:spPr>
          <a:xfrm>
            <a:off x="3776472" y="4937760"/>
            <a:ext cx="1316736"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32" name="Shape 30"/>
          <p:cNvSpPr/>
          <p:nvPr/>
        </p:nvSpPr>
        <p:spPr>
          <a:xfrm>
            <a:off x="2834640" y="2286000"/>
            <a:ext cx="0" cy="320040"/>
          </a:xfrm>
          <a:prstGeom prst="line">
            <a:avLst/>
          </a:prstGeom>
          <a:noFill/>
          <a:ln w="19050">
            <a:solidFill>
              <a:srgbClr val="DCDCD4"/>
            </a:solidFill>
            <a:prstDash val="solid"/>
          </a:ln>
        </p:spPr>
      </p:sp>
      <p:sp>
        <p:nvSpPr>
          <p:cNvPr id="33" name="Shape 31"/>
          <p:cNvSpPr/>
          <p:nvPr/>
        </p:nvSpPr>
        <p:spPr>
          <a:xfrm>
            <a:off x="2834640" y="3063240"/>
            <a:ext cx="0" cy="320040"/>
          </a:xfrm>
          <a:prstGeom prst="line">
            <a:avLst/>
          </a:prstGeom>
          <a:noFill/>
          <a:ln w="19050">
            <a:solidFill>
              <a:srgbClr val="DCDCD4"/>
            </a:solidFill>
            <a:prstDash val="solid"/>
          </a:ln>
        </p:spPr>
      </p:sp>
      <p:sp>
        <p:nvSpPr>
          <p:cNvPr id="34" name="Shape 32"/>
          <p:cNvSpPr/>
          <p:nvPr/>
        </p:nvSpPr>
        <p:spPr>
          <a:xfrm>
            <a:off x="2834640" y="3840480"/>
            <a:ext cx="0" cy="320040"/>
          </a:xfrm>
          <a:prstGeom prst="line">
            <a:avLst/>
          </a:prstGeom>
          <a:noFill/>
          <a:ln w="19050">
            <a:solidFill>
              <a:srgbClr val="DCDCD4"/>
            </a:solidFill>
            <a:prstDash val="solid"/>
          </a:ln>
        </p:spPr>
      </p:sp>
      <p:sp>
        <p:nvSpPr>
          <p:cNvPr id="35" name="Shape 33"/>
          <p:cNvSpPr/>
          <p:nvPr/>
        </p:nvSpPr>
        <p:spPr>
          <a:xfrm>
            <a:off x="2834640" y="4617720"/>
            <a:ext cx="-1600200" cy="320040"/>
          </a:xfrm>
          <a:prstGeom prst="line">
            <a:avLst/>
          </a:prstGeom>
          <a:noFill/>
          <a:ln w="19050">
            <a:solidFill>
              <a:srgbClr val="DCDCD4"/>
            </a:solidFill>
            <a:prstDash val="solid"/>
          </a:ln>
        </p:spPr>
      </p:sp>
      <p:sp>
        <p:nvSpPr>
          <p:cNvPr id="36" name="Shape 34"/>
          <p:cNvSpPr/>
          <p:nvPr/>
        </p:nvSpPr>
        <p:spPr>
          <a:xfrm>
            <a:off x="2834640" y="4617720"/>
            <a:ext cx="0" cy="320040"/>
          </a:xfrm>
          <a:prstGeom prst="line">
            <a:avLst/>
          </a:prstGeom>
          <a:noFill/>
          <a:ln w="19050">
            <a:solidFill>
              <a:srgbClr val="DCDCD4"/>
            </a:solidFill>
            <a:prstDash val="solid"/>
          </a:ln>
        </p:spPr>
      </p:sp>
      <p:sp>
        <p:nvSpPr>
          <p:cNvPr id="37" name="Shape 35"/>
          <p:cNvSpPr/>
          <p:nvPr/>
        </p:nvSpPr>
        <p:spPr>
          <a:xfrm>
            <a:off x="2834640" y="4617720"/>
            <a:ext cx="1600200" cy="320040"/>
          </a:xfrm>
          <a:prstGeom prst="line">
            <a:avLst/>
          </a:prstGeom>
          <a:noFill/>
          <a:ln w="19050">
            <a:solidFill>
              <a:srgbClr val="DCDCD4"/>
            </a:solidFill>
            <a:prstDash val="solid"/>
          </a:ln>
        </p:spPr>
      </p:sp>
      <p:sp>
        <p:nvSpPr>
          <p:cNvPr id="38" name="Shape 36"/>
          <p:cNvSpPr/>
          <p:nvPr/>
        </p:nvSpPr>
        <p:spPr>
          <a:xfrm>
            <a:off x="868680" y="1965960"/>
            <a:ext cx="0" cy="2788920"/>
          </a:xfrm>
          <a:prstGeom prst="line">
            <a:avLst/>
          </a:prstGeom>
          <a:noFill/>
          <a:ln w="25400">
            <a:solidFill>
              <a:srgbClr val="7A1F3D"/>
            </a:solidFill>
            <a:prstDash val="solid"/>
            <a:tailEnd type="triangle"/>
          </a:ln>
        </p:spPr>
      </p:sp>
      <p:sp>
        <p:nvSpPr>
          <p:cNvPr id="39" name="Text 37"/>
          <p:cNvSpPr/>
          <p:nvPr/>
        </p:nvSpPr>
        <p:spPr>
          <a:xfrm>
            <a:off x="137160" y="2926080"/>
            <a:ext cx="713232" cy="731520"/>
          </a:xfrm>
          <a:prstGeom prst="rect">
            <a:avLst/>
          </a:prstGeom>
          <a:noFill/>
          <a:ln/>
        </p:spPr>
        <p:txBody>
          <a:bodyPr wrap="square" lIns="0" tIns="0" rIns="0" bIns="0" rtlCol="0" anchor="ctr"/>
          <a:lstStyle/>
          <a:p>
            <a:pPr algn="ctr" indent="0" marL="0">
              <a:buNone/>
            </a:pPr>
            <a:r>
              <a:rPr lang="en-US" sz="1050" b="1" dirty="0">
                <a:solidFill>
                  <a:srgbClr val="7A1F3D"/>
                </a:solidFill>
                <a:latin typeface="Calibri" pitchFamily="34" charset="0"/>
                <a:ea typeface="Calibri" pitchFamily="34" charset="-122"/>
                <a:cs typeface="Calibri" pitchFamily="34" charset="-120"/>
              </a:rPr>
              <a:t>inherited</a:t>
            </a:r>
            <a:endParaRPr lang="en-US" sz="1050" dirty="0"/>
          </a:p>
          <a:p>
            <a:pPr algn="ctr" indent="0" marL="0">
              <a:buNone/>
            </a:pPr>
            <a:r>
              <a:rPr lang="en-US" sz="1050" b="1" dirty="0">
                <a:solidFill>
                  <a:srgbClr val="7A1F3D"/>
                </a:solidFill>
                <a:latin typeface="Calibri" pitchFamily="34" charset="0"/>
                <a:ea typeface="Calibri" pitchFamily="34" charset="-122"/>
                <a:cs typeface="Calibri" pitchFamily="34" charset="-120"/>
              </a:rPr>
              <a:t>flows DOWN</a:t>
            </a:r>
            <a:endParaRPr lang="en-US" sz="1050" dirty="0"/>
          </a:p>
        </p:txBody>
      </p:sp>
      <p:sp>
        <p:nvSpPr>
          <p:cNvPr id="40" name="Shape 38"/>
          <p:cNvSpPr/>
          <p:nvPr/>
        </p:nvSpPr>
        <p:spPr>
          <a:xfrm>
            <a:off x="5257800" y="4937760"/>
            <a:ext cx="0" cy="-2788920"/>
          </a:xfrm>
          <a:prstGeom prst="line">
            <a:avLst/>
          </a:prstGeom>
          <a:noFill/>
          <a:ln w="25400">
            <a:solidFill>
              <a:srgbClr val="1F6F6B"/>
            </a:solidFill>
            <a:prstDash val="solid"/>
            <a:tailEnd type="triangle"/>
          </a:ln>
        </p:spPr>
      </p:sp>
      <p:sp>
        <p:nvSpPr>
          <p:cNvPr id="41" name="Text 39"/>
          <p:cNvSpPr/>
          <p:nvPr/>
        </p:nvSpPr>
        <p:spPr>
          <a:xfrm>
            <a:off x="5349240" y="2926080"/>
            <a:ext cx="822960" cy="731520"/>
          </a:xfrm>
          <a:prstGeom prst="rect">
            <a:avLst/>
          </a:prstGeom>
          <a:noFill/>
          <a:ln/>
        </p:spPr>
        <p:txBody>
          <a:bodyPr wrap="square" lIns="0" tIns="0" rIns="0" bIns="0" rtlCol="0" anchor="ctr"/>
          <a:lstStyle/>
          <a:p>
            <a:pPr algn="ctr" indent="0" marL="0">
              <a:buNone/>
            </a:pPr>
            <a:r>
              <a:rPr lang="en-US" sz="1050" b="1" dirty="0">
                <a:solidFill>
                  <a:srgbClr val="1F6F6B"/>
                </a:solidFill>
                <a:latin typeface="Calibri" pitchFamily="34" charset="0"/>
                <a:ea typeface="Calibri" pitchFamily="34" charset="-122"/>
                <a:cs typeface="Calibri" pitchFamily="34" charset="-120"/>
              </a:rPr>
              <a:t>synthesised</a:t>
            </a:r>
            <a:endParaRPr lang="en-US" sz="1050" dirty="0"/>
          </a:p>
          <a:p>
            <a:pPr algn="ctr" indent="0" marL="0">
              <a:buNone/>
            </a:pPr>
            <a:r>
              <a:rPr lang="en-US" sz="1050" b="1" dirty="0">
                <a:solidFill>
                  <a:srgbClr val="1F6F6B"/>
                </a:solidFill>
                <a:latin typeface="Calibri" pitchFamily="34" charset="0"/>
                <a:ea typeface="Calibri" pitchFamily="34" charset="-122"/>
                <a:cs typeface="Calibri" pitchFamily="34" charset="-120"/>
              </a:rPr>
              <a:t>flows UP</a:t>
            </a:r>
            <a:endParaRPr lang="en-US" sz="1050" dirty="0"/>
          </a:p>
        </p:txBody>
      </p:sp>
      <p:sp>
        <p:nvSpPr>
          <p:cNvPr id="42" name="Text 40"/>
          <p:cNvSpPr/>
          <p:nvPr/>
        </p:nvSpPr>
        <p:spPr>
          <a:xfrm>
            <a:off x="6309360" y="1737360"/>
            <a:ext cx="5285232" cy="274320"/>
          </a:xfrm>
          <a:prstGeom prst="rect">
            <a:avLst/>
          </a:prstGeom>
          <a:noFill/>
          <a:ln/>
        </p:spPr>
        <p:txBody>
          <a:bodyPr wrap="square" lIns="0" tIns="0" rIns="0" bIns="0" rtlCol="0" anchor="ctr"/>
          <a:lstStyle/>
          <a:p>
            <a:pPr indent="0" marL="0">
              <a:buNone/>
            </a:pPr>
            <a:r>
              <a:rPr lang="en-US" sz="1200" b="1" dirty="0">
                <a:solidFill>
                  <a:srgbClr val="7A1F3D"/>
                </a:solidFill>
                <a:latin typeface="Calibri" pitchFamily="34" charset="0"/>
                <a:ea typeface="Calibri" pitchFamily="34" charset="-122"/>
                <a:cs typeface="Calibri" pitchFamily="34" charset="-120"/>
              </a:rPr>
              <a:t>down: key, mode, octave, duration, velocity, transposition, stretch</a:t>
            </a:r>
            <a:endParaRPr lang="en-US" sz="1200" dirty="0"/>
          </a:p>
        </p:txBody>
      </p:sp>
      <p:sp>
        <p:nvSpPr>
          <p:cNvPr id="43" name="Text 41"/>
          <p:cNvSpPr/>
          <p:nvPr/>
        </p:nvSpPr>
        <p:spPr>
          <a:xfrm>
            <a:off x="6309360" y="2011680"/>
            <a:ext cx="5285232" cy="274320"/>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up: ticks, note count, pitch range</a:t>
            </a:r>
            <a:endParaRPr lang="en-US" sz="1200" dirty="0"/>
          </a:p>
        </p:txBody>
      </p:sp>
      <p:sp>
        <p:nvSpPr>
          <p:cNvPr id="44" name="Shape 42"/>
          <p:cNvSpPr/>
          <p:nvPr/>
        </p:nvSpPr>
        <p:spPr>
          <a:xfrm>
            <a:off x="6309360" y="2377440"/>
            <a:ext cx="5285232" cy="1965960"/>
          </a:xfrm>
          <a:prstGeom prst="rect">
            <a:avLst/>
          </a:prstGeom>
          <a:solidFill>
            <a:srgbClr val="F4F2EE"/>
          </a:solidFill>
          <a:ln w="12700">
            <a:solidFill>
              <a:srgbClr val="DCDCD4"/>
            </a:solidFill>
            <a:prstDash val="solid"/>
          </a:ln>
        </p:spPr>
      </p:sp>
      <p:sp>
        <p:nvSpPr>
          <p:cNvPr id="45" name="Text 43"/>
          <p:cNvSpPr/>
          <p:nvPr/>
        </p:nvSpPr>
        <p:spPr>
          <a:xfrm>
            <a:off x="6437376" y="2468880"/>
            <a:ext cx="5029200" cy="178308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key D minor ;        // inherited: pc=2, mode=minor</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^5   -&gt; degree 5 of D minor</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-&gt; scale [0,2,3,5,7,8,10]</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-&gt; pc 2 + 7 = 9, octave 4</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-&gt; MIDI 69           A4</a:t>
            </a:r>
            <a:endParaRPr lang="en-US" sz="1100" dirty="0"/>
          </a:p>
          <a:p>
            <a:pPr indent="0" marL="0">
              <a:lnSpc>
                <a:spcPct val="106000"/>
              </a:lnSpc>
              <a:buNone/>
            </a:pP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change one word to 'D major' and every</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note in the file changes -- no note edited</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09360" y="4526280"/>
          <a:ext cx="5285232" cy="914400"/>
        </p:xfrm>
        <a:graphic>
          <a:graphicData uri="http://schemas.openxmlformats.org/drawingml/2006/table">
            <a:tbl>
              <a:tblPr/>
              <a:tblGrid>
                <a:gridCol w="1874520"/>
                <a:gridCol w="341071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checked here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example message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undeclared / duplicate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'plano' is not a declared instrument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wrong arity</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phrase 'riff' takes 1 argument but got 2</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recursive phrase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phrase 'loop' is recursive (loop -&gt; loop)</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unknown instrument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did you mean: 'grand piano', 'piano'?</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range checks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pitch 198 is outside MIDI range 0-127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47" name="Text 44"/>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3 · L-attributed SDD</a:t>
            </a:r>
            <a:endParaRPr lang="en-US" sz="1000" dirty="0"/>
          </a:p>
        </p:txBody>
      </p:sp>
      <p:sp>
        <p:nvSpPr>
          <p:cNvPr id="48" name="Text 45"/>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Diagnostics a person can actually read</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One deliberately broken example per phase ships with the project.</a:t>
            </a:r>
            <a:endParaRPr lang="en-US" sz="1500" dirty="0"/>
          </a:p>
        </p:txBody>
      </p:sp>
      <p:sp>
        <p:nvSpPr>
          <p:cNvPr id="4" name="Shape 2"/>
          <p:cNvSpPr/>
          <p:nvPr/>
        </p:nvSpPr>
        <p:spPr>
          <a:xfrm>
            <a:off x="566928" y="1737360"/>
            <a:ext cx="5486400" cy="2121408"/>
          </a:xfrm>
          <a:prstGeom prst="rect">
            <a:avLst/>
          </a:prstGeom>
          <a:solidFill>
            <a:srgbClr val="F4F2EE"/>
          </a:solidFill>
          <a:ln w="12700">
            <a:solidFill>
              <a:srgbClr val="DCDCD4"/>
            </a:solidFill>
            <a:prstDash val="solid"/>
          </a:ln>
        </p:spPr>
      </p:sp>
      <p:sp>
        <p:nvSpPr>
          <p:cNvPr id="5" name="Text 3"/>
          <p:cNvSpPr/>
          <p:nvPr/>
        </p:nvSpPr>
        <p:spPr>
          <a:xfrm>
            <a:off x="694944" y="1828800"/>
            <a:ext cx="5230368" cy="1938528"/>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bad_semantic.cad -- every line is legal syntax</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tempo 900 ;</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instrument piano = "grand pianoo" ;</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phrase riff(t) = transpose t of [ C4 E4 ] ;</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phrase loop    = [ C4 loop ] ;</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voice tune on plano = riff(1, 2) ;</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voice high on piano = transpose 90 of [ C8 ] ;</a:t>
            </a:r>
            <a:endParaRPr lang="en-US" sz="1100" dirty="0"/>
          </a:p>
        </p:txBody>
      </p:sp>
      <p:sp>
        <p:nvSpPr>
          <p:cNvPr id="6" name="Text 4"/>
          <p:cNvSpPr/>
          <p:nvPr/>
        </p:nvSpPr>
        <p:spPr>
          <a:xfrm>
            <a:off x="566928" y="3931920"/>
            <a:ext cx="548640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The grammar is perfectly happy with this file. Only the analyser can object.</a:t>
            </a:r>
            <a:endParaRPr lang="en-US" sz="1100" dirty="0"/>
          </a:p>
        </p:txBody>
      </p:sp>
      <p:sp>
        <p:nvSpPr>
          <p:cNvPr id="7" name="Shape 5"/>
          <p:cNvSpPr/>
          <p:nvPr/>
        </p:nvSpPr>
        <p:spPr>
          <a:xfrm>
            <a:off x="566928" y="4297680"/>
            <a:ext cx="5486400" cy="1828800"/>
          </a:xfrm>
          <a:prstGeom prst="rect">
            <a:avLst/>
          </a:prstGeom>
          <a:solidFill>
            <a:srgbClr val="F4F2EE"/>
          </a:solidFill>
          <a:ln w="12700">
            <a:solidFill>
              <a:srgbClr val="DCDCD4"/>
            </a:solidFill>
            <a:prstDash val="solid"/>
          </a:ln>
        </p:spPr>
      </p:sp>
      <p:sp>
        <p:nvSpPr>
          <p:cNvPr id="8" name="Text 6"/>
          <p:cNvSpPr/>
          <p:nvPr/>
        </p:nvSpPr>
        <p:spPr>
          <a:xfrm>
            <a:off x="694944" y="4389120"/>
            <a:ext cx="5230368" cy="164592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python -m cadence examples/bad_semantic.cad</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5 error(s), 2 warning(s)</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no MIDI file written</a:t>
            </a:r>
            <a:endParaRPr lang="en-US" sz="1100" dirty="0"/>
          </a:p>
          <a:p>
            <a:pPr indent="0" marL="0">
              <a:lnSpc>
                <a:spcPct val="106000"/>
              </a:lnSpc>
              <a:buNone/>
            </a:pP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python -m unittest discover -s tests</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Ran 72 tests ... OK</a:t>
            </a:r>
            <a:endParaRPr lang="en-US" sz="1100" dirty="0"/>
          </a:p>
        </p:txBody>
      </p:sp>
      <p:sp>
        <p:nvSpPr>
          <p:cNvPr id="9" name="Shape 7"/>
          <p:cNvSpPr/>
          <p:nvPr/>
        </p:nvSpPr>
        <p:spPr>
          <a:xfrm>
            <a:off x="6446520" y="1737360"/>
            <a:ext cx="5148072" cy="4389120"/>
          </a:xfrm>
          <a:prstGeom prst="rect">
            <a:avLst/>
          </a:prstGeom>
          <a:solidFill>
            <a:srgbClr val="F4F2EE"/>
          </a:solidFill>
          <a:ln w="12700">
            <a:solidFill>
              <a:srgbClr val="DCDCD4"/>
            </a:solidFill>
            <a:prstDash val="solid"/>
          </a:ln>
        </p:spPr>
      </p:sp>
      <p:sp>
        <p:nvSpPr>
          <p:cNvPr id="10" name="Text 8"/>
          <p:cNvSpPr/>
          <p:nvPr/>
        </p:nvSpPr>
        <p:spPr>
          <a:xfrm>
            <a:off x="6574536" y="1828800"/>
            <a:ext cx="4892040" cy="420624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[semantic error] line 12:1: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tempo 900 is outside the playable range 20-400</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tempo 900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[semantic error] line 14:1: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unknown instrument name 'grand pianoo'</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instrument piano = "grand pianoo"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hint: did you mean: 'grand piano', 'piano'?</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[semantic error] line 17:1: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phrase 'loop' is recursive (loop -&gt; loop)</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hint: a phrase cannot play itself</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[semantic error] line 19:23:</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phrase 'riff' takes 1 argument(s) but got 2</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voice tune on plano = riff(1, 2)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hint: declared on line 16 as riff(t)</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[warning] line 20:41: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pitch 198 is outside MIDI range 0-127</a:t>
            </a:r>
            <a:endParaRPr lang="en-US" sz="1050" dirty="0"/>
          </a:p>
        </p:txBody>
      </p:sp>
      <p:sp>
        <p:nvSpPr>
          <p:cNvPr id="11" name="Text 9"/>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3 · error reporting</a:t>
            </a:r>
            <a:endParaRPr lang="en-US" sz="1000" dirty="0"/>
          </a:p>
        </p:txBody>
      </p:sp>
      <p:sp>
        <p:nvSpPr>
          <p:cNvPr id="12" name="Text 10"/>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4 — three-address code, and real backpatching</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The generator is deliberately naive. That is what gives the optimiser work to do.</a:t>
            </a:r>
            <a:endParaRPr lang="en-US" sz="1500" dirty="0"/>
          </a:p>
        </p:txBody>
      </p:sp>
      <p:sp>
        <p:nvSpPr>
          <p:cNvPr id="4" name="Shape 2"/>
          <p:cNvSpPr/>
          <p:nvPr/>
        </p:nvSpPr>
        <p:spPr>
          <a:xfrm>
            <a:off x="566928" y="1737360"/>
            <a:ext cx="5394960" cy="2331720"/>
          </a:xfrm>
          <a:prstGeom prst="rect">
            <a:avLst/>
          </a:prstGeom>
          <a:solidFill>
            <a:srgbClr val="F4F2EE"/>
          </a:solidFill>
          <a:ln w="12700">
            <a:solidFill>
              <a:srgbClr val="DCDCD4"/>
            </a:solidFill>
            <a:prstDash val="solid"/>
          </a:ln>
        </p:spPr>
      </p:sp>
      <p:sp>
        <p:nvSpPr>
          <p:cNvPr id="5" name="Text 3"/>
          <p:cNvSpPr/>
          <p:nvPr/>
        </p:nvSpPr>
        <p:spPr>
          <a:xfrm>
            <a:off x="694944" y="1828800"/>
            <a:ext cx="5138928" cy="214884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voice lead = repeat 2 of riff(0) ...</a:t>
            </a:r>
            <a:endParaRPr lang="en-US" sz="1100" dirty="0"/>
          </a:p>
          <a:p>
            <a:pPr indent="0" marL="0">
              <a:lnSpc>
                <a:spcPct val="106000"/>
              </a:lnSpc>
              <a:buNone/>
            </a:pP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0   t1 = 2</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1  L1:</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2   if t1 &lt;= 0 goto ____   &lt;-- target unknown</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3   PARAM 0                    when emitted</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4   CALL phrase riff, 4</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5   t1 = t1 - 1</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6   goto L1</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7  L2:                      &lt;-- now it is known</a:t>
            </a:r>
            <a:endParaRPr lang="en-US" sz="1100" dirty="0"/>
          </a:p>
        </p:txBody>
      </p:sp>
      <p:sp>
        <p:nvSpPr>
          <p:cNvPr id="6" name="Text 4"/>
          <p:cNvSpPr/>
          <p:nvPr/>
        </p:nvSpPr>
        <p:spPr>
          <a:xfrm>
            <a:off x="566928" y="4160520"/>
            <a:ext cx="5394960" cy="292608"/>
          </a:xfrm>
          <a:prstGeom prst="rect">
            <a:avLst/>
          </a:prstGeom>
          <a:noFill/>
          <a:ln/>
        </p:spPr>
        <p:txBody>
          <a:bodyPr wrap="square" lIns="0" tIns="0" rIns="0" bIns="0" rtlCol="0" anchor="ctr"/>
          <a:lstStyle/>
          <a:p>
            <a:pPr indent="0" marL="0">
              <a:buNone/>
            </a:pPr>
            <a:r>
              <a:rPr lang="en-US" sz="1300" b="1" dirty="0">
                <a:solidFill>
                  <a:srgbClr val="7A1F3D"/>
                </a:solidFill>
                <a:latin typeface="Calibri" pitchFamily="34" charset="0"/>
                <a:ea typeface="Calibri" pitchFamily="34" charset="-122"/>
                <a:cs typeface="Calibri" pitchFamily="34" charset="-120"/>
              </a:rPr>
              <a:t>makelist → merge → backpatch</a:t>
            </a:r>
            <a:endParaRPr lang="en-US" sz="1300" dirty="0"/>
          </a:p>
        </p:txBody>
      </p:sp>
      <p:sp>
        <p:nvSpPr>
          <p:cNvPr id="7" name="Text 5"/>
          <p:cNvSpPr/>
          <p:nvPr/>
        </p:nvSpPr>
        <p:spPr>
          <a:xfrm>
            <a:off x="566928" y="4480560"/>
            <a:ext cx="5394960" cy="914400"/>
          </a:xfrm>
          <a:prstGeom prst="rect">
            <a:avLst/>
          </a:prstGeom>
          <a:noFill/>
          <a:ln/>
        </p:spPr>
        <p:txBody>
          <a:bodyPr wrap="square" lIns="0" tIns="0" rIns="0" bIns="0" rtlCol="0" anchor="ctr"/>
          <a:lstStyle/>
          <a:p>
            <a:pPr indent="0" marL="0">
              <a:lnSpc>
                <a:spcPct val="120000"/>
              </a:lnSpc>
              <a:buNone/>
            </a:pPr>
            <a:r>
              <a:rPr lang="en-US" sz="1200" dirty="0">
                <a:solidFill>
                  <a:srgbClr val="6B6F76"/>
                </a:solidFill>
                <a:latin typeface="Calibri" pitchFamily="34" charset="0"/>
                <a:ea typeface="Calibri" pitchFamily="34" charset="-122"/>
                <a:cs typeface="Calibri" pitchFamily="34" charset="-120"/>
              </a:rPr>
              <a:t>The exit jump is emitted with an empty target and its index is kept on a list. When label L2 is finally generated, every jump on the list is patched. The textbook technique, in irgen.py.</a:t>
            </a:r>
            <a:endParaRPr lang="en-US" sz="1200" dirty="0"/>
          </a:p>
        </p:txBody>
      </p:sp>
      <p:sp>
        <p:nvSpPr>
          <p:cNvPr id="8" name="Shape 6"/>
          <p:cNvSpPr/>
          <p:nvPr/>
        </p:nvSpPr>
        <p:spPr>
          <a:xfrm>
            <a:off x="6309360" y="1737360"/>
            <a:ext cx="5285232" cy="2331720"/>
          </a:xfrm>
          <a:prstGeom prst="rect">
            <a:avLst/>
          </a:prstGeom>
          <a:solidFill>
            <a:srgbClr val="F4F2EE"/>
          </a:solidFill>
          <a:ln w="12700">
            <a:solidFill>
              <a:srgbClr val="DCDCD4"/>
            </a:solidFill>
            <a:prstDash val="solid"/>
          </a:ln>
        </p:spPr>
      </p:sp>
      <p:sp>
        <p:nvSpPr>
          <p:cNvPr id="9" name="Text 7"/>
          <p:cNvSpPr/>
          <p:nvPr/>
        </p:nvSpPr>
        <p:spPr>
          <a:xfrm>
            <a:off x="6437376" y="1828800"/>
            <a:ext cx="5029200" cy="2148840"/>
          </a:xfrm>
          <a:prstGeom prst="rect">
            <a:avLst/>
          </a:prstGeom>
          <a:noFill/>
          <a:ln/>
        </p:spPr>
        <p:txBody>
          <a:bodyPr wrap="square" lIns="0" tIns="0" rIns="0" bIns="0" rtlCol="0" anchor="t"/>
          <a:lstStyle/>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every note, however simple, emits six:</a:t>
            </a:r>
            <a:endParaRPr lang="en-US" sz="1100" dirty="0"/>
          </a:p>
          <a:p>
            <a:pPr indent="0" marL="0">
              <a:lnSpc>
                <a:spcPct val="106000"/>
              </a:lnSpc>
              <a:buNone/>
            </a:pP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t2 = 62 + $off      // transposition</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NOTEON t2, vel 96</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t3 = 240 * $sn      // stretch numerator</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t4 = t3 / $sd       // stretch denominator</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DELAY t4</a:t>
            </a: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  NOTEOFF t2</a:t>
            </a:r>
            <a:endParaRPr lang="en-US" sz="1100" dirty="0"/>
          </a:p>
          <a:p>
            <a:pPr indent="0" marL="0">
              <a:lnSpc>
                <a:spcPct val="106000"/>
              </a:lnSpc>
              <a:buNone/>
            </a:pPr>
            <a:endParaRPr lang="en-US" sz="1100" dirty="0"/>
          </a:p>
          <a:p>
            <a:pPr indent="0" marL="0">
              <a:lnSpc>
                <a:spcPct val="106000"/>
              </a:lnSpc>
              <a:buNone/>
            </a:pPr>
            <a:r>
              <a:rPr lang="en-US" sz="1100" dirty="0">
                <a:solidFill>
                  <a:srgbClr val="12151C"/>
                </a:solidFill>
                <a:latin typeface="Courier New" pitchFamily="34" charset="0"/>
                <a:ea typeface="Courier New" pitchFamily="34" charset="-122"/>
                <a:cs typeface="Courier New" pitchFamily="34" charset="-120"/>
              </a:rPr>
              <a:t>even when $off = 0 and $sn/$sd = 1/1</a:t>
            </a:r>
            <a:endParaRPr lang="en-US" sz="1100" dirty="0"/>
          </a:p>
        </p:txBody>
      </p:sp>
      <p:sp>
        <p:nvSpPr>
          <p:cNvPr id="10" name="Text 8"/>
          <p:cNvSpPr/>
          <p:nvPr/>
        </p:nvSpPr>
        <p:spPr>
          <a:xfrm>
            <a:off x="6309360" y="4160520"/>
            <a:ext cx="5285232" cy="292608"/>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Why write code you know is bad?</a:t>
            </a:r>
            <a:endParaRPr lang="en-US" sz="1300" dirty="0"/>
          </a:p>
        </p:txBody>
      </p:sp>
      <p:sp>
        <p:nvSpPr>
          <p:cNvPr id="11" name="Text 9"/>
          <p:cNvSpPr/>
          <p:nvPr/>
        </p:nvSpPr>
        <p:spPr>
          <a:xfrm>
            <a:off x="6309360" y="4480560"/>
            <a:ext cx="5285232" cy="914400"/>
          </a:xfrm>
          <a:prstGeom prst="rect">
            <a:avLst/>
          </a:prstGeom>
          <a:noFill/>
          <a:ln/>
        </p:spPr>
        <p:txBody>
          <a:bodyPr wrap="square" lIns="0" tIns="0" rIns="0" bIns="0" rtlCol="0" anchor="ctr"/>
          <a:lstStyle/>
          <a:p>
            <a:pPr indent="0" marL="0">
              <a:lnSpc>
                <a:spcPct val="120000"/>
              </a:lnSpc>
              <a:buNone/>
            </a:pPr>
            <a:r>
              <a:rPr lang="en-US" sz="1200" dirty="0">
                <a:solidFill>
                  <a:srgbClr val="6B6F76"/>
                </a:solidFill>
                <a:latin typeface="Calibri" pitchFamily="34" charset="0"/>
                <a:ea typeface="Calibri" pitchFamily="34" charset="-122"/>
                <a:cs typeface="Calibri" pitchFamily="34" charset="-120"/>
              </a:rPr>
              <a:t>Because it is the standard front-end contract: generate uniformly, optimise later. It also means the before/after numbers on the next slides are real measurements of my own optimiser, not a rigged demonstration.</a:t>
            </a:r>
            <a:endParaRPr lang="en-US" sz="1200" dirty="0"/>
          </a:p>
        </p:txBody>
      </p:sp>
      <p:sp>
        <p:nvSpPr>
          <p:cNvPr id="12" name="Shape 10"/>
          <p:cNvSpPr/>
          <p:nvPr/>
        </p:nvSpPr>
        <p:spPr>
          <a:xfrm>
            <a:off x="566928" y="5486400"/>
            <a:ext cx="2514600" cy="777240"/>
          </a:xfrm>
          <a:prstGeom prst="roundRect">
            <a:avLst>
              <a:gd name="adj" fmla="val 7059"/>
            </a:avLst>
          </a:prstGeom>
          <a:solidFill>
            <a:srgbClr val="FFFFFF"/>
          </a:solidFill>
          <a:ln w="12700">
            <a:solidFill>
              <a:srgbClr val="DCDCD4"/>
            </a:solidFill>
            <a:prstDash val="solid"/>
          </a:ln>
        </p:spPr>
      </p:sp>
      <p:sp>
        <p:nvSpPr>
          <p:cNvPr id="13" name="Text 11"/>
          <p:cNvSpPr/>
          <p:nvPr/>
        </p:nvSpPr>
        <p:spPr>
          <a:xfrm>
            <a:off x="658368" y="5596128"/>
            <a:ext cx="2331720" cy="404165"/>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9 → 5</a:t>
            </a:r>
            <a:endParaRPr lang="en-US" sz="2600" dirty="0"/>
          </a:p>
        </p:txBody>
      </p:sp>
      <p:sp>
        <p:nvSpPr>
          <p:cNvPr id="14" name="Text 12"/>
          <p:cNvSpPr/>
          <p:nvPr/>
        </p:nvSpPr>
        <p:spPr>
          <a:xfrm>
            <a:off x="640080" y="5952744"/>
            <a:ext cx="2368296" cy="27980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procedures</a:t>
            </a:r>
            <a:endParaRPr lang="en-US" sz="1050" dirty="0"/>
          </a:p>
        </p:txBody>
      </p:sp>
      <p:sp>
        <p:nvSpPr>
          <p:cNvPr id="15" name="Shape 13"/>
          <p:cNvSpPr/>
          <p:nvPr/>
        </p:nvSpPr>
        <p:spPr>
          <a:xfrm>
            <a:off x="3264408" y="5486400"/>
            <a:ext cx="2514600" cy="777240"/>
          </a:xfrm>
          <a:prstGeom prst="roundRect">
            <a:avLst>
              <a:gd name="adj" fmla="val 7059"/>
            </a:avLst>
          </a:prstGeom>
          <a:solidFill>
            <a:srgbClr val="FFFFFF"/>
          </a:solidFill>
          <a:ln w="12700">
            <a:solidFill>
              <a:srgbClr val="DCDCD4"/>
            </a:solidFill>
            <a:prstDash val="solid"/>
          </a:ln>
        </p:spPr>
      </p:sp>
      <p:sp>
        <p:nvSpPr>
          <p:cNvPr id="16" name="Text 14"/>
          <p:cNvSpPr/>
          <p:nvPr/>
        </p:nvSpPr>
        <p:spPr>
          <a:xfrm>
            <a:off x="3355848" y="5596128"/>
            <a:ext cx="2331720" cy="404165"/>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173</a:t>
            </a:r>
            <a:endParaRPr lang="en-US" sz="2600" dirty="0"/>
          </a:p>
        </p:txBody>
      </p:sp>
      <p:sp>
        <p:nvSpPr>
          <p:cNvPr id="17" name="Text 15"/>
          <p:cNvSpPr/>
          <p:nvPr/>
        </p:nvSpPr>
        <p:spPr>
          <a:xfrm>
            <a:off x="3337560" y="5952744"/>
            <a:ext cx="2368296" cy="27980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instructions, naive</a:t>
            </a:r>
            <a:endParaRPr lang="en-US" sz="1050" dirty="0"/>
          </a:p>
        </p:txBody>
      </p:sp>
      <p:sp>
        <p:nvSpPr>
          <p:cNvPr id="18" name="Shape 16"/>
          <p:cNvSpPr/>
          <p:nvPr/>
        </p:nvSpPr>
        <p:spPr>
          <a:xfrm>
            <a:off x="5961888" y="5486400"/>
            <a:ext cx="2514600" cy="777240"/>
          </a:xfrm>
          <a:prstGeom prst="roundRect">
            <a:avLst>
              <a:gd name="adj" fmla="val 7059"/>
            </a:avLst>
          </a:prstGeom>
          <a:solidFill>
            <a:srgbClr val="FFFFFF"/>
          </a:solidFill>
          <a:ln w="12700">
            <a:solidFill>
              <a:srgbClr val="DCDCD4"/>
            </a:solidFill>
            <a:prstDash val="solid"/>
          </a:ln>
        </p:spPr>
      </p:sp>
      <p:sp>
        <p:nvSpPr>
          <p:cNvPr id="19" name="Text 17"/>
          <p:cNvSpPr/>
          <p:nvPr/>
        </p:nvSpPr>
        <p:spPr>
          <a:xfrm>
            <a:off x="6053328" y="5596128"/>
            <a:ext cx="2331720" cy="404165"/>
          </a:xfrm>
          <a:prstGeom prst="rect">
            <a:avLst/>
          </a:prstGeom>
          <a:noFill/>
          <a:ln/>
        </p:spPr>
        <p:txBody>
          <a:bodyPr wrap="square" lIns="0" tIns="0" rIns="0" bIns="0" rtlCol="0" anchor="ctr"/>
          <a:lstStyle/>
          <a:p>
            <a:pPr algn="ctr" indent="0" marL="0">
              <a:buNone/>
            </a:pPr>
            <a:r>
              <a:rPr lang="en-US" sz="2600" b="1" dirty="0">
                <a:solidFill>
                  <a:srgbClr val="B4762C"/>
                </a:solidFill>
                <a:latin typeface="Calibri" pitchFamily="34" charset="0"/>
                <a:ea typeface="Calibri" pitchFamily="34" charset="-122"/>
                <a:cs typeface="Calibri" pitchFamily="34" charset="-120"/>
              </a:rPr>
              <a:t>2</a:t>
            </a:r>
            <a:endParaRPr lang="en-US" sz="2600" dirty="0"/>
          </a:p>
        </p:txBody>
      </p:sp>
      <p:sp>
        <p:nvSpPr>
          <p:cNvPr id="20" name="Text 18"/>
          <p:cNvSpPr/>
          <p:nvPr/>
        </p:nvSpPr>
        <p:spPr>
          <a:xfrm>
            <a:off x="6035040" y="5952744"/>
            <a:ext cx="2368296" cy="27980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deepest frame stack</a:t>
            </a:r>
            <a:endParaRPr lang="en-US" sz="1050" dirty="0"/>
          </a:p>
        </p:txBody>
      </p:sp>
      <p:sp>
        <p:nvSpPr>
          <p:cNvPr id="21" name="Shape 19"/>
          <p:cNvSpPr/>
          <p:nvPr/>
        </p:nvSpPr>
        <p:spPr>
          <a:xfrm>
            <a:off x="8659368" y="5486400"/>
            <a:ext cx="2935224" cy="777240"/>
          </a:xfrm>
          <a:prstGeom prst="roundRect">
            <a:avLst>
              <a:gd name="adj" fmla="val 7059"/>
            </a:avLst>
          </a:prstGeom>
          <a:solidFill>
            <a:srgbClr val="FFFFFF"/>
          </a:solidFill>
          <a:ln w="12700">
            <a:solidFill>
              <a:srgbClr val="DCDCD4"/>
            </a:solidFill>
            <a:prstDash val="solid"/>
          </a:ln>
        </p:spPr>
      </p:sp>
      <p:sp>
        <p:nvSpPr>
          <p:cNvPr id="22" name="Text 20"/>
          <p:cNvSpPr/>
          <p:nvPr/>
        </p:nvSpPr>
        <p:spPr>
          <a:xfrm>
            <a:off x="8750808" y="5596128"/>
            <a:ext cx="2752344" cy="404165"/>
          </a:xfrm>
          <a:prstGeom prst="rect">
            <a:avLst/>
          </a:prstGeom>
          <a:noFill/>
          <a:ln/>
        </p:spPr>
        <p:txBody>
          <a:bodyPr wrap="square" lIns="0" tIns="0" rIns="0" bIns="0" rtlCol="0" anchor="ctr"/>
          <a:lstStyle/>
          <a:p>
            <a:pPr algn="ctr" indent="0" marL="0">
              <a:buNone/>
            </a:pPr>
            <a:r>
              <a:rPr lang="en-US" sz="2600" b="1" dirty="0">
                <a:solidFill>
                  <a:srgbClr val="3C5AA6"/>
                </a:solidFill>
                <a:latin typeface="Calibri" pitchFamily="34" charset="0"/>
                <a:ea typeface="Calibri" pitchFamily="34" charset="-122"/>
                <a:cs typeface="Calibri" pitchFamily="34" charset="-120"/>
              </a:rPr>
              <a:t>quadruples</a:t>
            </a:r>
            <a:endParaRPr lang="en-US" sz="2600" dirty="0"/>
          </a:p>
        </p:txBody>
      </p:sp>
      <p:sp>
        <p:nvSpPr>
          <p:cNvPr id="23" name="Text 21"/>
          <p:cNvSpPr/>
          <p:nvPr/>
        </p:nvSpPr>
        <p:spPr>
          <a:xfrm>
            <a:off x="8732520" y="5952744"/>
            <a:ext cx="2788920" cy="27980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op, arg1, arg2, result</a:t>
            </a:r>
            <a:endParaRPr lang="en-US" sz="1050" dirty="0"/>
          </a:p>
        </p:txBody>
      </p:sp>
      <p:sp>
        <p:nvSpPr>
          <p:cNvPr id="24" name="Text 22"/>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4 · intermediate code</a:t>
            </a:r>
            <a:endParaRPr lang="en-US" sz="1000" dirty="0"/>
          </a:p>
        </p:txBody>
      </p:sp>
      <p:sp>
        <p:nvSpPr>
          <p:cNvPr id="25" name="Text 23"/>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5 — thirteen passes, and the DAG they search</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Common subexpressions are found by value-numbering a basic block into a DAG.</a:t>
            </a:r>
            <a:endParaRPr lang="en-US" sz="1500" dirty="0"/>
          </a:p>
        </p:txBody>
      </p:sp>
      <p:sp>
        <p:nvSpPr>
          <p:cNvPr id="4" name="Shape 2"/>
          <p:cNvSpPr/>
          <p:nvPr/>
        </p:nvSpPr>
        <p:spPr>
          <a:xfrm>
            <a:off x="566928" y="1719072"/>
            <a:ext cx="2606040" cy="438912"/>
          </a:xfrm>
          <a:prstGeom prst="roundRect">
            <a:avLst>
              <a:gd name="adj" fmla="val 10417"/>
            </a:avLst>
          </a:prstGeom>
          <a:solidFill>
            <a:srgbClr val="7A1F3D"/>
          </a:solidFill>
          <a:ln w="12700">
            <a:solidFill>
              <a:srgbClr val="7A1F3D"/>
            </a:solidFill>
            <a:prstDash val="solid"/>
          </a:ln>
        </p:spPr>
      </p:sp>
      <p:sp>
        <p:nvSpPr>
          <p:cNvPr id="5" name="Text 3"/>
          <p:cNvSpPr/>
          <p:nvPr/>
        </p:nvSpPr>
        <p:spPr>
          <a:xfrm>
            <a:off x="612648" y="1719072"/>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CSE via DAG</a:t>
            </a:r>
            <a:endParaRPr lang="en-US" sz="1050" dirty="0"/>
          </a:p>
        </p:txBody>
      </p:sp>
      <p:sp>
        <p:nvSpPr>
          <p:cNvPr id="6" name="Shape 4"/>
          <p:cNvSpPr/>
          <p:nvPr/>
        </p:nvSpPr>
        <p:spPr>
          <a:xfrm>
            <a:off x="3355848" y="1719072"/>
            <a:ext cx="2606040" cy="438912"/>
          </a:xfrm>
          <a:prstGeom prst="roundRect">
            <a:avLst>
              <a:gd name="adj" fmla="val 10417"/>
            </a:avLst>
          </a:prstGeom>
          <a:solidFill>
            <a:srgbClr val="7A1F3D"/>
          </a:solidFill>
          <a:ln w="12700">
            <a:solidFill>
              <a:srgbClr val="7A1F3D"/>
            </a:solidFill>
            <a:prstDash val="solid"/>
          </a:ln>
        </p:spPr>
      </p:sp>
      <p:sp>
        <p:nvSpPr>
          <p:cNvPr id="7" name="Text 5"/>
          <p:cNvSpPr/>
          <p:nvPr/>
        </p:nvSpPr>
        <p:spPr>
          <a:xfrm>
            <a:off x="3401568" y="1719072"/>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inline phrases</a:t>
            </a:r>
            <a:endParaRPr lang="en-US" sz="1050" dirty="0"/>
          </a:p>
        </p:txBody>
      </p:sp>
      <p:sp>
        <p:nvSpPr>
          <p:cNvPr id="8" name="Shape 6"/>
          <p:cNvSpPr/>
          <p:nvPr/>
        </p:nvSpPr>
        <p:spPr>
          <a:xfrm>
            <a:off x="6144768" y="1719072"/>
            <a:ext cx="2606040" cy="438912"/>
          </a:xfrm>
          <a:prstGeom prst="roundRect">
            <a:avLst>
              <a:gd name="adj" fmla="val 10417"/>
            </a:avLst>
          </a:prstGeom>
          <a:solidFill>
            <a:srgbClr val="1F6F6B"/>
          </a:solidFill>
          <a:ln w="12700">
            <a:solidFill>
              <a:srgbClr val="1F6F6B"/>
            </a:solidFill>
            <a:prstDash val="solid"/>
          </a:ln>
        </p:spPr>
      </p:sp>
      <p:sp>
        <p:nvSpPr>
          <p:cNvPr id="9" name="Text 7"/>
          <p:cNvSpPr/>
          <p:nvPr/>
        </p:nvSpPr>
        <p:spPr>
          <a:xfrm>
            <a:off x="6190488" y="1719072"/>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constant folding</a:t>
            </a:r>
            <a:endParaRPr lang="en-US" sz="1050" dirty="0"/>
          </a:p>
        </p:txBody>
      </p:sp>
      <p:sp>
        <p:nvSpPr>
          <p:cNvPr id="10" name="Shape 8"/>
          <p:cNvSpPr/>
          <p:nvPr/>
        </p:nvSpPr>
        <p:spPr>
          <a:xfrm>
            <a:off x="8933688" y="1719072"/>
            <a:ext cx="2606040" cy="438912"/>
          </a:xfrm>
          <a:prstGeom prst="roundRect">
            <a:avLst>
              <a:gd name="adj" fmla="val 10417"/>
            </a:avLst>
          </a:prstGeom>
          <a:solidFill>
            <a:srgbClr val="1F6F6B"/>
          </a:solidFill>
          <a:ln w="12700">
            <a:solidFill>
              <a:srgbClr val="1F6F6B"/>
            </a:solidFill>
            <a:prstDash val="solid"/>
          </a:ln>
        </p:spPr>
      </p:sp>
      <p:sp>
        <p:nvSpPr>
          <p:cNvPr id="11" name="Text 9"/>
          <p:cNvSpPr/>
          <p:nvPr/>
        </p:nvSpPr>
        <p:spPr>
          <a:xfrm>
            <a:off x="8979408" y="1719072"/>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copy propagation</a:t>
            </a:r>
            <a:endParaRPr lang="en-US" sz="1050" dirty="0"/>
          </a:p>
        </p:txBody>
      </p:sp>
      <p:sp>
        <p:nvSpPr>
          <p:cNvPr id="12" name="Shape 10"/>
          <p:cNvSpPr/>
          <p:nvPr/>
        </p:nvSpPr>
        <p:spPr>
          <a:xfrm>
            <a:off x="566928" y="2286000"/>
            <a:ext cx="2606040" cy="438912"/>
          </a:xfrm>
          <a:prstGeom prst="roundRect">
            <a:avLst>
              <a:gd name="adj" fmla="val 10417"/>
            </a:avLst>
          </a:prstGeom>
          <a:solidFill>
            <a:srgbClr val="B4762C"/>
          </a:solidFill>
          <a:ln w="12700">
            <a:solidFill>
              <a:srgbClr val="B4762C"/>
            </a:solidFill>
            <a:prstDash val="solid"/>
          </a:ln>
        </p:spPr>
      </p:sp>
      <p:sp>
        <p:nvSpPr>
          <p:cNvPr id="13" name="Text 11"/>
          <p:cNvSpPr/>
          <p:nvPr/>
        </p:nvSpPr>
        <p:spPr>
          <a:xfrm>
            <a:off x="612648" y="2286000"/>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loop unrolling</a:t>
            </a:r>
            <a:endParaRPr lang="en-US" sz="1050" dirty="0"/>
          </a:p>
        </p:txBody>
      </p:sp>
      <p:sp>
        <p:nvSpPr>
          <p:cNvPr id="14" name="Shape 12"/>
          <p:cNvSpPr/>
          <p:nvPr/>
        </p:nvSpPr>
        <p:spPr>
          <a:xfrm>
            <a:off x="3355848" y="2286000"/>
            <a:ext cx="2606040" cy="438912"/>
          </a:xfrm>
          <a:prstGeom prst="roundRect">
            <a:avLst>
              <a:gd name="adj" fmla="val 10417"/>
            </a:avLst>
          </a:prstGeom>
          <a:solidFill>
            <a:srgbClr val="7A1F3D"/>
          </a:solidFill>
          <a:ln w="12700">
            <a:solidFill>
              <a:srgbClr val="7A1F3D"/>
            </a:solidFill>
            <a:prstDash val="solid"/>
          </a:ln>
        </p:spPr>
      </p:sp>
      <p:sp>
        <p:nvSpPr>
          <p:cNvPr id="15" name="Text 13"/>
          <p:cNvSpPr/>
          <p:nvPr/>
        </p:nvSpPr>
        <p:spPr>
          <a:xfrm>
            <a:off x="3401568" y="2286000"/>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 CSE again</a:t>
            </a:r>
            <a:endParaRPr lang="en-US" sz="1050" dirty="0"/>
          </a:p>
        </p:txBody>
      </p:sp>
      <p:sp>
        <p:nvSpPr>
          <p:cNvPr id="16" name="Shape 14"/>
          <p:cNvSpPr/>
          <p:nvPr/>
        </p:nvSpPr>
        <p:spPr>
          <a:xfrm>
            <a:off x="6144768" y="2286000"/>
            <a:ext cx="2606040" cy="438912"/>
          </a:xfrm>
          <a:prstGeom prst="roundRect">
            <a:avLst>
              <a:gd name="adj" fmla="val 10417"/>
            </a:avLst>
          </a:prstGeom>
          <a:solidFill>
            <a:srgbClr val="1F6F6B"/>
          </a:solidFill>
          <a:ln w="12700">
            <a:solidFill>
              <a:srgbClr val="1F6F6B"/>
            </a:solidFill>
            <a:prstDash val="solid"/>
          </a:ln>
        </p:spPr>
      </p:sp>
      <p:sp>
        <p:nvSpPr>
          <p:cNvPr id="17" name="Text 15"/>
          <p:cNvSpPr/>
          <p:nvPr/>
        </p:nvSpPr>
        <p:spPr>
          <a:xfrm>
            <a:off x="6190488" y="2286000"/>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 folding again</a:t>
            </a:r>
            <a:endParaRPr lang="en-US" sz="1050" dirty="0"/>
          </a:p>
        </p:txBody>
      </p:sp>
      <p:sp>
        <p:nvSpPr>
          <p:cNvPr id="18" name="Shape 16"/>
          <p:cNvSpPr/>
          <p:nvPr/>
        </p:nvSpPr>
        <p:spPr>
          <a:xfrm>
            <a:off x="8933688" y="2286000"/>
            <a:ext cx="2606040" cy="438912"/>
          </a:xfrm>
          <a:prstGeom prst="roundRect">
            <a:avLst>
              <a:gd name="adj" fmla="val 10417"/>
            </a:avLst>
          </a:prstGeom>
          <a:solidFill>
            <a:srgbClr val="1F6F6B"/>
          </a:solidFill>
          <a:ln w="12700">
            <a:solidFill>
              <a:srgbClr val="1F6F6B"/>
            </a:solidFill>
            <a:prstDash val="solid"/>
          </a:ln>
        </p:spPr>
      </p:sp>
      <p:sp>
        <p:nvSpPr>
          <p:cNvPr id="19" name="Text 17"/>
          <p:cNvSpPr/>
          <p:nvPr/>
        </p:nvSpPr>
        <p:spPr>
          <a:xfrm>
            <a:off x="8979408" y="2286000"/>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copy propagation</a:t>
            </a:r>
            <a:endParaRPr lang="en-US" sz="1050" dirty="0"/>
          </a:p>
        </p:txBody>
      </p:sp>
      <p:sp>
        <p:nvSpPr>
          <p:cNvPr id="20" name="Shape 18"/>
          <p:cNvSpPr/>
          <p:nvPr/>
        </p:nvSpPr>
        <p:spPr>
          <a:xfrm>
            <a:off x="566928" y="2852928"/>
            <a:ext cx="2606040" cy="438912"/>
          </a:xfrm>
          <a:prstGeom prst="roundRect">
            <a:avLst>
              <a:gd name="adj" fmla="val 10417"/>
            </a:avLst>
          </a:prstGeom>
          <a:solidFill>
            <a:srgbClr val="B4762C"/>
          </a:solidFill>
          <a:ln w="12700">
            <a:solidFill>
              <a:srgbClr val="B4762C"/>
            </a:solidFill>
            <a:prstDash val="solid"/>
          </a:ln>
        </p:spPr>
      </p:sp>
      <p:sp>
        <p:nvSpPr>
          <p:cNvPr id="21" name="Text 19"/>
          <p:cNvSpPr/>
          <p:nvPr/>
        </p:nvSpPr>
        <p:spPr>
          <a:xfrm>
            <a:off x="612648" y="2852928"/>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9. strength reduction</a:t>
            </a:r>
            <a:endParaRPr lang="en-US" sz="1050" dirty="0"/>
          </a:p>
        </p:txBody>
      </p:sp>
      <p:sp>
        <p:nvSpPr>
          <p:cNvPr id="22" name="Shape 20"/>
          <p:cNvSpPr/>
          <p:nvPr/>
        </p:nvSpPr>
        <p:spPr>
          <a:xfrm>
            <a:off x="3355848" y="2852928"/>
            <a:ext cx="2606040" cy="438912"/>
          </a:xfrm>
          <a:prstGeom prst="roundRect">
            <a:avLst>
              <a:gd name="adj" fmla="val 10417"/>
            </a:avLst>
          </a:prstGeom>
          <a:solidFill>
            <a:srgbClr val="3C5AA6"/>
          </a:solidFill>
          <a:ln w="12700">
            <a:solidFill>
              <a:srgbClr val="3C5AA6"/>
            </a:solidFill>
            <a:prstDash val="solid"/>
          </a:ln>
        </p:spPr>
      </p:sp>
      <p:sp>
        <p:nvSpPr>
          <p:cNvPr id="23" name="Text 21"/>
          <p:cNvSpPr/>
          <p:nvPr/>
        </p:nvSpPr>
        <p:spPr>
          <a:xfrm>
            <a:off x="3401568" y="2852928"/>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 dead code elimination</a:t>
            </a:r>
            <a:endParaRPr lang="en-US" sz="1050" dirty="0"/>
          </a:p>
        </p:txBody>
      </p:sp>
      <p:sp>
        <p:nvSpPr>
          <p:cNvPr id="24" name="Shape 22"/>
          <p:cNvSpPr/>
          <p:nvPr/>
        </p:nvSpPr>
        <p:spPr>
          <a:xfrm>
            <a:off x="6144768" y="2852928"/>
            <a:ext cx="2606040" cy="438912"/>
          </a:xfrm>
          <a:prstGeom prst="roundRect">
            <a:avLst>
              <a:gd name="adj" fmla="val 10417"/>
            </a:avLst>
          </a:prstGeom>
          <a:solidFill>
            <a:srgbClr val="3C5AA6"/>
          </a:solidFill>
          <a:ln w="12700">
            <a:solidFill>
              <a:srgbClr val="3C5AA6"/>
            </a:solidFill>
            <a:prstDash val="solid"/>
          </a:ln>
        </p:spPr>
      </p:sp>
      <p:sp>
        <p:nvSpPr>
          <p:cNvPr id="25" name="Text 23"/>
          <p:cNvSpPr/>
          <p:nvPr/>
        </p:nvSpPr>
        <p:spPr>
          <a:xfrm>
            <a:off x="6190488" y="2852928"/>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11. drop unused procedures</a:t>
            </a:r>
            <a:endParaRPr lang="en-US" sz="1050" dirty="0"/>
          </a:p>
        </p:txBody>
      </p:sp>
      <p:sp>
        <p:nvSpPr>
          <p:cNvPr id="26" name="Shape 24"/>
          <p:cNvSpPr/>
          <p:nvPr/>
        </p:nvSpPr>
        <p:spPr>
          <a:xfrm>
            <a:off x="8933688" y="2852928"/>
            <a:ext cx="2606040" cy="438912"/>
          </a:xfrm>
          <a:prstGeom prst="roundRect">
            <a:avLst>
              <a:gd name="adj" fmla="val 10417"/>
            </a:avLst>
          </a:prstGeom>
          <a:solidFill>
            <a:srgbClr val="12151C"/>
          </a:solidFill>
          <a:ln w="12700">
            <a:solidFill>
              <a:srgbClr val="12151C"/>
            </a:solidFill>
            <a:prstDash val="solid"/>
          </a:ln>
        </p:spPr>
      </p:sp>
      <p:sp>
        <p:nvSpPr>
          <p:cNvPr id="27" name="Text 25"/>
          <p:cNvSpPr/>
          <p:nvPr/>
        </p:nvSpPr>
        <p:spPr>
          <a:xfrm>
            <a:off x="8979408" y="2852928"/>
            <a:ext cx="2514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12. peephole</a:t>
            </a:r>
            <a:endParaRPr lang="en-US" sz="1050" dirty="0"/>
          </a:p>
        </p:txBody>
      </p:sp>
      <p:sp>
        <p:nvSpPr>
          <p:cNvPr id="28" name="Text 26"/>
          <p:cNvSpPr/>
          <p:nvPr/>
        </p:nvSpPr>
        <p:spPr>
          <a:xfrm>
            <a:off x="566928" y="3493008"/>
            <a:ext cx="11027664"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Passes are re-run because each one exposes work for the others: inlining creates constants, folding creates copies, copy propagation creates dead code.</a:t>
            </a:r>
            <a:endParaRPr lang="en-US" sz="1100" dirty="0"/>
          </a:p>
        </p:txBody>
      </p:sp>
      <p:sp>
        <p:nvSpPr>
          <p:cNvPr id="29" name="Shape 27"/>
          <p:cNvSpPr/>
          <p:nvPr/>
        </p:nvSpPr>
        <p:spPr>
          <a:xfrm>
            <a:off x="566928" y="3886200"/>
            <a:ext cx="5486400" cy="2212848"/>
          </a:xfrm>
          <a:prstGeom prst="rect">
            <a:avLst/>
          </a:prstGeom>
          <a:solidFill>
            <a:srgbClr val="F4F2EE"/>
          </a:solidFill>
          <a:ln w="12700">
            <a:solidFill>
              <a:srgbClr val="DCDCD4"/>
            </a:solidFill>
            <a:prstDash val="solid"/>
          </a:ln>
        </p:spPr>
      </p:sp>
      <p:sp>
        <p:nvSpPr>
          <p:cNvPr id="30" name="Text 28"/>
          <p:cNvSpPr/>
          <p:nvPr/>
        </p:nvSpPr>
        <p:spPr>
          <a:xfrm>
            <a:off x="694944" y="3977640"/>
            <a:ext cx="5230368" cy="2029968"/>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block B0 of phrase riff, as a DAG</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n1 = $off        n2 = 62</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n3 = ADD(n2, n1)  -&gt; t2       D4</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n4 = MUL(240, $sn)-&gt; t3</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n5 = DIV(n4, $sd) -&gt; t4</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t6 is an alias of n4   &lt;-- same</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t9 is an alias of n4       node</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15 repeated expressions reused</a:t>
            </a:r>
            <a:endParaRPr lang="en-US" sz="1050" dirty="0"/>
          </a:p>
        </p:txBody>
      </p:sp>
      <p:sp>
        <p:nvSpPr>
          <p:cNvPr id="31" name="Shape 29"/>
          <p:cNvSpPr/>
          <p:nvPr/>
        </p:nvSpPr>
        <p:spPr>
          <a:xfrm>
            <a:off x="6446520" y="3886200"/>
            <a:ext cx="5148072" cy="2212848"/>
          </a:xfrm>
          <a:prstGeom prst="roundRect">
            <a:avLst>
              <a:gd name="adj" fmla="val 2479"/>
            </a:avLst>
          </a:prstGeom>
          <a:solidFill>
            <a:srgbClr val="F4F2EE"/>
          </a:solidFill>
          <a:ln w="12700">
            <a:solidFill>
              <a:srgbClr val="DCDCD4"/>
            </a:solidFill>
            <a:prstDash val="solid"/>
          </a:ln>
        </p:spPr>
      </p:sp>
      <p:sp>
        <p:nvSpPr>
          <p:cNvPr id="32" name="Text 30"/>
          <p:cNvSpPr/>
          <p:nvPr/>
        </p:nvSpPr>
        <p:spPr>
          <a:xfrm>
            <a:off x="6601968" y="3986784"/>
            <a:ext cx="4846320" cy="274320"/>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A real bug, found by measuring</a:t>
            </a:r>
            <a:endParaRPr lang="en-US" sz="1250" dirty="0"/>
          </a:p>
        </p:txBody>
      </p:sp>
      <p:sp>
        <p:nvSpPr>
          <p:cNvPr id="33" name="Text 31"/>
          <p:cNvSpPr/>
          <p:nvPr/>
        </p:nvSpPr>
        <p:spPr>
          <a:xfrm>
            <a:off x="6601968" y="4297680"/>
            <a:ext cx="4846320" cy="1691640"/>
          </a:xfrm>
          <a:prstGeom prst="rect">
            <a:avLst/>
          </a:prstGeom>
          <a:noFill/>
          <a:ln/>
        </p:spPr>
        <p:txBody>
          <a:bodyPr wrap="square" lIns="0" tIns="0" rIns="0" bIns="0" rtlCol="0" anchor="ctr"/>
          <a:lstStyle/>
          <a:p>
            <a:pPr indent="0" marL="0">
              <a:lnSpc>
                <a:spcPct val="120000"/>
              </a:lnSpc>
              <a:buNone/>
            </a:pPr>
            <a:r>
              <a:rPr lang="en-US" sz="1150" dirty="0">
                <a:solidFill>
                  <a:srgbClr val="6B6F76"/>
                </a:solidFill>
                <a:latin typeface="Calibri" pitchFamily="34" charset="0"/>
                <a:ea typeface="Calibri" pitchFamily="34" charset="-122"/>
                <a:cs typeface="Calibri" pitchFamily="34" charset="-120"/>
              </a:rPr>
              <a:t>My first CSE pass reported zero eliminations on a block that obviously repeated 240 * $sn three times. The cause: I inserted the new value into the available table and then invalidated everything defined by that same instruction — killing the entry I had just created. Killing before inserting fixed it, and the pass immediately found 15 reuses.</a:t>
            </a:r>
            <a:endParaRPr lang="en-US" sz="1150" dirty="0"/>
          </a:p>
          <a:p>
            <a:pPr indent="0" marL="0">
              <a:lnSpc>
                <a:spcPct val="120000"/>
              </a:lnSpc>
              <a:buNone/>
            </a:pPr>
            <a:r>
              <a:rPr lang="en-US" sz="1150" dirty="0">
                <a:solidFill>
                  <a:srgbClr val="6B6F76"/>
                </a:solidFill>
                <a:latin typeface="Calibri" pitchFamily="34" charset="0"/>
                <a:ea typeface="Calibri" pitchFamily="34" charset="-122"/>
                <a:cs typeface="Calibri" pitchFamily="34" charset="-120"/>
              </a:rPr>
              <a:t>Without a per-pass measurement table I would never have noticed.</a:t>
            </a:r>
            <a:endParaRPr lang="en-US" sz="1150" dirty="0"/>
          </a:p>
        </p:txBody>
      </p:sp>
      <p:sp>
        <p:nvSpPr>
          <p:cNvPr id="34" name="Text 32"/>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5 · optimisation</a:t>
            </a:r>
            <a:endParaRPr lang="en-US" sz="1000" dirty="0"/>
          </a:p>
        </p:txBody>
      </p:sp>
      <p:sp>
        <p:nvSpPr>
          <p:cNvPr id="35" name="Text 33"/>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5 — the measurement that actually matters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Instructions that exist versus instructions that run. Optimisation trades one for the other.</a:t>
            </a:r>
            <a:endParaRPr lang="en-US" sz="1500" dirty="0"/>
          </a:p>
        </p:txBody>
      </p:sp>
      <p:graphicFrame>
        <p:nvGraphicFramePr>
          <p:cNvPr id="4" name="Chart 0" descr=""/>
          <p:cNvGraphicFramePr/>
          <p:nvPr/>
        </p:nvGraphicFramePr>
        <p:xfrm>
          <a:off x="566928" y="169164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4983480"/>
            <a:ext cx="5943600" cy="329184"/>
          </a:xfrm>
          <a:prstGeom prst="rect">
            <a:avLst/>
          </a:prstGeom>
          <a:noFill/>
          <a:ln/>
        </p:spPr>
        <p:txBody>
          <a:bodyPr wrap="square" lIns="0" tIns="0" rIns="0" bIns="0" rtlCol="0" anchor="ctr"/>
          <a:lstStyle/>
          <a:p>
            <a:pPr algn="ctr" indent="0" marL="0">
              <a:buNone/>
            </a:pPr>
            <a:r>
              <a:rPr lang="en-US" sz="1500" b="1" dirty="0">
                <a:solidFill>
                  <a:srgbClr val="7A1F3D"/>
                </a:solidFill>
                <a:latin typeface="Calibri" pitchFamily="34" charset="0"/>
                <a:ea typeface="Calibri" pitchFamily="34" charset="-122"/>
                <a:cs typeface="Calibri" pitchFamily="34" charset="-120"/>
              </a:rPr>
              <a:t>+42.8 % bigger, 61.8 % less work</a:t>
            </a:r>
            <a:endParaRPr lang="en-US" sz="1500" dirty="0"/>
          </a:p>
        </p:txBody>
      </p:sp>
      <p:sp>
        <p:nvSpPr>
          <p:cNvPr id="6" name="Text 3"/>
          <p:cNvSpPr/>
          <p:nvPr/>
        </p:nvSpPr>
        <p:spPr>
          <a:xfrm>
            <a:off x="566928" y="5321808"/>
            <a:ext cx="594360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Inlining and unrolling deliberately add instructions so that the program executes fewer of them. Reporting only the static count would have hidden the win; reporting only the dynamic count would have hidden the cost.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66560" y="1691640"/>
          <a:ext cx="4828032" cy="914400"/>
        </p:xfrm>
        <a:graphic>
          <a:graphicData uri="http://schemas.openxmlformats.org/drawingml/2006/table">
            <a:tbl>
              <a:tblPr/>
              <a:tblGrid>
                <a:gridCol w="1874520"/>
                <a:gridCol w="1051560"/>
                <a:gridCol w="914400"/>
                <a:gridCol w="98755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static</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executed</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music unchanged</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CSE via DAG</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173 → 173</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631</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inline phrases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173 → 276</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542</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constant folding</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276 → 276</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542</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copy propagation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276 → 276</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542</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loop unrolling</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276 → 567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462</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dead code elimination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567 → 325</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241</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drop unused procedures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325 → 247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241</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8" name="Shape 4"/>
          <p:cNvSpPr/>
          <p:nvPr/>
        </p:nvSpPr>
        <p:spPr>
          <a:xfrm>
            <a:off x="6766560" y="4617720"/>
            <a:ext cx="4828032" cy="1481328"/>
          </a:xfrm>
          <a:prstGeom prst="roundRect">
            <a:avLst>
              <a:gd name="adj" fmla="val 3704"/>
            </a:avLst>
          </a:prstGeom>
          <a:solidFill>
            <a:srgbClr val="12151C"/>
          </a:solidFill>
          <a:ln w="12700">
            <a:solidFill>
              <a:srgbClr val="12151C"/>
            </a:solidFill>
            <a:prstDash val="solid"/>
          </a:ln>
        </p:spPr>
      </p:sp>
      <p:sp>
        <p:nvSpPr>
          <p:cNvPr id="9" name="Text 5"/>
          <p:cNvSpPr/>
          <p:nvPr/>
        </p:nvSpPr>
        <p:spPr>
          <a:xfrm>
            <a:off x="6931152" y="4718304"/>
            <a:ext cx="45262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invariant the design is built on</a:t>
            </a:r>
            <a:endParaRPr lang="en-US" sz="1250" dirty="0"/>
          </a:p>
        </p:txBody>
      </p:sp>
      <p:sp>
        <p:nvSpPr>
          <p:cNvPr id="10" name="Text 6"/>
          <p:cNvSpPr/>
          <p:nvPr/>
        </p:nvSpPr>
        <p:spPr>
          <a:xfrm>
            <a:off x="6931152" y="5029200"/>
            <a:ext cx="4526280" cy="960120"/>
          </a:xfrm>
          <a:prstGeom prst="rect">
            <a:avLst/>
          </a:prstGeom>
          <a:noFill/>
          <a:ln/>
        </p:spPr>
        <p:txBody>
          <a:bodyPr wrap="square" lIns="0" tIns="0" rIns="0" bIns="0" rtlCol="0" anchor="ctr"/>
          <a:lstStyle/>
          <a:p>
            <a:pPr indent="0" marL="0">
              <a:lnSpc>
                <a:spcPct val="118000"/>
              </a:lnSpc>
              <a:buNone/>
            </a:pPr>
            <a:r>
              <a:rPr lang="en-US" sz="1100" dirty="0">
                <a:solidFill>
                  <a:srgbClr val="CBD0D8"/>
                </a:solidFill>
                <a:latin typeface="Calibri" pitchFamily="34" charset="0"/>
                <a:ea typeface="Calibri" pitchFamily="34" charset="-122"/>
                <a:cs typeface="Calibri" pitchFamily="34" charset="-120"/>
              </a:rPr>
              <a:t>After every pass the virtual machine re-runs the program and the note-by-note event stream is compared with the unoptimised run. A pass that changes what you hear fails the build. Checked for every example, at every level, on every run.</a:t>
            </a:r>
            <a:endParaRPr lang="en-US" sz="1100" dirty="0"/>
          </a:p>
        </p:txBody>
      </p:sp>
      <p:sp>
        <p:nvSpPr>
          <p:cNvPr id="11" name="Text 7"/>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5 · measurement</a:t>
            </a:r>
            <a:endParaRPr lang="en-US" sz="1000" dirty="0"/>
          </a:p>
        </p:txBody>
      </p:sp>
      <p:sp>
        <p:nvSpPr>
          <p:cNvPr id="12" name="Text 8"/>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5 — data-flow analysis, iteration by iteration</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Basic blocks, dominators, back edges, and three classic fixed points.</a:t>
            </a:r>
            <a:endParaRPr lang="en-US" sz="1500" dirty="0"/>
          </a:p>
        </p:txBody>
      </p:sp>
      <p:sp>
        <p:nvSpPr>
          <p:cNvPr id="4" name="Shape 2"/>
          <p:cNvSpPr/>
          <p:nvPr/>
        </p:nvSpPr>
        <p:spPr>
          <a:xfrm>
            <a:off x="566928" y="1719072"/>
            <a:ext cx="5029200" cy="2606040"/>
          </a:xfrm>
          <a:prstGeom prst="rect">
            <a:avLst/>
          </a:prstGeom>
          <a:solidFill>
            <a:srgbClr val="F4F2EE"/>
          </a:solidFill>
          <a:ln w="12700">
            <a:solidFill>
              <a:srgbClr val="DCDCD4"/>
            </a:solidFill>
            <a:prstDash val="solid"/>
          </a:ln>
        </p:spPr>
      </p:sp>
      <p:sp>
        <p:nvSpPr>
          <p:cNvPr id="5" name="Text 3"/>
          <p:cNvSpPr/>
          <p:nvPr/>
        </p:nvSpPr>
        <p:spPr>
          <a:xfrm>
            <a:off x="694944" y="1810512"/>
            <a:ext cx="4773168" cy="242316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B0  t1 = 2                 --&gt; B1</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B1  L1:                    --&gt; B3, B2</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if t1 &lt;= 0 goto L2</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B2  PARAM 0 ... CALL riff</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t1 = t1 - 1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goto L1                --&gt; B1  [back edge]</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B3  L2:  RET</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dominators   B0:{B0} B1:{B0,B1}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B2:{B0,B1,B2} B3:{B0,B1,B3}</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natural loop header B1, tail B2, body {B1,B2}</a:t>
            </a:r>
            <a:endParaRPr lang="en-US" sz="1050" dirty="0"/>
          </a:p>
        </p:txBody>
      </p:sp>
      <p:sp>
        <p:nvSpPr>
          <p:cNvPr id="6" name="Text 4"/>
          <p:cNvSpPr/>
          <p:nvPr/>
        </p:nvSpPr>
        <p:spPr>
          <a:xfrm>
            <a:off x="566928" y="4434840"/>
            <a:ext cx="502920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A back edge whose head dominates its tail is a natural loop — which is how the unroller knows what it may unroll.</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26480" y="1719072"/>
          <a:ext cx="5468112" cy="914400"/>
        </p:xfrm>
        <a:graphic>
          <a:graphicData uri="http://schemas.openxmlformats.org/drawingml/2006/table">
            <a:tbl>
              <a:tblPr/>
              <a:tblGrid>
                <a:gridCol w="1691640"/>
                <a:gridCol w="1005840"/>
                <a:gridCol w="1143000"/>
                <a:gridCol w="162763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analysis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meet</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live variables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backward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union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dead-code elimination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reaching definitions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forward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union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copy propagation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available expressions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forward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intersection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common subexpressions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dominators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forward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intersection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finding loops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definitely assigned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forward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intersection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the code verifier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8" name="Shape 5"/>
          <p:cNvSpPr/>
          <p:nvPr/>
        </p:nvSpPr>
        <p:spPr>
          <a:xfrm>
            <a:off x="6126480" y="3703320"/>
            <a:ext cx="5468112" cy="1874520"/>
          </a:xfrm>
          <a:prstGeom prst="rect">
            <a:avLst/>
          </a:prstGeom>
          <a:solidFill>
            <a:srgbClr val="F4F2EE"/>
          </a:solidFill>
          <a:ln w="12700">
            <a:solidFill>
              <a:srgbClr val="DCDCD4"/>
            </a:solidFill>
            <a:prstDash val="solid"/>
          </a:ln>
        </p:spPr>
      </p:sp>
      <p:sp>
        <p:nvSpPr>
          <p:cNvPr id="9" name="Text 6"/>
          <p:cNvSpPr/>
          <p:nvPr/>
        </p:nvSpPr>
        <p:spPr>
          <a:xfrm>
            <a:off x="6254496" y="3794760"/>
            <a:ext cx="5212080" cy="169164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live variables, every iteration recorded</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iteration 1   B0 IN {}      OUT {t1}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B1 IN {t1}    OUT {t1}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B2 IN {t1}    OUT {t1}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iteration 2   (unchanged)</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iteration 3   (unchanged)  &lt;-- fixed point</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the report shows all three rounds, not just</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the answer -- because the iteration IS the topic</a:t>
            </a:r>
            <a:endParaRPr lang="en-US" sz="1050" dirty="0"/>
          </a:p>
        </p:txBody>
      </p:sp>
      <p:sp>
        <p:nvSpPr>
          <p:cNvPr id="10" name="Text 7"/>
          <p:cNvSpPr/>
          <p:nvPr/>
        </p:nvSpPr>
        <p:spPr>
          <a:xfrm>
            <a:off x="6126480" y="5687568"/>
            <a:ext cx="5468112"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A test asserts that the last two iterations are identical. That is what "fixed point" means.</a:t>
            </a:r>
            <a:endParaRPr lang="en-US" sz="1100" dirty="0"/>
          </a:p>
        </p:txBody>
      </p:sp>
      <p:sp>
        <p:nvSpPr>
          <p:cNvPr id="11" name="Text 8"/>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5 · data flow</a:t>
            </a:r>
            <a:endParaRPr lang="en-US" sz="1000" dirty="0"/>
          </a:p>
        </p:txBody>
      </p:sp>
      <p:sp>
        <p:nvSpPr>
          <p:cNvPr id="12" name="Text 9"/>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6 — activation records, for real</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A phrase call pushes a frame. The VM shows you the stack while it runs.</a:t>
            </a:r>
            <a:endParaRPr lang="en-US" sz="1500" dirty="0"/>
          </a:p>
        </p:txBody>
      </p:sp>
      <p:sp>
        <p:nvSpPr>
          <p:cNvPr id="4" name="Text 2"/>
          <p:cNvSpPr/>
          <p:nvPr/>
        </p:nvSpPr>
        <p:spPr>
          <a:xfrm>
            <a:off x="566928" y="1700784"/>
            <a:ext cx="4937760" cy="274320"/>
          </a:xfrm>
          <a:prstGeom prst="rect">
            <a:avLst/>
          </a:prstGeom>
          <a:noFill/>
          <a:ln/>
        </p:spPr>
        <p:txBody>
          <a:bodyPr wrap="square" lIns="0" tIns="0" rIns="0" bIns="0" rtlCol="0" anchor="ctr"/>
          <a:lstStyle/>
          <a:p>
            <a:pPr indent="0" marL="0">
              <a:buNone/>
            </a:pPr>
            <a:r>
              <a:rPr lang="en-US" sz="1200" b="1" dirty="0">
                <a:solidFill>
                  <a:srgbClr val="12151C"/>
                </a:solidFill>
                <a:latin typeface="Calibri" pitchFamily="34" charset="0"/>
                <a:ea typeface="Calibri" pitchFamily="34" charset="-122"/>
                <a:cs typeface="Calibri" pitchFamily="34" charset="-120"/>
              </a:rPr>
              <a:t>frame layout for phrase riff(t)</a:t>
            </a:r>
            <a:endParaRPr lang="en-US" sz="1200" dirty="0"/>
          </a:p>
        </p:txBody>
      </p:sp>
      <p:sp>
        <p:nvSpPr>
          <p:cNvPr id="5" name="Shape 3"/>
          <p:cNvSpPr/>
          <p:nvPr/>
        </p:nvSpPr>
        <p:spPr>
          <a:xfrm>
            <a:off x="566928" y="2029968"/>
            <a:ext cx="4434840" cy="402336"/>
          </a:xfrm>
          <a:prstGeom prst="rect">
            <a:avLst/>
          </a:prstGeom>
          <a:solidFill>
            <a:srgbClr val="FFFFFF"/>
          </a:solidFill>
          <a:ln w="12700">
            <a:solidFill>
              <a:srgbClr val="DCDCD4"/>
            </a:solidFill>
            <a:prstDash val="solid"/>
          </a:ln>
        </p:spPr>
      </p:sp>
      <p:sp>
        <p:nvSpPr>
          <p:cNvPr id="6" name="Shape 4"/>
          <p:cNvSpPr/>
          <p:nvPr/>
        </p:nvSpPr>
        <p:spPr>
          <a:xfrm>
            <a:off x="566928" y="2029968"/>
            <a:ext cx="91440" cy="402336"/>
          </a:xfrm>
          <a:prstGeom prst="rect">
            <a:avLst/>
          </a:prstGeom>
          <a:solidFill>
            <a:srgbClr val="7A1F3D"/>
          </a:solidFill>
          <a:ln w="12700">
            <a:solidFill>
              <a:srgbClr val="7A1F3D"/>
            </a:solidFill>
            <a:prstDash val="solid"/>
          </a:ln>
        </p:spPr>
      </p:sp>
      <p:sp>
        <p:nvSpPr>
          <p:cNvPr id="7" name="Text 5"/>
          <p:cNvSpPr/>
          <p:nvPr/>
        </p:nvSpPr>
        <p:spPr>
          <a:xfrm>
            <a:off x="786384" y="20299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return address</a:t>
            </a:r>
            <a:endParaRPr lang="en-US" sz="1150" dirty="0"/>
          </a:p>
        </p:txBody>
      </p:sp>
      <p:sp>
        <p:nvSpPr>
          <p:cNvPr id="8" name="Text 6"/>
          <p:cNvSpPr/>
          <p:nvPr/>
        </p:nvSpPr>
        <p:spPr>
          <a:xfrm>
            <a:off x="4224528" y="2029968"/>
            <a:ext cx="640080" cy="402336"/>
          </a:xfrm>
          <a:prstGeom prst="rect">
            <a:avLst/>
          </a:prstGeom>
          <a:noFill/>
          <a:ln/>
        </p:spPr>
        <p:txBody>
          <a:bodyPr wrap="square" lIns="0" tIns="0" rIns="0" bIns="0" rtlCol="0" anchor="ctr"/>
          <a:lstStyle/>
          <a:p>
            <a:pPr algn="r" indent="0" marL="0">
              <a:buNone/>
            </a:pPr>
            <a:r>
              <a:rPr lang="en-US" sz="1150" b="1" dirty="0">
                <a:solidFill>
                  <a:srgbClr val="7A1F3D"/>
                </a:solidFill>
                <a:latin typeface="Courier New" pitchFamily="34" charset="0"/>
                <a:ea typeface="Courier New" pitchFamily="34" charset="-122"/>
                <a:cs typeface="Courier New" pitchFamily="34" charset="-120"/>
              </a:rPr>
              <a:t>0</a:t>
            </a:r>
            <a:endParaRPr lang="en-US" sz="1150" dirty="0"/>
          </a:p>
        </p:txBody>
      </p:sp>
      <p:sp>
        <p:nvSpPr>
          <p:cNvPr id="9" name="Shape 7"/>
          <p:cNvSpPr/>
          <p:nvPr/>
        </p:nvSpPr>
        <p:spPr>
          <a:xfrm>
            <a:off x="566928" y="2487168"/>
            <a:ext cx="4434840" cy="402336"/>
          </a:xfrm>
          <a:prstGeom prst="rect">
            <a:avLst/>
          </a:prstGeom>
          <a:solidFill>
            <a:srgbClr val="FFFFFF"/>
          </a:solidFill>
          <a:ln w="12700">
            <a:solidFill>
              <a:srgbClr val="DCDCD4"/>
            </a:solidFill>
            <a:prstDash val="solid"/>
          </a:ln>
        </p:spPr>
      </p:sp>
      <p:sp>
        <p:nvSpPr>
          <p:cNvPr id="10" name="Shape 8"/>
          <p:cNvSpPr/>
          <p:nvPr/>
        </p:nvSpPr>
        <p:spPr>
          <a:xfrm>
            <a:off x="566928" y="2487168"/>
            <a:ext cx="91440" cy="402336"/>
          </a:xfrm>
          <a:prstGeom prst="rect">
            <a:avLst/>
          </a:prstGeom>
          <a:solidFill>
            <a:srgbClr val="7A1F3D"/>
          </a:solidFill>
          <a:ln w="12700">
            <a:solidFill>
              <a:srgbClr val="7A1F3D"/>
            </a:solidFill>
            <a:prstDash val="solid"/>
          </a:ln>
        </p:spPr>
      </p:sp>
      <p:sp>
        <p:nvSpPr>
          <p:cNvPr id="11" name="Text 9"/>
          <p:cNvSpPr/>
          <p:nvPr/>
        </p:nvSpPr>
        <p:spPr>
          <a:xfrm>
            <a:off x="786384" y="24871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control link</a:t>
            </a:r>
            <a:endParaRPr lang="en-US" sz="1150" dirty="0"/>
          </a:p>
        </p:txBody>
      </p:sp>
      <p:sp>
        <p:nvSpPr>
          <p:cNvPr id="12" name="Text 10"/>
          <p:cNvSpPr/>
          <p:nvPr/>
        </p:nvSpPr>
        <p:spPr>
          <a:xfrm>
            <a:off x="4224528" y="2487168"/>
            <a:ext cx="640080" cy="402336"/>
          </a:xfrm>
          <a:prstGeom prst="rect">
            <a:avLst/>
          </a:prstGeom>
          <a:noFill/>
          <a:ln/>
        </p:spPr>
        <p:txBody>
          <a:bodyPr wrap="square" lIns="0" tIns="0" rIns="0" bIns="0" rtlCol="0" anchor="ctr"/>
          <a:lstStyle/>
          <a:p>
            <a:pPr algn="r" indent="0" marL="0">
              <a:buNone/>
            </a:pPr>
            <a:r>
              <a:rPr lang="en-US" sz="1150" b="1" dirty="0">
                <a:solidFill>
                  <a:srgbClr val="7A1F3D"/>
                </a:solidFill>
                <a:latin typeface="Courier New" pitchFamily="34" charset="0"/>
                <a:ea typeface="Courier New" pitchFamily="34" charset="-122"/>
                <a:cs typeface="Courier New" pitchFamily="34" charset="-120"/>
              </a:rPr>
              <a:t>1</a:t>
            </a:r>
            <a:endParaRPr lang="en-US" sz="1150" dirty="0"/>
          </a:p>
        </p:txBody>
      </p:sp>
      <p:sp>
        <p:nvSpPr>
          <p:cNvPr id="13" name="Shape 11"/>
          <p:cNvSpPr/>
          <p:nvPr/>
        </p:nvSpPr>
        <p:spPr>
          <a:xfrm>
            <a:off x="566928" y="2944368"/>
            <a:ext cx="4434840" cy="402336"/>
          </a:xfrm>
          <a:prstGeom prst="rect">
            <a:avLst/>
          </a:prstGeom>
          <a:solidFill>
            <a:srgbClr val="FFFFFF"/>
          </a:solidFill>
          <a:ln w="12700">
            <a:solidFill>
              <a:srgbClr val="DCDCD4"/>
            </a:solidFill>
            <a:prstDash val="solid"/>
          </a:ln>
        </p:spPr>
      </p:sp>
      <p:sp>
        <p:nvSpPr>
          <p:cNvPr id="14" name="Shape 12"/>
          <p:cNvSpPr/>
          <p:nvPr/>
        </p:nvSpPr>
        <p:spPr>
          <a:xfrm>
            <a:off x="566928" y="2944368"/>
            <a:ext cx="91440" cy="402336"/>
          </a:xfrm>
          <a:prstGeom prst="rect">
            <a:avLst/>
          </a:prstGeom>
          <a:solidFill>
            <a:srgbClr val="1F6F6B"/>
          </a:solidFill>
          <a:ln w="12700">
            <a:solidFill>
              <a:srgbClr val="1F6F6B"/>
            </a:solidFill>
            <a:prstDash val="solid"/>
          </a:ln>
        </p:spPr>
      </p:sp>
      <p:sp>
        <p:nvSpPr>
          <p:cNvPr id="15" name="Text 13"/>
          <p:cNvSpPr/>
          <p:nvPr/>
        </p:nvSpPr>
        <p:spPr>
          <a:xfrm>
            <a:off x="786384" y="29443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$off  (transposition)</a:t>
            </a:r>
            <a:endParaRPr lang="en-US" sz="1150" dirty="0"/>
          </a:p>
        </p:txBody>
      </p:sp>
      <p:sp>
        <p:nvSpPr>
          <p:cNvPr id="16" name="Text 14"/>
          <p:cNvSpPr/>
          <p:nvPr/>
        </p:nvSpPr>
        <p:spPr>
          <a:xfrm>
            <a:off x="4224528" y="2944368"/>
            <a:ext cx="640080" cy="402336"/>
          </a:xfrm>
          <a:prstGeom prst="rect">
            <a:avLst/>
          </a:prstGeom>
          <a:noFill/>
          <a:ln/>
        </p:spPr>
        <p:txBody>
          <a:bodyPr wrap="square" lIns="0" tIns="0" rIns="0" bIns="0" rtlCol="0" anchor="ctr"/>
          <a:lstStyle/>
          <a:p>
            <a:pPr algn="r" indent="0" marL="0">
              <a:buNone/>
            </a:pPr>
            <a:r>
              <a:rPr lang="en-US" sz="1150" b="1" dirty="0">
                <a:solidFill>
                  <a:srgbClr val="1F6F6B"/>
                </a:solidFill>
                <a:latin typeface="Courier New" pitchFamily="34" charset="0"/>
                <a:ea typeface="Courier New" pitchFamily="34" charset="-122"/>
                <a:cs typeface="Courier New" pitchFamily="34" charset="-120"/>
              </a:rPr>
              <a:t>2</a:t>
            </a:r>
            <a:endParaRPr lang="en-US" sz="1150" dirty="0"/>
          </a:p>
        </p:txBody>
      </p:sp>
      <p:sp>
        <p:nvSpPr>
          <p:cNvPr id="17" name="Shape 15"/>
          <p:cNvSpPr/>
          <p:nvPr/>
        </p:nvSpPr>
        <p:spPr>
          <a:xfrm>
            <a:off x="566928" y="3401568"/>
            <a:ext cx="4434840" cy="402336"/>
          </a:xfrm>
          <a:prstGeom prst="rect">
            <a:avLst/>
          </a:prstGeom>
          <a:solidFill>
            <a:srgbClr val="FFFFFF"/>
          </a:solidFill>
          <a:ln w="12700">
            <a:solidFill>
              <a:srgbClr val="DCDCD4"/>
            </a:solidFill>
            <a:prstDash val="solid"/>
          </a:ln>
        </p:spPr>
      </p:sp>
      <p:sp>
        <p:nvSpPr>
          <p:cNvPr id="18" name="Shape 16"/>
          <p:cNvSpPr/>
          <p:nvPr/>
        </p:nvSpPr>
        <p:spPr>
          <a:xfrm>
            <a:off x="566928" y="3401568"/>
            <a:ext cx="91440" cy="402336"/>
          </a:xfrm>
          <a:prstGeom prst="rect">
            <a:avLst/>
          </a:prstGeom>
          <a:solidFill>
            <a:srgbClr val="1F6F6B"/>
          </a:solidFill>
          <a:ln w="12700">
            <a:solidFill>
              <a:srgbClr val="1F6F6B"/>
            </a:solidFill>
            <a:prstDash val="solid"/>
          </a:ln>
        </p:spPr>
      </p:sp>
      <p:sp>
        <p:nvSpPr>
          <p:cNvPr id="19" name="Text 17"/>
          <p:cNvSpPr/>
          <p:nvPr/>
        </p:nvSpPr>
        <p:spPr>
          <a:xfrm>
            <a:off x="786384" y="34015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$sn   (stretch numerator)</a:t>
            </a:r>
            <a:endParaRPr lang="en-US" sz="1150" dirty="0"/>
          </a:p>
        </p:txBody>
      </p:sp>
      <p:sp>
        <p:nvSpPr>
          <p:cNvPr id="20" name="Text 18"/>
          <p:cNvSpPr/>
          <p:nvPr/>
        </p:nvSpPr>
        <p:spPr>
          <a:xfrm>
            <a:off x="4224528" y="3401568"/>
            <a:ext cx="640080" cy="402336"/>
          </a:xfrm>
          <a:prstGeom prst="rect">
            <a:avLst/>
          </a:prstGeom>
          <a:noFill/>
          <a:ln/>
        </p:spPr>
        <p:txBody>
          <a:bodyPr wrap="square" lIns="0" tIns="0" rIns="0" bIns="0" rtlCol="0" anchor="ctr"/>
          <a:lstStyle/>
          <a:p>
            <a:pPr algn="r" indent="0" marL="0">
              <a:buNone/>
            </a:pPr>
            <a:r>
              <a:rPr lang="en-US" sz="1150" b="1" dirty="0">
                <a:solidFill>
                  <a:srgbClr val="1F6F6B"/>
                </a:solidFill>
                <a:latin typeface="Courier New" pitchFamily="34" charset="0"/>
                <a:ea typeface="Courier New" pitchFamily="34" charset="-122"/>
                <a:cs typeface="Courier New" pitchFamily="34" charset="-120"/>
              </a:rPr>
              <a:t>3</a:t>
            </a:r>
            <a:endParaRPr lang="en-US" sz="1150" dirty="0"/>
          </a:p>
        </p:txBody>
      </p:sp>
      <p:sp>
        <p:nvSpPr>
          <p:cNvPr id="21" name="Shape 19"/>
          <p:cNvSpPr/>
          <p:nvPr/>
        </p:nvSpPr>
        <p:spPr>
          <a:xfrm>
            <a:off x="566928" y="3858768"/>
            <a:ext cx="4434840" cy="402336"/>
          </a:xfrm>
          <a:prstGeom prst="rect">
            <a:avLst/>
          </a:prstGeom>
          <a:solidFill>
            <a:srgbClr val="FFFFFF"/>
          </a:solidFill>
          <a:ln w="12700">
            <a:solidFill>
              <a:srgbClr val="DCDCD4"/>
            </a:solidFill>
            <a:prstDash val="solid"/>
          </a:ln>
        </p:spPr>
      </p:sp>
      <p:sp>
        <p:nvSpPr>
          <p:cNvPr id="22" name="Shape 20"/>
          <p:cNvSpPr/>
          <p:nvPr/>
        </p:nvSpPr>
        <p:spPr>
          <a:xfrm>
            <a:off x="566928" y="3858768"/>
            <a:ext cx="91440" cy="402336"/>
          </a:xfrm>
          <a:prstGeom prst="rect">
            <a:avLst/>
          </a:prstGeom>
          <a:solidFill>
            <a:srgbClr val="1F6F6B"/>
          </a:solidFill>
          <a:ln w="12700">
            <a:solidFill>
              <a:srgbClr val="1F6F6B"/>
            </a:solidFill>
            <a:prstDash val="solid"/>
          </a:ln>
        </p:spPr>
      </p:sp>
      <p:sp>
        <p:nvSpPr>
          <p:cNvPr id="23" name="Text 21"/>
          <p:cNvSpPr/>
          <p:nvPr/>
        </p:nvSpPr>
        <p:spPr>
          <a:xfrm>
            <a:off x="786384" y="38587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$sd   (stretch denominator)</a:t>
            </a:r>
            <a:endParaRPr lang="en-US" sz="1150" dirty="0"/>
          </a:p>
        </p:txBody>
      </p:sp>
      <p:sp>
        <p:nvSpPr>
          <p:cNvPr id="24" name="Text 22"/>
          <p:cNvSpPr/>
          <p:nvPr/>
        </p:nvSpPr>
        <p:spPr>
          <a:xfrm>
            <a:off x="4224528" y="3858768"/>
            <a:ext cx="640080" cy="402336"/>
          </a:xfrm>
          <a:prstGeom prst="rect">
            <a:avLst/>
          </a:prstGeom>
          <a:noFill/>
          <a:ln/>
        </p:spPr>
        <p:txBody>
          <a:bodyPr wrap="square" lIns="0" tIns="0" rIns="0" bIns="0" rtlCol="0" anchor="ctr"/>
          <a:lstStyle/>
          <a:p>
            <a:pPr algn="r" indent="0" marL="0">
              <a:buNone/>
            </a:pPr>
            <a:r>
              <a:rPr lang="en-US" sz="1150" b="1" dirty="0">
                <a:solidFill>
                  <a:srgbClr val="1F6F6B"/>
                </a:solidFill>
                <a:latin typeface="Courier New" pitchFamily="34" charset="0"/>
                <a:ea typeface="Courier New" pitchFamily="34" charset="-122"/>
                <a:cs typeface="Courier New" pitchFamily="34" charset="-120"/>
              </a:rPr>
              <a:t>4</a:t>
            </a:r>
            <a:endParaRPr lang="en-US" sz="1150" dirty="0"/>
          </a:p>
        </p:txBody>
      </p:sp>
      <p:sp>
        <p:nvSpPr>
          <p:cNvPr id="25" name="Shape 23"/>
          <p:cNvSpPr/>
          <p:nvPr/>
        </p:nvSpPr>
        <p:spPr>
          <a:xfrm>
            <a:off x="566928" y="4315968"/>
            <a:ext cx="4434840" cy="402336"/>
          </a:xfrm>
          <a:prstGeom prst="rect">
            <a:avLst/>
          </a:prstGeom>
          <a:solidFill>
            <a:srgbClr val="FFFFFF"/>
          </a:solidFill>
          <a:ln w="12700">
            <a:solidFill>
              <a:srgbClr val="DCDCD4"/>
            </a:solidFill>
            <a:prstDash val="solid"/>
          </a:ln>
        </p:spPr>
      </p:sp>
      <p:sp>
        <p:nvSpPr>
          <p:cNvPr id="26" name="Shape 24"/>
          <p:cNvSpPr/>
          <p:nvPr/>
        </p:nvSpPr>
        <p:spPr>
          <a:xfrm>
            <a:off x="566928" y="4315968"/>
            <a:ext cx="91440" cy="402336"/>
          </a:xfrm>
          <a:prstGeom prst="rect">
            <a:avLst/>
          </a:prstGeom>
          <a:solidFill>
            <a:srgbClr val="B4762C"/>
          </a:solidFill>
          <a:ln w="12700">
            <a:solidFill>
              <a:srgbClr val="B4762C"/>
            </a:solidFill>
            <a:prstDash val="solid"/>
          </a:ln>
        </p:spPr>
      </p:sp>
      <p:sp>
        <p:nvSpPr>
          <p:cNvPr id="27" name="Text 25"/>
          <p:cNvSpPr/>
          <p:nvPr/>
        </p:nvSpPr>
        <p:spPr>
          <a:xfrm>
            <a:off x="786384" y="43159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$t    (user parameter)</a:t>
            </a:r>
            <a:endParaRPr lang="en-US" sz="1150" dirty="0"/>
          </a:p>
        </p:txBody>
      </p:sp>
      <p:sp>
        <p:nvSpPr>
          <p:cNvPr id="28" name="Text 26"/>
          <p:cNvSpPr/>
          <p:nvPr/>
        </p:nvSpPr>
        <p:spPr>
          <a:xfrm>
            <a:off x="4224528" y="4315968"/>
            <a:ext cx="640080" cy="402336"/>
          </a:xfrm>
          <a:prstGeom prst="rect">
            <a:avLst/>
          </a:prstGeom>
          <a:noFill/>
          <a:ln/>
        </p:spPr>
        <p:txBody>
          <a:bodyPr wrap="square" lIns="0" tIns="0" rIns="0" bIns="0" rtlCol="0" anchor="ctr"/>
          <a:lstStyle/>
          <a:p>
            <a:pPr algn="r" indent="0" marL="0">
              <a:buNone/>
            </a:pPr>
            <a:r>
              <a:rPr lang="en-US" sz="1150" b="1" dirty="0">
                <a:solidFill>
                  <a:srgbClr val="B4762C"/>
                </a:solidFill>
                <a:latin typeface="Courier New" pitchFamily="34" charset="0"/>
                <a:ea typeface="Courier New" pitchFamily="34" charset="-122"/>
                <a:cs typeface="Courier New" pitchFamily="34" charset="-120"/>
              </a:rPr>
              <a:t>5</a:t>
            </a:r>
            <a:endParaRPr lang="en-US" sz="1150" dirty="0"/>
          </a:p>
        </p:txBody>
      </p:sp>
      <p:sp>
        <p:nvSpPr>
          <p:cNvPr id="29" name="Shape 27"/>
          <p:cNvSpPr/>
          <p:nvPr/>
        </p:nvSpPr>
        <p:spPr>
          <a:xfrm>
            <a:off x="566928" y="4773168"/>
            <a:ext cx="4434840" cy="402336"/>
          </a:xfrm>
          <a:prstGeom prst="rect">
            <a:avLst/>
          </a:prstGeom>
          <a:solidFill>
            <a:srgbClr val="FFFFFF"/>
          </a:solidFill>
          <a:ln w="12700">
            <a:solidFill>
              <a:srgbClr val="DCDCD4"/>
            </a:solidFill>
            <a:prstDash val="solid"/>
          </a:ln>
        </p:spPr>
      </p:sp>
      <p:sp>
        <p:nvSpPr>
          <p:cNvPr id="30" name="Shape 28"/>
          <p:cNvSpPr/>
          <p:nvPr/>
        </p:nvSpPr>
        <p:spPr>
          <a:xfrm>
            <a:off x="566928" y="4773168"/>
            <a:ext cx="91440" cy="402336"/>
          </a:xfrm>
          <a:prstGeom prst="rect">
            <a:avLst/>
          </a:prstGeom>
          <a:solidFill>
            <a:srgbClr val="6B6F76"/>
          </a:solidFill>
          <a:ln w="12700">
            <a:solidFill>
              <a:srgbClr val="6B6F76"/>
            </a:solidFill>
            <a:prstDash val="solid"/>
          </a:ln>
        </p:spPr>
      </p:sp>
      <p:sp>
        <p:nvSpPr>
          <p:cNvPr id="31" name="Text 29"/>
          <p:cNvSpPr/>
          <p:nvPr/>
        </p:nvSpPr>
        <p:spPr>
          <a:xfrm>
            <a:off x="786384" y="4773168"/>
            <a:ext cx="3200400" cy="402336"/>
          </a:xfrm>
          <a:prstGeom prst="rect">
            <a:avLst/>
          </a:prstGeom>
          <a:noFill/>
          <a:ln/>
        </p:spPr>
        <p:txBody>
          <a:bodyPr wrap="square" lIns="0" tIns="0" rIns="0" bIns="0" rtlCol="0" anchor="ctr"/>
          <a:lstStyle/>
          <a:p>
            <a:pPr indent="0" marL="0">
              <a:buNone/>
            </a:pPr>
            <a:r>
              <a:rPr lang="en-US" sz="1150" dirty="0">
                <a:solidFill>
                  <a:srgbClr val="12151C"/>
                </a:solidFill>
                <a:latin typeface="Courier New" pitchFamily="34" charset="0"/>
                <a:ea typeface="Courier New" pitchFamily="34" charset="-122"/>
                <a:cs typeface="Courier New" pitchFamily="34" charset="-120"/>
              </a:rPr>
              <a:t>locals: t1, t2, t3 ...</a:t>
            </a:r>
            <a:endParaRPr lang="en-US" sz="1150" dirty="0"/>
          </a:p>
        </p:txBody>
      </p:sp>
      <p:sp>
        <p:nvSpPr>
          <p:cNvPr id="32" name="Text 30"/>
          <p:cNvSpPr/>
          <p:nvPr/>
        </p:nvSpPr>
        <p:spPr>
          <a:xfrm>
            <a:off x="4224528" y="4773168"/>
            <a:ext cx="640080" cy="402336"/>
          </a:xfrm>
          <a:prstGeom prst="rect">
            <a:avLst/>
          </a:prstGeom>
          <a:noFill/>
          <a:ln/>
        </p:spPr>
        <p:txBody>
          <a:bodyPr wrap="square" lIns="0" tIns="0" rIns="0" bIns="0" rtlCol="0" anchor="ctr"/>
          <a:lstStyle/>
          <a:p>
            <a:pPr algn="r" indent="0" marL="0">
              <a:buNone/>
            </a:pPr>
            <a:r>
              <a:rPr lang="en-US" sz="1150" b="1" dirty="0">
                <a:solidFill>
                  <a:srgbClr val="6B6F76"/>
                </a:solidFill>
                <a:latin typeface="Courier New" pitchFamily="34" charset="0"/>
                <a:ea typeface="Courier New" pitchFamily="34" charset="-122"/>
                <a:cs typeface="Courier New" pitchFamily="34" charset="-120"/>
              </a:rPr>
              <a:t>6+</a:t>
            </a:r>
            <a:endParaRPr lang="en-US" sz="1150" dirty="0"/>
          </a:p>
        </p:txBody>
      </p:sp>
      <p:sp>
        <p:nvSpPr>
          <p:cNvPr id="33" name="Text 31"/>
          <p:cNvSpPr/>
          <p:nvPr/>
        </p:nvSpPr>
        <p:spPr>
          <a:xfrm>
            <a:off x="566928" y="5285232"/>
            <a:ext cx="493776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frame size 9 words · computed by irgen.frame_layout()</a:t>
            </a:r>
            <a:endParaRPr lang="en-US" sz="1100" dirty="0"/>
          </a:p>
        </p:txBody>
      </p:sp>
      <p:sp>
        <p:nvSpPr>
          <p:cNvPr id="34" name="Shape 32"/>
          <p:cNvSpPr/>
          <p:nvPr/>
        </p:nvSpPr>
        <p:spPr>
          <a:xfrm>
            <a:off x="5669280" y="1700784"/>
            <a:ext cx="5925312" cy="2331720"/>
          </a:xfrm>
          <a:prstGeom prst="rect">
            <a:avLst/>
          </a:prstGeom>
          <a:solidFill>
            <a:srgbClr val="F4F2EE"/>
          </a:solidFill>
          <a:ln w="12700">
            <a:solidFill>
              <a:srgbClr val="DCDCD4"/>
            </a:solidFill>
            <a:prstDash val="solid"/>
          </a:ln>
        </p:spPr>
      </p:sp>
      <p:sp>
        <p:nvSpPr>
          <p:cNvPr id="35" name="Text 33"/>
          <p:cNvSpPr/>
          <p:nvPr/>
        </p:nvSpPr>
        <p:spPr>
          <a:xfrm>
            <a:off x="5797296" y="1792224"/>
            <a:ext cx="5669280" cy="214884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the stack, printed while the program runs</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step 8</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voice lead [ret=-1, link=-1] {t1=2}</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phrase riff [ret=8, link=0] {$off=0,</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$sn=1, $sd=1, $t=0}</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step 49</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voice lead [ret=-1, link=-1] {t1=1}</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phrase riff [ret=8, link=0] {...}</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step 90</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voice lead [ret=-1, link=-1] {t1=0}</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phrase tail [ret=15, link=0] {...}</a:t>
            </a:r>
            <a:endParaRPr lang="en-US" sz="1050" dirty="0"/>
          </a:p>
        </p:txBody>
      </p:sp>
      <p:sp>
        <p:nvSpPr>
          <p:cNvPr id="36" name="Shape 34"/>
          <p:cNvSpPr/>
          <p:nvPr/>
        </p:nvSpPr>
        <p:spPr>
          <a:xfrm>
            <a:off x="5669280" y="4206240"/>
            <a:ext cx="5925312" cy="1783080"/>
          </a:xfrm>
          <a:prstGeom prst="roundRect">
            <a:avLst>
              <a:gd name="adj" fmla="val 3077"/>
            </a:avLst>
          </a:prstGeom>
          <a:solidFill>
            <a:srgbClr val="F4F2EE"/>
          </a:solidFill>
          <a:ln w="12700">
            <a:solidFill>
              <a:srgbClr val="DCDCD4"/>
            </a:solidFill>
            <a:prstDash val="solid"/>
          </a:ln>
        </p:spPr>
      </p:sp>
      <p:sp>
        <p:nvSpPr>
          <p:cNvPr id="37" name="Text 35"/>
          <p:cNvSpPr/>
          <p:nvPr/>
        </p:nvSpPr>
        <p:spPr>
          <a:xfrm>
            <a:off x="5833872" y="4297680"/>
            <a:ext cx="5577840" cy="274320"/>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The VM is sandboxed</a:t>
            </a:r>
            <a:endParaRPr lang="en-US" sz="1250" dirty="0"/>
          </a:p>
        </p:txBody>
      </p:sp>
      <p:sp>
        <p:nvSpPr>
          <p:cNvPr id="38" name="Text 36"/>
          <p:cNvSpPr/>
          <p:nvPr/>
        </p:nvSpPr>
        <p:spPr>
          <a:xfrm>
            <a:off x="5833872" y="4608576"/>
            <a:ext cx="5577840" cy="1280160"/>
          </a:xfrm>
          <a:prstGeom prst="rect">
            <a:avLst/>
          </a:prstGeom>
          <a:noFill/>
          <a:ln/>
        </p:spPr>
        <p:txBody>
          <a:bodyPr wrap="square" lIns="0" tIns="0" rIns="0" bIns="0" rtlCol="0" anchor="ctr"/>
          <a:lstStyle/>
          <a:p>
            <a:pPr indent="0" marL="0">
              <a:lnSpc>
                <a:spcPct val="120000"/>
              </a:lnSpc>
              <a:buNone/>
            </a:pPr>
            <a:r>
              <a:rPr lang="en-US" sz="1150" dirty="0">
                <a:solidFill>
                  <a:srgbClr val="6B6F76"/>
                </a:solidFill>
                <a:latin typeface="Calibri" pitchFamily="34" charset="0"/>
                <a:ea typeface="Calibri" pitchFamily="34" charset="-122"/>
                <a:cs typeface="Calibri" pitchFamily="34" charset="-120"/>
              </a:rPr>
              <a:t>4 000 000 instructions, 64 frames, 200 000 events. A program that does not terminate is stopped and reported as an error instead of hanging the tool — which matters, because 'repeat n of' with a computed n is easy to get wrong. There is a test that an infinite loop is caught.</a:t>
            </a:r>
            <a:endParaRPr lang="en-US" sz="1150" dirty="0"/>
          </a:p>
        </p:txBody>
      </p:sp>
      <p:sp>
        <p:nvSpPr>
          <p:cNvPr id="39" name="Text 37"/>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6 · runtime organisation</a:t>
            </a:r>
            <a:endParaRPr lang="en-US" sz="1000" dirty="0"/>
          </a:p>
        </p:txBody>
      </p:sp>
      <p:sp>
        <p:nvSpPr>
          <p:cNvPr id="40" name="Text 38"/>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Module 6 — register allocation, where the registers are MIDI channels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Sixteen channels. Channel 10 is reserved for percussion. Colour the graph or spill.</a:t>
            </a:r>
            <a:endParaRPr lang="en-US" sz="1500" dirty="0"/>
          </a:p>
        </p:txBody>
      </p:sp>
      <p:sp>
        <p:nvSpPr>
          <p:cNvPr id="4" name="Shape 2"/>
          <p:cNvSpPr/>
          <p:nvPr/>
        </p:nvSpPr>
        <p:spPr>
          <a:xfrm>
            <a:off x="2834640" y="2057400"/>
            <a:ext cx="1174022" cy="852977"/>
          </a:xfrm>
          <a:prstGeom prst="line">
            <a:avLst/>
          </a:prstGeom>
          <a:noFill/>
          <a:ln w="15875">
            <a:solidFill>
              <a:srgbClr val="DCDCD4"/>
            </a:solidFill>
            <a:prstDash val="solid"/>
          </a:ln>
        </p:spPr>
      </p:sp>
      <p:sp>
        <p:nvSpPr>
          <p:cNvPr id="5" name="Shape 3"/>
          <p:cNvSpPr/>
          <p:nvPr/>
        </p:nvSpPr>
        <p:spPr>
          <a:xfrm>
            <a:off x="2834640" y="2057400"/>
            <a:ext cx="725586" cy="2233123"/>
          </a:xfrm>
          <a:prstGeom prst="line">
            <a:avLst/>
          </a:prstGeom>
          <a:noFill/>
          <a:ln w="15875">
            <a:solidFill>
              <a:srgbClr val="DCDCD4"/>
            </a:solidFill>
            <a:prstDash val="solid"/>
          </a:ln>
        </p:spPr>
      </p:sp>
      <p:sp>
        <p:nvSpPr>
          <p:cNvPr id="6" name="Shape 4"/>
          <p:cNvSpPr/>
          <p:nvPr/>
        </p:nvSpPr>
        <p:spPr>
          <a:xfrm>
            <a:off x="2834640" y="2057400"/>
            <a:ext cx="-725586" cy="2233123"/>
          </a:xfrm>
          <a:prstGeom prst="line">
            <a:avLst/>
          </a:prstGeom>
          <a:noFill/>
          <a:ln w="15875">
            <a:solidFill>
              <a:srgbClr val="DCDCD4"/>
            </a:solidFill>
            <a:prstDash val="solid"/>
          </a:ln>
        </p:spPr>
      </p:sp>
      <p:sp>
        <p:nvSpPr>
          <p:cNvPr id="7" name="Shape 5"/>
          <p:cNvSpPr/>
          <p:nvPr/>
        </p:nvSpPr>
        <p:spPr>
          <a:xfrm>
            <a:off x="2834640" y="2057400"/>
            <a:ext cx="-1174022" cy="852977"/>
          </a:xfrm>
          <a:prstGeom prst="line">
            <a:avLst/>
          </a:prstGeom>
          <a:noFill/>
          <a:ln w="15875">
            <a:solidFill>
              <a:srgbClr val="DCDCD4"/>
            </a:solidFill>
            <a:prstDash val="solid"/>
          </a:ln>
        </p:spPr>
      </p:sp>
      <p:sp>
        <p:nvSpPr>
          <p:cNvPr id="8" name="Shape 6"/>
          <p:cNvSpPr/>
          <p:nvPr/>
        </p:nvSpPr>
        <p:spPr>
          <a:xfrm>
            <a:off x="4008662" y="2910377"/>
            <a:ext cx="-448437" cy="1380146"/>
          </a:xfrm>
          <a:prstGeom prst="line">
            <a:avLst/>
          </a:prstGeom>
          <a:noFill/>
          <a:ln w="15875">
            <a:solidFill>
              <a:srgbClr val="DCDCD4"/>
            </a:solidFill>
            <a:prstDash val="solid"/>
          </a:ln>
        </p:spPr>
      </p:sp>
      <p:sp>
        <p:nvSpPr>
          <p:cNvPr id="9" name="Shape 7"/>
          <p:cNvSpPr/>
          <p:nvPr/>
        </p:nvSpPr>
        <p:spPr>
          <a:xfrm>
            <a:off x="4008662" y="2910377"/>
            <a:ext cx="-1899608" cy="1380146"/>
          </a:xfrm>
          <a:prstGeom prst="line">
            <a:avLst/>
          </a:prstGeom>
          <a:noFill/>
          <a:ln w="15875">
            <a:solidFill>
              <a:srgbClr val="DCDCD4"/>
            </a:solidFill>
            <a:prstDash val="solid"/>
          </a:ln>
        </p:spPr>
      </p:sp>
      <p:sp>
        <p:nvSpPr>
          <p:cNvPr id="10" name="Shape 8"/>
          <p:cNvSpPr/>
          <p:nvPr/>
        </p:nvSpPr>
        <p:spPr>
          <a:xfrm>
            <a:off x="4008662" y="2910377"/>
            <a:ext cx="-2348044" cy="0"/>
          </a:xfrm>
          <a:prstGeom prst="line">
            <a:avLst/>
          </a:prstGeom>
          <a:noFill/>
          <a:ln w="15875">
            <a:solidFill>
              <a:srgbClr val="DCDCD4"/>
            </a:solidFill>
            <a:prstDash val="solid"/>
          </a:ln>
        </p:spPr>
      </p:sp>
      <p:sp>
        <p:nvSpPr>
          <p:cNvPr id="11" name="Shape 9"/>
          <p:cNvSpPr/>
          <p:nvPr/>
        </p:nvSpPr>
        <p:spPr>
          <a:xfrm>
            <a:off x="3560226" y="4290523"/>
            <a:ext cx="-1451171" cy="0"/>
          </a:xfrm>
          <a:prstGeom prst="line">
            <a:avLst/>
          </a:prstGeom>
          <a:noFill/>
          <a:ln w="15875">
            <a:solidFill>
              <a:srgbClr val="DCDCD4"/>
            </a:solidFill>
            <a:prstDash val="solid"/>
          </a:ln>
        </p:spPr>
      </p:sp>
      <p:sp>
        <p:nvSpPr>
          <p:cNvPr id="12" name="Shape 10"/>
          <p:cNvSpPr/>
          <p:nvPr/>
        </p:nvSpPr>
        <p:spPr>
          <a:xfrm>
            <a:off x="3560226" y="4290523"/>
            <a:ext cx="-1899608" cy="-1380146"/>
          </a:xfrm>
          <a:prstGeom prst="line">
            <a:avLst/>
          </a:prstGeom>
          <a:noFill/>
          <a:ln w="15875">
            <a:solidFill>
              <a:srgbClr val="DCDCD4"/>
            </a:solidFill>
            <a:prstDash val="solid"/>
          </a:ln>
        </p:spPr>
      </p:sp>
      <p:sp>
        <p:nvSpPr>
          <p:cNvPr id="13" name="Shape 11"/>
          <p:cNvSpPr/>
          <p:nvPr/>
        </p:nvSpPr>
        <p:spPr>
          <a:xfrm>
            <a:off x="2109054" y="4290523"/>
            <a:ext cx="-448437" cy="-1380146"/>
          </a:xfrm>
          <a:prstGeom prst="line">
            <a:avLst/>
          </a:prstGeom>
          <a:noFill/>
          <a:ln w="15875">
            <a:solidFill>
              <a:srgbClr val="DCDCD4"/>
            </a:solidFill>
            <a:prstDash val="solid"/>
          </a:ln>
        </p:spPr>
      </p:sp>
      <p:sp>
        <p:nvSpPr>
          <p:cNvPr id="14" name="Shape 12"/>
          <p:cNvSpPr/>
          <p:nvPr/>
        </p:nvSpPr>
        <p:spPr>
          <a:xfrm>
            <a:off x="2450592" y="1810512"/>
            <a:ext cx="768096" cy="493776"/>
          </a:xfrm>
          <a:prstGeom prst="ellipse">
            <a:avLst/>
          </a:prstGeom>
          <a:solidFill>
            <a:srgbClr val="7A1F3D"/>
          </a:solidFill>
          <a:ln w="12700">
            <a:solidFill>
              <a:srgbClr val="7A1F3D"/>
            </a:solidFill>
            <a:prstDash val="solid"/>
          </a:ln>
        </p:spPr>
      </p:sp>
      <p:sp>
        <p:nvSpPr>
          <p:cNvPr id="15" name="Text 13"/>
          <p:cNvSpPr/>
          <p:nvPr/>
        </p:nvSpPr>
        <p:spPr>
          <a:xfrm>
            <a:off x="2450592" y="1810512"/>
            <a:ext cx="768096"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6" name="Shape 14"/>
          <p:cNvSpPr/>
          <p:nvPr/>
        </p:nvSpPr>
        <p:spPr>
          <a:xfrm>
            <a:off x="3624614" y="2663489"/>
            <a:ext cx="768096" cy="493776"/>
          </a:xfrm>
          <a:prstGeom prst="ellipse">
            <a:avLst/>
          </a:prstGeom>
          <a:solidFill>
            <a:srgbClr val="1F6F6B"/>
          </a:solidFill>
          <a:ln w="12700">
            <a:solidFill>
              <a:srgbClr val="1F6F6B"/>
            </a:solidFill>
            <a:prstDash val="solid"/>
          </a:ln>
        </p:spPr>
      </p:sp>
      <p:sp>
        <p:nvSpPr>
          <p:cNvPr id="17" name="Text 15"/>
          <p:cNvSpPr/>
          <p:nvPr/>
        </p:nvSpPr>
        <p:spPr>
          <a:xfrm>
            <a:off x="3624614" y="2663489"/>
            <a:ext cx="768096"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8" name="Shape 16"/>
          <p:cNvSpPr/>
          <p:nvPr/>
        </p:nvSpPr>
        <p:spPr>
          <a:xfrm>
            <a:off x="3176178" y="4043635"/>
            <a:ext cx="768096" cy="493776"/>
          </a:xfrm>
          <a:prstGeom prst="ellipse">
            <a:avLst/>
          </a:prstGeom>
          <a:solidFill>
            <a:srgbClr val="B4762C"/>
          </a:solidFill>
          <a:ln w="12700">
            <a:solidFill>
              <a:srgbClr val="B4762C"/>
            </a:solidFill>
            <a:prstDash val="solid"/>
          </a:ln>
        </p:spPr>
      </p:sp>
      <p:sp>
        <p:nvSpPr>
          <p:cNvPr id="19" name="Text 17"/>
          <p:cNvSpPr/>
          <p:nvPr/>
        </p:nvSpPr>
        <p:spPr>
          <a:xfrm>
            <a:off x="3176178" y="4043635"/>
            <a:ext cx="768096"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v3</a:t>
            </a:r>
            <a:endParaRPr lang="en-US" sz="1050" dirty="0"/>
          </a:p>
        </p:txBody>
      </p:sp>
      <p:sp>
        <p:nvSpPr>
          <p:cNvPr id="20" name="Shape 18"/>
          <p:cNvSpPr/>
          <p:nvPr/>
        </p:nvSpPr>
        <p:spPr>
          <a:xfrm>
            <a:off x="1725006" y="4043635"/>
            <a:ext cx="768096" cy="493776"/>
          </a:xfrm>
          <a:prstGeom prst="ellipse">
            <a:avLst/>
          </a:prstGeom>
          <a:solidFill>
            <a:srgbClr val="3C5AA6"/>
          </a:solidFill>
          <a:ln w="12700">
            <a:solidFill>
              <a:srgbClr val="3C5AA6"/>
            </a:solidFill>
            <a:prstDash val="solid"/>
          </a:ln>
        </p:spPr>
      </p:sp>
      <p:sp>
        <p:nvSpPr>
          <p:cNvPr id="21" name="Text 19"/>
          <p:cNvSpPr/>
          <p:nvPr/>
        </p:nvSpPr>
        <p:spPr>
          <a:xfrm>
            <a:off x="1725006" y="4043635"/>
            <a:ext cx="768096"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v4</a:t>
            </a:r>
            <a:endParaRPr lang="en-US" sz="1050" dirty="0"/>
          </a:p>
        </p:txBody>
      </p:sp>
      <p:sp>
        <p:nvSpPr>
          <p:cNvPr id="22" name="Shape 20"/>
          <p:cNvSpPr/>
          <p:nvPr/>
        </p:nvSpPr>
        <p:spPr>
          <a:xfrm>
            <a:off x="1276570" y="2663489"/>
            <a:ext cx="768096" cy="493776"/>
          </a:xfrm>
          <a:prstGeom prst="ellipse">
            <a:avLst/>
          </a:prstGeom>
          <a:solidFill>
            <a:srgbClr val="12151C"/>
          </a:solidFill>
          <a:ln w="12700">
            <a:solidFill>
              <a:srgbClr val="12151C"/>
            </a:solidFill>
            <a:prstDash val="solid"/>
          </a:ln>
        </p:spPr>
      </p:sp>
      <p:sp>
        <p:nvSpPr>
          <p:cNvPr id="23" name="Text 21"/>
          <p:cNvSpPr/>
          <p:nvPr/>
        </p:nvSpPr>
        <p:spPr>
          <a:xfrm>
            <a:off x="1276570" y="2663489"/>
            <a:ext cx="768096"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drums</a:t>
            </a:r>
            <a:endParaRPr lang="en-US" sz="1050" dirty="0"/>
          </a:p>
        </p:txBody>
      </p:sp>
      <p:sp>
        <p:nvSpPr>
          <p:cNvPr id="24" name="Text 22"/>
          <p:cNvSpPr/>
          <p:nvPr/>
        </p:nvSpPr>
        <p:spPr>
          <a:xfrm>
            <a:off x="566928" y="4709160"/>
            <a:ext cx="475488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an edge means the two voices sound at the same time, so they cannot share a channel</a:t>
            </a:r>
            <a:endParaRPr lang="en-US" sz="1100" dirty="0"/>
          </a:p>
        </p:txBody>
      </p:sp>
      <p:sp>
        <p:nvSpPr>
          <p:cNvPr id="25" name="Shape 23"/>
          <p:cNvSpPr/>
          <p:nvPr/>
        </p:nvSpPr>
        <p:spPr>
          <a:xfrm>
            <a:off x="566928" y="5074920"/>
            <a:ext cx="4754880" cy="1051560"/>
          </a:xfrm>
          <a:prstGeom prst="rect">
            <a:avLst/>
          </a:prstGeom>
          <a:solidFill>
            <a:srgbClr val="F4F2EE"/>
          </a:solidFill>
          <a:ln w="12700">
            <a:solidFill>
              <a:srgbClr val="DCDCD4"/>
            </a:solidFill>
            <a:prstDash val="solid"/>
          </a:ln>
        </p:spPr>
      </p:sp>
      <p:sp>
        <p:nvSpPr>
          <p:cNvPr id="26" name="Text 24"/>
          <p:cNvSpPr/>
          <p:nvPr/>
        </p:nvSpPr>
        <p:spPr>
          <a:xfrm>
            <a:off x="694944" y="5166360"/>
            <a:ext cx="4498848" cy="86868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live ranges are half-open: a voice that</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stops exactly when another starts does</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NOT need a second channel</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852160" y="1719072"/>
          <a:ext cx="5742432" cy="914400"/>
        </p:xfrm>
        <a:graphic>
          <a:graphicData uri="http://schemas.openxmlformats.org/drawingml/2006/table">
            <a:tbl>
              <a:tblPr/>
              <a:tblGrid>
                <a:gridCol w="1691640"/>
                <a:gridCol w="405079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  live ranges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first note to last note, per voice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interference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an edge for every overlapping pair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3  pre-colour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percussion is forced onto channel 10 (index 9)</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4  simplify</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repeatedly remove a node with degree &lt; 15 (Chaitin)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  select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colour in reverse order of removal</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6  spill</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if nothing can be removed, spill the voice with fewest notes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28" name="Shape 25"/>
          <p:cNvSpPr/>
          <p:nvPr/>
        </p:nvSpPr>
        <p:spPr>
          <a:xfrm>
            <a:off x="5852160" y="3931920"/>
            <a:ext cx="1783080" cy="822960"/>
          </a:xfrm>
          <a:prstGeom prst="roundRect">
            <a:avLst>
              <a:gd name="adj" fmla="val 6667"/>
            </a:avLst>
          </a:prstGeom>
          <a:solidFill>
            <a:srgbClr val="FFFFFF"/>
          </a:solidFill>
          <a:ln w="12700">
            <a:solidFill>
              <a:srgbClr val="DCDCD4"/>
            </a:solidFill>
            <a:prstDash val="solid"/>
          </a:ln>
        </p:spPr>
      </p:sp>
      <p:sp>
        <p:nvSpPr>
          <p:cNvPr id="29" name="Text 26"/>
          <p:cNvSpPr/>
          <p:nvPr/>
        </p:nvSpPr>
        <p:spPr>
          <a:xfrm>
            <a:off x="5943600" y="4041648"/>
            <a:ext cx="1600200" cy="427939"/>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17</a:t>
            </a:r>
            <a:endParaRPr lang="en-US" sz="2600" dirty="0"/>
          </a:p>
        </p:txBody>
      </p:sp>
      <p:sp>
        <p:nvSpPr>
          <p:cNvPr id="30" name="Text 27"/>
          <p:cNvSpPr/>
          <p:nvPr/>
        </p:nvSpPr>
        <p:spPr>
          <a:xfrm>
            <a:off x="5925312" y="4425696"/>
            <a:ext cx="1636776"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voices asked for</a:t>
            </a:r>
            <a:endParaRPr lang="en-US" sz="1050" dirty="0"/>
          </a:p>
        </p:txBody>
      </p:sp>
      <p:sp>
        <p:nvSpPr>
          <p:cNvPr id="31" name="Shape 28"/>
          <p:cNvSpPr/>
          <p:nvPr/>
        </p:nvSpPr>
        <p:spPr>
          <a:xfrm>
            <a:off x="7772400" y="3931920"/>
            <a:ext cx="1783080" cy="822960"/>
          </a:xfrm>
          <a:prstGeom prst="roundRect">
            <a:avLst>
              <a:gd name="adj" fmla="val 6667"/>
            </a:avLst>
          </a:prstGeom>
          <a:solidFill>
            <a:srgbClr val="FFFFFF"/>
          </a:solidFill>
          <a:ln w="12700">
            <a:solidFill>
              <a:srgbClr val="DCDCD4"/>
            </a:solidFill>
            <a:prstDash val="solid"/>
          </a:ln>
        </p:spPr>
      </p:sp>
      <p:sp>
        <p:nvSpPr>
          <p:cNvPr id="32" name="Text 29"/>
          <p:cNvSpPr/>
          <p:nvPr/>
        </p:nvSpPr>
        <p:spPr>
          <a:xfrm>
            <a:off x="7863840" y="4041648"/>
            <a:ext cx="1600200" cy="427939"/>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15</a:t>
            </a:r>
            <a:endParaRPr lang="en-US" sz="2600" dirty="0"/>
          </a:p>
        </p:txBody>
      </p:sp>
      <p:sp>
        <p:nvSpPr>
          <p:cNvPr id="33" name="Text 30"/>
          <p:cNvSpPr/>
          <p:nvPr/>
        </p:nvSpPr>
        <p:spPr>
          <a:xfrm>
            <a:off x="7845552" y="4425696"/>
            <a:ext cx="1636776"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channels available</a:t>
            </a:r>
            <a:endParaRPr lang="en-US" sz="1050" dirty="0"/>
          </a:p>
        </p:txBody>
      </p:sp>
      <p:sp>
        <p:nvSpPr>
          <p:cNvPr id="34" name="Shape 31"/>
          <p:cNvSpPr/>
          <p:nvPr/>
        </p:nvSpPr>
        <p:spPr>
          <a:xfrm>
            <a:off x="9692640" y="3931920"/>
            <a:ext cx="1901952" cy="822960"/>
          </a:xfrm>
          <a:prstGeom prst="roundRect">
            <a:avLst>
              <a:gd name="adj" fmla="val 6667"/>
            </a:avLst>
          </a:prstGeom>
          <a:solidFill>
            <a:srgbClr val="FFFFFF"/>
          </a:solidFill>
          <a:ln w="12700">
            <a:solidFill>
              <a:srgbClr val="DCDCD4"/>
            </a:solidFill>
            <a:prstDash val="solid"/>
          </a:ln>
        </p:spPr>
      </p:sp>
      <p:sp>
        <p:nvSpPr>
          <p:cNvPr id="35" name="Text 32"/>
          <p:cNvSpPr/>
          <p:nvPr/>
        </p:nvSpPr>
        <p:spPr>
          <a:xfrm>
            <a:off x="9784080" y="4041648"/>
            <a:ext cx="1719072" cy="427939"/>
          </a:xfrm>
          <a:prstGeom prst="rect">
            <a:avLst/>
          </a:prstGeom>
          <a:noFill/>
          <a:ln/>
        </p:spPr>
        <p:txBody>
          <a:bodyPr wrap="square" lIns="0" tIns="0" rIns="0" bIns="0" rtlCol="0" anchor="ctr"/>
          <a:lstStyle/>
          <a:p>
            <a:pPr algn="ctr" indent="0" marL="0">
              <a:buNone/>
            </a:pPr>
            <a:r>
              <a:rPr lang="en-US" sz="2600" b="1" dirty="0">
                <a:solidFill>
                  <a:srgbClr val="B4762C"/>
                </a:solidFill>
                <a:latin typeface="Calibri" pitchFamily="34" charset="0"/>
                <a:ea typeface="Calibri" pitchFamily="34" charset="-122"/>
                <a:cs typeface="Calibri" pitchFamily="34" charset="-120"/>
              </a:rPr>
              <a:t>2</a:t>
            </a:r>
            <a:endParaRPr lang="en-US" sz="2600" dirty="0"/>
          </a:p>
        </p:txBody>
      </p:sp>
      <p:sp>
        <p:nvSpPr>
          <p:cNvPr id="36" name="Text 33"/>
          <p:cNvSpPr/>
          <p:nvPr/>
        </p:nvSpPr>
        <p:spPr>
          <a:xfrm>
            <a:off x="9765792" y="4425696"/>
            <a:ext cx="1755648"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spilled</a:t>
            </a:r>
            <a:endParaRPr lang="en-US" sz="1050" dirty="0"/>
          </a:p>
        </p:txBody>
      </p:sp>
      <p:sp>
        <p:nvSpPr>
          <p:cNvPr id="37" name="Shape 34"/>
          <p:cNvSpPr/>
          <p:nvPr/>
        </p:nvSpPr>
        <p:spPr>
          <a:xfrm>
            <a:off x="5852160" y="4892040"/>
            <a:ext cx="5742432" cy="1207008"/>
          </a:xfrm>
          <a:prstGeom prst="roundRect">
            <a:avLst>
              <a:gd name="adj" fmla="val 4545"/>
            </a:avLst>
          </a:prstGeom>
          <a:solidFill>
            <a:srgbClr val="F4F2EE"/>
          </a:solidFill>
          <a:ln w="12700">
            <a:solidFill>
              <a:srgbClr val="DCDCD4"/>
            </a:solidFill>
            <a:prstDash val="solid"/>
          </a:ln>
        </p:spPr>
      </p:sp>
      <p:sp>
        <p:nvSpPr>
          <p:cNvPr id="38" name="Text 35"/>
          <p:cNvSpPr/>
          <p:nvPr/>
        </p:nvSpPr>
        <p:spPr>
          <a:xfrm>
            <a:off x="6016752" y="4992624"/>
            <a:ext cx="5440680" cy="1005840"/>
          </a:xfrm>
          <a:prstGeom prst="rect">
            <a:avLst/>
          </a:prstGeom>
          <a:noFill/>
          <a:ln/>
        </p:spPr>
        <p:txBody>
          <a:bodyPr wrap="square" lIns="0" tIns="0" rIns="0" bIns="0" rtlCol="0" anchor="ctr"/>
          <a:lstStyle/>
          <a:p>
            <a:pPr indent="0" marL="0">
              <a:lnSpc>
                <a:spcPct val="118000"/>
              </a:lnSpc>
              <a:buNone/>
            </a:pPr>
            <a:r>
              <a:rPr lang="en-US" sz="1150" dirty="0">
                <a:solidFill>
                  <a:srgbClr val="12151C"/>
                </a:solidFill>
                <a:latin typeface="Calibri" pitchFamily="34" charset="0"/>
                <a:ea typeface="Calibri" pitchFamily="34" charset="-122"/>
                <a:cs typeface="Calibri" pitchFamily="34" charset="-120"/>
              </a:rPr>
              <a:t>examples/06_spill.cad asks for seventeen simultaneous voices. The allocator spills the two with the fewest notes — they share a channel and may cut each other off, which the compiler warns about. This is exactly what a register allocator does when it runs out of registers, and it is audible.</a:t>
            </a:r>
            <a:endParaRPr lang="en-US" sz="1150" dirty="0"/>
          </a:p>
        </p:txBody>
      </p:sp>
      <p:sp>
        <p:nvSpPr>
          <p:cNvPr id="39" name="Text 36"/>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Module 6 · register allocation</a:t>
            </a:r>
            <a:endParaRPr lang="en-US" sz="1000" dirty="0"/>
          </a:p>
        </p:txBody>
      </p:sp>
      <p:sp>
        <p:nvSpPr>
          <p:cNvPr id="40" name="Text 37"/>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syllabus line most projects skip</a:t>
            </a:r>
            <a:endParaRPr lang="en-US" sz="3200" dirty="0"/>
          </a:p>
        </p:txBody>
      </p:sp>
      <p:sp>
        <p:nvSpPr>
          <p:cNvPr id="3" name="Text 1"/>
          <p:cNvSpPr/>
          <p:nvPr/>
        </p:nvSpPr>
        <p:spPr>
          <a:xfrm>
            <a:off x="566928" y="1115568"/>
            <a:ext cx="10515600" cy="457200"/>
          </a:xfrm>
          <a:prstGeom prst="rect">
            <a:avLst/>
          </a:prstGeom>
          <a:noFill/>
          <a:ln/>
        </p:spPr>
        <p:txBody>
          <a:bodyPr wrap="square" lIns="0" tIns="0" rIns="0" bIns="0" rtlCol="0" anchor="ctr"/>
          <a:lstStyle/>
          <a:p>
            <a:pPr indent="0" marL="0">
              <a:buNone/>
            </a:pPr>
            <a:r>
              <a:rPr lang="en-US" sz="1500" i="1" dirty="0">
                <a:solidFill>
                  <a:srgbClr val="9AA2AE"/>
                </a:solidFill>
                <a:latin typeface="Calibri" pitchFamily="34" charset="0"/>
                <a:ea typeface="Calibri" pitchFamily="34" charset="-122"/>
                <a:cs typeface="Calibri" pitchFamily="34" charset="-120"/>
              </a:rPr>
              <a:t>“Implementation of a naive code generator for a virtual machine, security checking of virtual machine code.”</a:t>
            </a:r>
            <a:endParaRPr lang="en-US" sz="1500" dirty="0"/>
          </a:p>
        </p:txBody>
      </p:sp>
      <p:sp>
        <p:nvSpPr>
          <p:cNvPr id="4" name="Shape 2"/>
          <p:cNvSpPr/>
          <p:nvPr/>
        </p:nvSpPr>
        <p:spPr>
          <a:xfrm>
            <a:off x="566928" y="1828800"/>
            <a:ext cx="6949440" cy="548640"/>
          </a:xfrm>
          <a:prstGeom prst="roundRect">
            <a:avLst>
              <a:gd name="adj" fmla="val 8333"/>
            </a:avLst>
          </a:prstGeom>
          <a:solidFill>
            <a:srgbClr val="1B2029"/>
          </a:solidFill>
          <a:ln w="12700">
            <a:solidFill>
              <a:srgbClr val="2B3240"/>
            </a:solidFill>
            <a:prstDash val="solid"/>
          </a:ln>
        </p:spPr>
      </p:sp>
      <p:sp>
        <p:nvSpPr>
          <p:cNvPr id="5" name="Text 3"/>
          <p:cNvSpPr/>
          <p:nvPr/>
        </p:nvSpPr>
        <p:spPr>
          <a:xfrm>
            <a:off x="676656" y="1828800"/>
            <a:ext cx="365760" cy="548640"/>
          </a:xfrm>
          <a:prstGeom prst="rect">
            <a:avLst/>
          </a:prstGeom>
          <a:noFill/>
          <a:ln/>
        </p:spPr>
        <p:txBody>
          <a:bodyPr wrap="square" lIns="0" tIns="0" rIns="0" bIns="0" rtlCol="0" anchor="ctr"/>
          <a:lstStyle/>
          <a:p>
            <a:pPr algn="ctr" indent="0" marL="0">
              <a:buNone/>
            </a:pPr>
            <a:r>
              <a:rPr lang="en-US" sz="1500" b="1" dirty="0">
                <a:solidFill>
                  <a:srgbClr val="B4762C"/>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1828800"/>
            <a:ext cx="3017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every jump target exists</a:t>
            </a:r>
            <a:endParaRPr lang="en-US" sz="1250" dirty="0"/>
          </a:p>
        </p:txBody>
      </p:sp>
      <p:sp>
        <p:nvSpPr>
          <p:cNvPr id="7" name="Text 5"/>
          <p:cNvSpPr/>
          <p:nvPr/>
        </p:nvSpPr>
        <p:spPr>
          <a:xfrm>
            <a:off x="4178808" y="1828800"/>
            <a:ext cx="3200400" cy="548640"/>
          </a:xfrm>
          <a:prstGeom prst="rect">
            <a:avLst/>
          </a:prstGeom>
          <a:noFill/>
          <a:ln/>
        </p:spPr>
        <p:txBody>
          <a:bodyPr wrap="square" lIns="0" tIns="0" rIns="0" bIns="0" rtlCol="0" anchor="ctr"/>
          <a:lstStyle/>
          <a:p>
            <a:pPr indent="0" marL="0">
              <a:buNone/>
            </a:pPr>
            <a:r>
              <a:rPr lang="en-US" sz="1100" dirty="0">
                <a:solidFill>
                  <a:srgbClr val="9AA2AE"/>
                </a:solidFill>
                <a:latin typeface="Calibri" pitchFamily="34" charset="0"/>
                <a:ea typeface="Calibri" pitchFamily="34" charset="-122"/>
                <a:cs typeface="Calibri" pitchFamily="34" charset="-120"/>
              </a:rPr>
              <a:t>no branch can leave the code array</a:t>
            </a:r>
            <a:endParaRPr lang="en-US" sz="1100" dirty="0"/>
          </a:p>
        </p:txBody>
      </p:sp>
      <p:sp>
        <p:nvSpPr>
          <p:cNvPr id="8" name="Shape 6"/>
          <p:cNvSpPr/>
          <p:nvPr/>
        </p:nvSpPr>
        <p:spPr>
          <a:xfrm>
            <a:off x="566928" y="2487168"/>
            <a:ext cx="6949440" cy="548640"/>
          </a:xfrm>
          <a:prstGeom prst="roundRect">
            <a:avLst>
              <a:gd name="adj" fmla="val 8333"/>
            </a:avLst>
          </a:prstGeom>
          <a:solidFill>
            <a:srgbClr val="1B2029"/>
          </a:solidFill>
          <a:ln w="12700">
            <a:solidFill>
              <a:srgbClr val="2B3240"/>
            </a:solidFill>
            <a:prstDash val="solid"/>
          </a:ln>
        </p:spPr>
      </p:sp>
      <p:sp>
        <p:nvSpPr>
          <p:cNvPr id="9" name="Text 7"/>
          <p:cNvSpPr/>
          <p:nvPr/>
        </p:nvSpPr>
        <p:spPr>
          <a:xfrm>
            <a:off x="676656" y="2487168"/>
            <a:ext cx="365760" cy="548640"/>
          </a:xfrm>
          <a:prstGeom prst="rect">
            <a:avLst/>
          </a:prstGeom>
          <a:noFill/>
          <a:ln/>
        </p:spPr>
        <p:txBody>
          <a:bodyPr wrap="square" lIns="0" tIns="0" rIns="0" bIns="0" rtlCol="0" anchor="ctr"/>
          <a:lstStyle/>
          <a:p>
            <a:pPr algn="ctr" indent="0" marL="0">
              <a:buNone/>
            </a:pPr>
            <a:r>
              <a:rPr lang="en-US" sz="1500" b="1" dirty="0">
                <a:solidFill>
                  <a:srgbClr val="B4762C"/>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15568" y="2487168"/>
            <a:ext cx="3017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call arity and PARAM balance</a:t>
            </a:r>
            <a:endParaRPr lang="en-US" sz="1250" dirty="0"/>
          </a:p>
        </p:txBody>
      </p:sp>
      <p:sp>
        <p:nvSpPr>
          <p:cNvPr id="11" name="Text 9"/>
          <p:cNvSpPr/>
          <p:nvPr/>
        </p:nvSpPr>
        <p:spPr>
          <a:xfrm>
            <a:off x="4178808" y="2487168"/>
            <a:ext cx="3200400" cy="548640"/>
          </a:xfrm>
          <a:prstGeom prst="rect">
            <a:avLst/>
          </a:prstGeom>
          <a:noFill/>
          <a:ln/>
        </p:spPr>
        <p:txBody>
          <a:bodyPr wrap="square" lIns="0" tIns="0" rIns="0" bIns="0" rtlCol="0" anchor="ctr"/>
          <a:lstStyle/>
          <a:p>
            <a:pPr indent="0" marL="0">
              <a:buNone/>
            </a:pPr>
            <a:r>
              <a:rPr lang="en-US" sz="1100" dirty="0">
                <a:solidFill>
                  <a:srgbClr val="9AA2AE"/>
                </a:solidFill>
                <a:latin typeface="Calibri" pitchFamily="34" charset="0"/>
                <a:ea typeface="Calibri" pitchFamily="34" charset="-122"/>
                <a:cs typeface="Calibri" pitchFamily="34" charset="-120"/>
              </a:rPr>
              <a:t>enough arguments pushed on every path</a:t>
            </a:r>
            <a:endParaRPr lang="en-US" sz="1100" dirty="0"/>
          </a:p>
        </p:txBody>
      </p:sp>
      <p:sp>
        <p:nvSpPr>
          <p:cNvPr id="12" name="Shape 10"/>
          <p:cNvSpPr/>
          <p:nvPr/>
        </p:nvSpPr>
        <p:spPr>
          <a:xfrm>
            <a:off x="566928" y="3145536"/>
            <a:ext cx="6949440" cy="548640"/>
          </a:xfrm>
          <a:prstGeom prst="roundRect">
            <a:avLst>
              <a:gd name="adj" fmla="val 8333"/>
            </a:avLst>
          </a:prstGeom>
          <a:solidFill>
            <a:srgbClr val="1B2029"/>
          </a:solidFill>
          <a:ln w="12700">
            <a:solidFill>
              <a:srgbClr val="2B3240"/>
            </a:solidFill>
            <a:prstDash val="solid"/>
          </a:ln>
        </p:spPr>
      </p:sp>
      <p:sp>
        <p:nvSpPr>
          <p:cNvPr id="13" name="Text 11"/>
          <p:cNvSpPr/>
          <p:nvPr/>
        </p:nvSpPr>
        <p:spPr>
          <a:xfrm>
            <a:off x="676656" y="3145536"/>
            <a:ext cx="365760" cy="548640"/>
          </a:xfrm>
          <a:prstGeom prst="rect">
            <a:avLst/>
          </a:prstGeom>
          <a:noFill/>
          <a:ln/>
        </p:spPr>
        <p:txBody>
          <a:bodyPr wrap="square" lIns="0" tIns="0" rIns="0" bIns="0" rtlCol="0" anchor="ctr"/>
          <a:lstStyle/>
          <a:p>
            <a:pPr algn="ctr" indent="0" marL="0">
              <a:buNone/>
            </a:pPr>
            <a:r>
              <a:rPr lang="en-US" sz="1500" b="1" dirty="0">
                <a:solidFill>
                  <a:srgbClr val="B4762C"/>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15568" y="3145536"/>
            <a:ext cx="3017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parallel blocks properly nested</a:t>
            </a:r>
            <a:endParaRPr lang="en-US" sz="1250" dirty="0"/>
          </a:p>
        </p:txBody>
      </p:sp>
      <p:sp>
        <p:nvSpPr>
          <p:cNvPr id="15" name="Text 13"/>
          <p:cNvSpPr/>
          <p:nvPr/>
        </p:nvSpPr>
        <p:spPr>
          <a:xfrm>
            <a:off x="4178808" y="3145536"/>
            <a:ext cx="3200400" cy="548640"/>
          </a:xfrm>
          <a:prstGeom prst="rect">
            <a:avLst/>
          </a:prstGeom>
          <a:noFill/>
          <a:ln/>
        </p:spPr>
        <p:txBody>
          <a:bodyPr wrap="square" lIns="0" tIns="0" rIns="0" bIns="0" rtlCol="0" anchor="ctr"/>
          <a:lstStyle/>
          <a:p>
            <a:pPr indent="0" marL="0">
              <a:buNone/>
            </a:pPr>
            <a:r>
              <a:rPr lang="en-US" sz="1100" dirty="0">
                <a:solidFill>
                  <a:srgbClr val="9AA2AE"/>
                </a:solidFill>
                <a:latin typeface="Calibri" pitchFamily="34" charset="0"/>
                <a:ea typeface="Calibri" pitchFamily="34" charset="-122"/>
                <a:cs typeface="Calibri" pitchFamily="34" charset="-120"/>
              </a:rPr>
              <a:t>depth agrees at every merge point</a:t>
            </a:r>
            <a:endParaRPr lang="en-US" sz="1100" dirty="0"/>
          </a:p>
        </p:txBody>
      </p:sp>
      <p:sp>
        <p:nvSpPr>
          <p:cNvPr id="16" name="Shape 14"/>
          <p:cNvSpPr/>
          <p:nvPr/>
        </p:nvSpPr>
        <p:spPr>
          <a:xfrm>
            <a:off x="566928" y="3803904"/>
            <a:ext cx="6949440" cy="548640"/>
          </a:xfrm>
          <a:prstGeom prst="roundRect">
            <a:avLst>
              <a:gd name="adj" fmla="val 8333"/>
            </a:avLst>
          </a:prstGeom>
          <a:solidFill>
            <a:srgbClr val="1B2029"/>
          </a:solidFill>
          <a:ln w="12700">
            <a:solidFill>
              <a:srgbClr val="2B3240"/>
            </a:solidFill>
            <a:prstDash val="solid"/>
          </a:ln>
        </p:spPr>
      </p:sp>
      <p:sp>
        <p:nvSpPr>
          <p:cNvPr id="17" name="Text 15"/>
          <p:cNvSpPr/>
          <p:nvPr/>
        </p:nvSpPr>
        <p:spPr>
          <a:xfrm>
            <a:off x="676656" y="3803904"/>
            <a:ext cx="365760" cy="548640"/>
          </a:xfrm>
          <a:prstGeom prst="rect">
            <a:avLst/>
          </a:prstGeom>
          <a:noFill/>
          <a:ln/>
        </p:spPr>
        <p:txBody>
          <a:bodyPr wrap="square" lIns="0" tIns="0" rIns="0" bIns="0" rtlCol="0" anchor="ctr"/>
          <a:lstStyle/>
          <a:p>
            <a:pPr algn="ctr" indent="0" marL="0">
              <a:buNone/>
            </a:pPr>
            <a:r>
              <a:rPr lang="en-US" sz="1500" b="1" dirty="0">
                <a:solidFill>
                  <a:srgbClr val="B4762C"/>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15568" y="3803904"/>
            <a:ext cx="3017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local read before it is written</a:t>
            </a:r>
            <a:endParaRPr lang="en-US" sz="1250" dirty="0"/>
          </a:p>
        </p:txBody>
      </p:sp>
      <p:sp>
        <p:nvSpPr>
          <p:cNvPr id="19" name="Text 17"/>
          <p:cNvSpPr/>
          <p:nvPr/>
        </p:nvSpPr>
        <p:spPr>
          <a:xfrm>
            <a:off x="4178808" y="3803904"/>
            <a:ext cx="3200400" cy="548640"/>
          </a:xfrm>
          <a:prstGeom prst="rect">
            <a:avLst/>
          </a:prstGeom>
          <a:noFill/>
          <a:ln/>
        </p:spPr>
        <p:txBody>
          <a:bodyPr wrap="square" lIns="0" tIns="0" rIns="0" bIns="0" rtlCol="0" anchor="ctr"/>
          <a:lstStyle/>
          <a:p>
            <a:pPr indent="0" marL="0">
              <a:buNone/>
            </a:pPr>
            <a:r>
              <a:rPr lang="en-US" sz="1100" dirty="0">
                <a:solidFill>
                  <a:srgbClr val="9AA2AE"/>
                </a:solidFill>
                <a:latin typeface="Calibri" pitchFamily="34" charset="0"/>
                <a:ea typeface="Calibri" pitchFamily="34" charset="-122"/>
                <a:cs typeface="Calibri" pitchFamily="34" charset="-120"/>
              </a:rPr>
              <a:t>forward must-analysis, meet = intersection</a:t>
            </a:r>
            <a:endParaRPr lang="en-US" sz="1100" dirty="0"/>
          </a:p>
        </p:txBody>
      </p:sp>
      <p:sp>
        <p:nvSpPr>
          <p:cNvPr id="20" name="Shape 18"/>
          <p:cNvSpPr/>
          <p:nvPr/>
        </p:nvSpPr>
        <p:spPr>
          <a:xfrm>
            <a:off x="566928" y="4462272"/>
            <a:ext cx="6949440" cy="548640"/>
          </a:xfrm>
          <a:prstGeom prst="roundRect">
            <a:avLst>
              <a:gd name="adj" fmla="val 8333"/>
            </a:avLst>
          </a:prstGeom>
          <a:solidFill>
            <a:srgbClr val="1B2029"/>
          </a:solidFill>
          <a:ln w="12700">
            <a:solidFill>
              <a:srgbClr val="2B3240"/>
            </a:solidFill>
            <a:prstDash val="solid"/>
          </a:ln>
        </p:spPr>
      </p:sp>
      <p:sp>
        <p:nvSpPr>
          <p:cNvPr id="21" name="Text 19"/>
          <p:cNvSpPr/>
          <p:nvPr/>
        </p:nvSpPr>
        <p:spPr>
          <a:xfrm>
            <a:off x="676656" y="4462272"/>
            <a:ext cx="365760" cy="548640"/>
          </a:xfrm>
          <a:prstGeom prst="rect">
            <a:avLst/>
          </a:prstGeom>
          <a:noFill/>
          <a:ln/>
        </p:spPr>
        <p:txBody>
          <a:bodyPr wrap="square" lIns="0" tIns="0" rIns="0" bIns="0" rtlCol="0" anchor="ctr"/>
          <a:lstStyle/>
          <a:p>
            <a:pPr algn="ctr" indent="0" marL="0">
              <a:buNone/>
            </a:pPr>
            <a:r>
              <a:rPr lang="en-US" sz="1500" b="1" dirty="0">
                <a:solidFill>
                  <a:srgbClr val="B4762C"/>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15568" y="4462272"/>
            <a:ext cx="3017520" cy="5486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every procedure ends in RET</a:t>
            </a:r>
            <a:endParaRPr lang="en-US" sz="1250" dirty="0"/>
          </a:p>
        </p:txBody>
      </p:sp>
      <p:sp>
        <p:nvSpPr>
          <p:cNvPr id="23" name="Text 21"/>
          <p:cNvSpPr/>
          <p:nvPr/>
        </p:nvSpPr>
        <p:spPr>
          <a:xfrm>
            <a:off x="4178808" y="4462272"/>
            <a:ext cx="3200400" cy="548640"/>
          </a:xfrm>
          <a:prstGeom prst="rect">
            <a:avLst/>
          </a:prstGeom>
          <a:noFill/>
          <a:ln/>
        </p:spPr>
        <p:txBody>
          <a:bodyPr wrap="square" lIns="0" tIns="0" rIns="0" bIns="0" rtlCol="0" anchor="ctr"/>
          <a:lstStyle/>
          <a:p>
            <a:pPr indent="0" marL="0">
              <a:buNone/>
            </a:pPr>
            <a:r>
              <a:rPr lang="en-US" sz="1100" dirty="0">
                <a:solidFill>
                  <a:srgbClr val="9AA2AE"/>
                </a:solidFill>
                <a:latin typeface="Calibri" pitchFamily="34" charset="0"/>
                <a:ea typeface="Calibri" pitchFamily="34" charset="-122"/>
                <a:cs typeface="Calibri" pitchFamily="34" charset="-120"/>
              </a:rPr>
              <a:t>control cannot fall off the end</a:t>
            </a:r>
            <a:endParaRPr lang="en-US" sz="1100" dirty="0"/>
          </a:p>
        </p:txBody>
      </p:sp>
      <p:sp>
        <p:nvSpPr>
          <p:cNvPr id="24" name="Text 22"/>
          <p:cNvSpPr/>
          <p:nvPr/>
        </p:nvSpPr>
        <p:spPr>
          <a:xfrm>
            <a:off x="7772400" y="1828800"/>
            <a:ext cx="38404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Same idea, shipping systems</a:t>
            </a:r>
            <a:endParaRPr lang="en-US" sz="1300" dirty="0"/>
          </a:p>
        </p:txBody>
      </p:sp>
      <p:sp>
        <p:nvSpPr>
          <p:cNvPr id="25" name="Text 23"/>
          <p:cNvSpPr/>
          <p:nvPr/>
        </p:nvSpPr>
        <p:spPr>
          <a:xfrm>
            <a:off x="7772400" y="2176272"/>
            <a:ext cx="3840480" cy="173736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BFC6D0"/>
                </a:solidFill>
                <a:latin typeface="Calibri" pitchFamily="34" charset="0"/>
                <a:ea typeface="Calibri" pitchFamily="34" charset="-122"/>
                <a:cs typeface="Calibri" pitchFamily="34" charset="-120"/>
              </a:rPr>
              <a:t>JVM bytecode verifier — stack depth and type agreement at merge points</a:t>
            </a:r>
            <a:endParaRPr lang="en-US" sz="1150" dirty="0"/>
          </a:p>
          <a:p>
            <a:pPr marL="342900" indent="-342900">
              <a:lnSpc>
                <a:spcPct val="120000"/>
              </a:lnSpc>
              <a:buSzPct val="100000"/>
              <a:buChar char="•"/>
            </a:pPr>
            <a:r>
              <a:rPr lang="en-US" sz="1150" dirty="0">
                <a:solidFill>
                  <a:srgbClr val="BFC6D0"/>
                </a:solidFill>
                <a:latin typeface="Calibri" pitchFamily="34" charset="0"/>
                <a:ea typeface="Calibri" pitchFamily="34" charset="-122"/>
                <a:cs typeface="Calibri" pitchFamily="34" charset="-120"/>
              </a:rPr>
              <a:t>WebAssembly validation — structured control flow, in-range branches</a:t>
            </a:r>
            <a:endParaRPr lang="en-US" sz="1150" dirty="0"/>
          </a:p>
          <a:p>
            <a:pPr marL="342900" indent="-342900">
              <a:lnSpc>
                <a:spcPct val="120000"/>
              </a:lnSpc>
              <a:buSzPct val="100000"/>
              <a:buChar char="•"/>
            </a:pPr>
            <a:r>
              <a:rPr lang="en-US" sz="1150" dirty="0">
                <a:solidFill>
                  <a:srgbClr val="BFC6D0"/>
                </a:solidFill>
                <a:latin typeface="Calibri" pitchFamily="34" charset="0"/>
                <a:ea typeface="Calibri" pitchFamily="34" charset="-122"/>
                <a:cs typeface="Calibri" pitchFamily="34" charset="-120"/>
              </a:rPr>
              <a:t>eBPF verifier — bounded loops, definitely-initialised registers</a:t>
            </a:r>
            <a:endParaRPr lang="en-US" sz="1150" dirty="0"/>
          </a:p>
        </p:txBody>
      </p:sp>
      <p:sp>
        <p:nvSpPr>
          <p:cNvPr id="26" name="Shape 24"/>
          <p:cNvSpPr/>
          <p:nvPr/>
        </p:nvSpPr>
        <p:spPr>
          <a:xfrm>
            <a:off x="7772400" y="3977640"/>
            <a:ext cx="3840480" cy="1188720"/>
          </a:xfrm>
          <a:prstGeom prst="roundRect">
            <a:avLst>
              <a:gd name="adj" fmla="val 3846"/>
            </a:avLst>
          </a:prstGeom>
          <a:solidFill>
            <a:srgbClr val="1B2029"/>
          </a:solidFill>
          <a:ln w="19050">
            <a:solidFill>
              <a:srgbClr val="1F6F6B"/>
            </a:solidFill>
            <a:prstDash val="solid"/>
          </a:ln>
        </p:spPr>
      </p:sp>
      <p:sp>
        <p:nvSpPr>
          <p:cNvPr id="27" name="Text 25"/>
          <p:cNvSpPr/>
          <p:nvPr/>
        </p:nvSpPr>
        <p:spPr>
          <a:xfrm>
            <a:off x="7936992" y="4059936"/>
            <a:ext cx="3520440" cy="274320"/>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run twice</a:t>
            </a:r>
            <a:endParaRPr lang="en-US" sz="1200" dirty="0"/>
          </a:p>
        </p:txBody>
      </p:sp>
      <p:sp>
        <p:nvSpPr>
          <p:cNvPr id="28" name="Text 26"/>
          <p:cNvSpPr/>
          <p:nvPr/>
        </p:nvSpPr>
        <p:spPr>
          <a:xfrm>
            <a:off x="7936992" y="4352544"/>
            <a:ext cx="3520440" cy="731520"/>
          </a:xfrm>
          <a:prstGeom prst="rect">
            <a:avLst/>
          </a:prstGeom>
          <a:noFill/>
          <a:ln/>
        </p:spPr>
        <p:txBody>
          <a:bodyPr wrap="square" lIns="0" tIns="0" rIns="0" bIns="0" rtlCol="0" anchor="ctr"/>
          <a:lstStyle/>
          <a:p>
            <a:pPr indent="0" marL="0">
              <a:lnSpc>
                <a:spcPct val="115000"/>
              </a:lnSpc>
              <a:buNone/>
            </a:pPr>
            <a:r>
              <a:rPr lang="en-US" sz="1100" dirty="0">
                <a:solidFill>
                  <a:srgbClr val="9AA2AE"/>
                </a:solidFill>
                <a:latin typeface="Calibri" pitchFamily="34" charset="0"/>
                <a:ea typeface="Calibri" pitchFamily="34" charset="-122"/>
                <a:cs typeface="Calibri" pitchFamily="34" charset="-120"/>
              </a:rPr>
              <a:t>once on the naive code, once on the optimised code — because an optimiser is a program too, and it can break invariants.</a:t>
            </a:r>
            <a:endParaRPr lang="en-US" sz="1100" dirty="0"/>
          </a:p>
        </p:txBody>
      </p:sp>
      <p:sp>
        <p:nvSpPr>
          <p:cNvPr id="29" name="Shape 27"/>
          <p:cNvSpPr/>
          <p:nvPr/>
        </p:nvSpPr>
        <p:spPr>
          <a:xfrm>
            <a:off x="566928" y="5230368"/>
            <a:ext cx="6949440" cy="914400"/>
          </a:xfrm>
          <a:prstGeom prst="rect">
            <a:avLst/>
          </a:prstGeom>
          <a:solidFill>
            <a:srgbClr val="F4F2EE"/>
          </a:solidFill>
          <a:ln w="12700">
            <a:solidFill>
              <a:srgbClr val="DCDCD4"/>
            </a:solidFill>
            <a:prstDash val="solid"/>
          </a:ln>
        </p:spPr>
      </p:sp>
      <p:sp>
        <p:nvSpPr>
          <p:cNvPr id="30" name="Text 28"/>
          <p:cNvSpPr/>
          <p:nvPr/>
        </p:nvSpPr>
        <p:spPr>
          <a:xfrm>
            <a:off x="694944" y="5321808"/>
            <a:ext cx="6693408" cy="731520"/>
          </a:xfrm>
          <a:prstGeom prst="rect">
            <a:avLst/>
          </a:prstGeom>
          <a:noFill/>
          <a:ln/>
        </p:spPr>
        <p:txBody>
          <a:bodyPr wrap="square" lIns="0" tIns="0" rIns="0" bIns="0" rtlCol="0" anchor="t"/>
          <a:lstStyle/>
          <a:p>
            <a:pPr indent="0" marL="0">
              <a:lnSpc>
                <a:spcPct val="106000"/>
              </a:lnSpc>
              <a:buNone/>
            </a:pPr>
            <a:r>
              <a:rPr lang="en-US" sz="1000" dirty="0">
                <a:solidFill>
                  <a:srgbClr val="12151C"/>
                </a:solidFill>
                <a:latin typeface="Courier New" pitchFamily="34" charset="0"/>
                <a:ea typeface="Courier New" pitchFamily="34" charset="-122"/>
                <a:cs typeface="Courier New" pitchFamily="34" charset="-120"/>
              </a:rPr>
              <a:t>$ ... --dump verify</a:t>
            </a:r>
            <a:endParaRPr lang="en-US" sz="1000" dirty="0"/>
          </a:p>
          <a:p>
            <a:pPr indent="0" marL="0">
              <a:lnSpc>
                <a:spcPct val="106000"/>
              </a:lnSpc>
              <a:buNone/>
            </a:pPr>
            <a:r>
              <a:rPr lang="en-US" sz="1000" dirty="0">
                <a:solidFill>
                  <a:srgbClr val="12151C"/>
                </a:solidFill>
                <a:latin typeface="Courier New" pitchFamily="34" charset="0"/>
                <a:ea typeface="Courier New" pitchFamily="34" charset="-122"/>
                <a:cs typeface="Courier New" pitchFamily="34" charset="-120"/>
              </a:rPr>
              <a:t>  [pass] jump targets resolve         phrase riff</a:t>
            </a:r>
            <a:endParaRPr lang="en-US" sz="1000" dirty="0"/>
          </a:p>
          <a:p>
            <a:pPr indent="0" marL="0">
              <a:lnSpc>
                <a:spcPct val="106000"/>
              </a:lnSpc>
              <a:buNone/>
            </a:pPr>
            <a:r>
              <a:rPr lang="en-US" sz="1000" dirty="0">
                <a:solidFill>
                  <a:srgbClr val="12151C"/>
                </a:solidFill>
                <a:latin typeface="Courier New" pitchFamily="34" charset="0"/>
                <a:ea typeface="Courier New" pitchFamily="34" charset="-122"/>
                <a:cs typeface="Courier New" pitchFamily="34" charset="-120"/>
              </a:rPr>
              <a:t>  [pass] call arity and PARAM balance phrase riff</a:t>
            </a:r>
            <a:endParaRPr lang="en-US" sz="1000" dirty="0"/>
          </a:p>
        </p:txBody>
      </p:sp>
      <p:sp>
        <p:nvSpPr>
          <p:cNvPr id="31" name="Text 29"/>
          <p:cNvSpPr/>
          <p:nvPr/>
        </p:nvSpPr>
        <p:spPr>
          <a:xfrm>
            <a:off x="7772400" y="5285232"/>
            <a:ext cx="3840480" cy="822960"/>
          </a:xfrm>
          <a:prstGeom prst="rect">
            <a:avLst/>
          </a:prstGeom>
          <a:noFill/>
          <a:ln/>
        </p:spPr>
        <p:txBody>
          <a:bodyPr wrap="square" lIns="0" tIns="0" rIns="0" bIns="0" rtlCol="0" anchor="ctr"/>
          <a:lstStyle/>
          <a:p>
            <a:pPr indent="0" marL="0">
              <a:lnSpc>
                <a:spcPct val="115000"/>
              </a:lnSpc>
              <a:buNone/>
            </a:pPr>
            <a:r>
              <a:rPr lang="en-US" sz="1100" dirty="0">
                <a:solidFill>
                  <a:srgbClr val="9AA2AE"/>
                </a:solidFill>
                <a:latin typeface="Calibri" pitchFamily="34" charset="0"/>
                <a:ea typeface="Calibri" pitchFamily="34" charset="-122"/>
                <a:cs typeface="Calibri" pitchFamily="34" charset="-120"/>
              </a:rPr>
              <a:t>The tests hand-craft illegal code for all five, and check each one is caught.</a:t>
            </a:r>
            <a:endParaRPr lang="en-US" sz="1100" dirty="0"/>
          </a:p>
        </p:txBody>
      </p:sp>
      <p:sp>
        <p:nvSpPr>
          <p:cNvPr id="32" name="Text 30"/>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B4762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The back end: no library, just bytes</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Standard MIDI File format 1, assembled by hand and read back by an independent parser.</a:t>
            </a:r>
            <a:endParaRPr lang="en-US" sz="1500" dirty="0"/>
          </a:p>
        </p:txBody>
      </p:sp>
      <p:sp>
        <p:nvSpPr>
          <p:cNvPr id="4" name="Shape 2"/>
          <p:cNvSpPr/>
          <p:nvPr/>
        </p:nvSpPr>
        <p:spPr>
          <a:xfrm>
            <a:off x="566928" y="1737360"/>
            <a:ext cx="6035040" cy="3017520"/>
          </a:xfrm>
          <a:prstGeom prst="rect">
            <a:avLst/>
          </a:prstGeom>
          <a:solidFill>
            <a:srgbClr val="F4F2EE"/>
          </a:solidFill>
          <a:ln w="12700">
            <a:solidFill>
              <a:srgbClr val="DCDCD4"/>
            </a:solidFill>
            <a:prstDash val="solid"/>
          </a:ln>
        </p:spPr>
      </p:sp>
      <p:sp>
        <p:nvSpPr>
          <p:cNvPr id="5" name="Text 3"/>
          <p:cNvSpPr/>
          <p:nvPr/>
        </p:nvSpPr>
        <p:spPr>
          <a:xfrm>
            <a:off x="694944" y="1828800"/>
            <a:ext cx="5779008" cy="283464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0000  4d 54 68 64 00 00 00 06   MThd....</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0008  00 01 00 03 01 e0         format 1, 3 tracks, 480 tpq</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000e  4d 54 72 6b 00 00 00 13   MTrk (tempo track)</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0016  00 ff 51 03 07 a1 20      set tempo = 500000 us/quarter</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001d  00 ff 58 04 04 02 18 08   time signature 4/4</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0025  00 ff 2f 00               end of track</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0029  4d 54 72 6b ...           MTrk (voice lead)</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00 c0 00                  program change: piano</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00 90 3e 60               note on  D4 velocity 96</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      81 70 80 3e 40            delta 240, note off D4</a:t>
            </a:r>
            <a:endParaRPr lang="en-US" sz="1050" dirty="0"/>
          </a:p>
        </p:txBody>
      </p:sp>
      <p:sp>
        <p:nvSpPr>
          <p:cNvPr id="6" name="Text 4"/>
          <p:cNvSpPr/>
          <p:nvPr/>
        </p:nvSpPr>
        <p:spPr>
          <a:xfrm>
            <a:off x="566928" y="4846320"/>
            <a:ext cx="6035040" cy="310896"/>
          </a:xfrm>
          <a:prstGeom prst="rect">
            <a:avLst/>
          </a:prstGeom>
          <a:noFill/>
          <a:ln/>
        </p:spPr>
        <p:txBody>
          <a:bodyPr wrap="square" lIns="0" tIns="0" rIns="0" bIns="0" rtlCol="0" anchor="t"/>
          <a:lstStyle/>
          <a:p>
            <a:pPr indent="0" marL="0">
              <a:buNone/>
            </a:pPr>
            <a:r>
              <a:rPr lang="en-US" sz="1100" dirty="0">
                <a:solidFill>
                  <a:srgbClr val="6B6F76"/>
                </a:solidFill>
                <a:latin typeface="Calibri" pitchFamily="34" charset="0"/>
                <a:ea typeface="Calibri" pitchFamily="34" charset="-122"/>
                <a:cs typeface="Calibri" pitchFamily="34" charset="-120"/>
              </a:rPr>
              <a:t>81 70 is a variable-length quantity: seven bits per byte, high bit means “more to come”. 0x81,0x70 = 240 ticks.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766560" y="1737360"/>
          <a:ext cx="4828032" cy="914400"/>
        </p:xfrm>
        <a:graphic>
          <a:graphicData uri="http://schemas.openxmlformats.org/drawingml/2006/table">
            <a:tbl>
              <a:tblPr/>
              <a:tblGrid>
                <a:gridCol w="2103120"/>
                <a:gridCol w="2724912"/>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written by hand</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header + track chunks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the file format is part of code generation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variable-length delta times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a real encoding problem, solved in 6 lines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one track per voice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matches the channel allocation exactly</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tempo and time signature meta</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so any player reproduces the right speed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8" name="Shape 5"/>
          <p:cNvSpPr/>
          <p:nvPr/>
        </p:nvSpPr>
        <p:spPr>
          <a:xfrm>
            <a:off x="6766560" y="3611880"/>
            <a:ext cx="1508760" cy="822960"/>
          </a:xfrm>
          <a:prstGeom prst="roundRect">
            <a:avLst>
              <a:gd name="adj" fmla="val 6667"/>
            </a:avLst>
          </a:prstGeom>
          <a:solidFill>
            <a:srgbClr val="FFFFFF"/>
          </a:solidFill>
          <a:ln w="12700">
            <a:solidFill>
              <a:srgbClr val="DCDCD4"/>
            </a:solidFill>
            <a:prstDash val="solid"/>
          </a:ln>
        </p:spPr>
      </p:sp>
      <p:sp>
        <p:nvSpPr>
          <p:cNvPr id="9" name="Text 6"/>
          <p:cNvSpPr/>
          <p:nvPr/>
        </p:nvSpPr>
        <p:spPr>
          <a:xfrm>
            <a:off x="6858000" y="3721608"/>
            <a:ext cx="1325880" cy="427939"/>
          </a:xfrm>
          <a:prstGeom prst="rect">
            <a:avLst/>
          </a:prstGeom>
          <a:noFill/>
          <a:ln/>
        </p:spPr>
        <p:txBody>
          <a:bodyPr wrap="square" lIns="0" tIns="0" rIns="0" bIns="0" rtlCol="0" anchor="ctr"/>
          <a:lstStyle/>
          <a:p>
            <a:pPr algn="ctr" indent="0" marL="0">
              <a:buNone/>
            </a:pPr>
            <a:r>
              <a:rPr lang="en-US" sz="2600" b="1" dirty="0">
                <a:solidFill>
                  <a:srgbClr val="7A1F3D"/>
                </a:solidFill>
                <a:latin typeface="Calibri" pitchFamily="34" charset="0"/>
                <a:ea typeface="Calibri" pitchFamily="34" charset="-122"/>
                <a:cs typeface="Calibri" pitchFamily="34" charset="-120"/>
              </a:rPr>
              <a:t>348</a:t>
            </a:r>
            <a:endParaRPr lang="en-US" sz="2600" dirty="0"/>
          </a:p>
        </p:txBody>
      </p:sp>
      <p:sp>
        <p:nvSpPr>
          <p:cNvPr id="10" name="Text 7"/>
          <p:cNvSpPr/>
          <p:nvPr/>
        </p:nvSpPr>
        <p:spPr>
          <a:xfrm>
            <a:off x="6839712" y="4105656"/>
            <a:ext cx="1362456"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bytes</a:t>
            </a:r>
            <a:endParaRPr lang="en-US" sz="1050" dirty="0"/>
          </a:p>
        </p:txBody>
      </p:sp>
      <p:sp>
        <p:nvSpPr>
          <p:cNvPr id="11" name="Shape 8"/>
          <p:cNvSpPr/>
          <p:nvPr/>
        </p:nvSpPr>
        <p:spPr>
          <a:xfrm>
            <a:off x="8412480" y="3611880"/>
            <a:ext cx="1508760" cy="822960"/>
          </a:xfrm>
          <a:prstGeom prst="roundRect">
            <a:avLst>
              <a:gd name="adj" fmla="val 6667"/>
            </a:avLst>
          </a:prstGeom>
          <a:solidFill>
            <a:srgbClr val="FFFFFF"/>
          </a:solidFill>
          <a:ln w="12700">
            <a:solidFill>
              <a:srgbClr val="DCDCD4"/>
            </a:solidFill>
            <a:prstDash val="solid"/>
          </a:ln>
        </p:spPr>
      </p:sp>
      <p:sp>
        <p:nvSpPr>
          <p:cNvPr id="12" name="Text 9"/>
          <p:cNvSpPr/>
          <p:nvPr/>
        </p:nvSpPr>
        <p:spPr>
          <a:xfrm>
            <a:off x="8503920" y="3721608"/>
            <a:ext cx="1325880" cy="427939"/>
          </a:xfrm>
          <a:prstGeom prst="rect">
            <a:avLst/>
          </a:prstGeom>
          <a:noFill/>
          <a:ln/>
        </p:spPr>
        <p:txBody>
          <a:bodyPr wrap="square" lIns="0" tIns="0" rIns="0" bIns="0" rtlCol="0" anchor="ctr"/>
          <a:lstStyle/>
          <a:p>
            <a:pPr algn="ctr" indent="0" marL="0">
              <a:buNone/>
            </a:pPr>
            <a:r>
              <a:rPr lang="en-US" sz="2600" b="1" dirty="0">
                <a:solidFill>
                  <a:srgbClr val="1F6F6B"/>
                </a:solidFill>
                <a:latin typeface="Calibri" pitchFamily="34" charset="0"/>
                <a:ea typeface="Calibri" pitchFamily="34" charset="-122"/>
                <a:cs typeface="Calibri" pitchFamily="34" charset="-120"/>
              </a:rPr>
              <a:t>27</a:t>
            </a:r>
            <a:endParaRPr lang="en-US" sz="2600" dirty="0"/>
          </a:p>
        </p:txBody>
      </p:sp>
      <p:sp>
        <p:nvSpPr>
          <p:cNvPr id="13" name="Text 10"/>
          <p:cNvSpPr/>
          <p:nvPr/>
        </p:nvSpPr>
        <p:spPr>
          <a:xfrm>
            <a:off x="8485632" y="4105656"/>
            <a:ext cx="1362456"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notes</a:t>
            </a:r>
            <a:endParaRPr lang="en-US" sz="1050" dirty="0"/>
          </a:p>
        </p:txBody>
      </p:sp>
      <p:sp>
        <p:nvSpPr>
          <p:cNvPr id="14" name="Shape 11"/>
          <p:cNvSpPr/>
          <p:nvPr/>
        </p:nvSpPr>
        <p:spPr>
          <a:xfrm>
            <a:off x="10058400" y="3611880"/>
            <a:ext cx="1536192" cy="822960"/>
          </a:xfrm>
          <a:prstGeom prst="roundRect">
            <a:avLst>
              <a:gd name="adj" fmla="val 6667"/>
            </a:avLst>
          </a:prstGeom>
          <a:solidFill>
            <a:srgbClr val="FFFFFF"/>
          </a:solidFill>
          <a:ln w="12700">
            <a:solidFill>
              <a:srgbClr val="DCDCD4"/>
            </a:solidFill>
            <a:prstDash val="solid"/>
          </a:ln>
        </p:spPr>
      </p:sp>
      <p:sp>
        <p:nvSpPr>
          <p:cNvPr id="15" name="Text 12"/>
          <p:cNvSpPr/>
          <p:nvPr/>
        </p:nvSpPr>
        <p:spPr>
          <a:xfrm>
            <a:off x="10149840" y="3721608"/>
            <a:ext cx="1353312" cy="427939"/>
          </a:xfrm>
          <a:prstGeom prst="rect">
            <a:avLst/>
          </a:prstGeom>
          <a:noFill/>
          <a:ln/>
        </p:spPr>
        <p:txBody>
          <a:bodyPr wrap="square" lIns="0" tIns="0" rIns="0" bIns="0" rtlCol="0" anchor="ctr"/>
          <a:lstStyle/>
          <a:p>
            <a:pPr algn="ctr" indent="0" marL="0">
              <a:buNone/>
            </a:pPr>
            <a:r>
              <a:rPr lang="en-US" sz="2600" b="1" dirty="0">
                <a:solidFill>
                  <a:srgbClr val="B4762C"/>
                </a:solidFill>
                <a:latin typeface="Calibri" pitchFamily="34" charset="0"/>
                <a:ea typeface="Calibri" pitchFamily="34" charset="-122"/>
                <a:cs typeface="Calibri" pitchFamily="34" charset="-120"/>
              </a:rPr>
              <a:t>3</a:t>
            </a:r>
            <a:endParaRPr lang="en-US" sz="2600" dirty="0"/>
          </a:p>
        </p:txBody>
      </p:sp>
      <p:sp>
        <p:nvSpPr>
          <p:cNvPr id="16" name="Text 13"/>
          <p:cNvSpPr/>
          <p:nvPr/>
        </p:nvSpPr>
        <p:spPr>
          <a:xfrm>
            <a:off x="10131552" y="4105656"/>
            <a:ext cx="1389888" cy="296266"/>
          </a:xfrm>
          <a:prstGeom prst="rect">
            <a:avLst/>
          </a:prstGeom>
          <a:noFill/>
          <a:ln/>
        </p:spPr>
        <p:txBody>
          <a:bodyPr wrap="square" lIns="0" tIns="0" rIns="0" bIns="0" rtlCol="0" anchor="t"/>
          <a:lstStyle/>
          <a:p>
            <a:pPr algn="ctr" indent="0" marL="0">
              <a:buNone/>
            </a:pPr>
            <a:r>
              <a:rPr lang="en-US" sz="1050" dirty="0">
                <a:solidFill>
                  <a:srgbClr val="6B6F76"/>
                </a:solidFill>
                <a:latin typeface="Calibri" pitchFamily="34" charset="0"/>
                <a:ea typeface="Calibri" pitchFamily="34" charset="-122"/>
                <a:cs typeface="Calibri" pitchFamily="34" charset="-120"/>
              </a:rPr>
              <a:t>tracks</a:t>
            </a:r>
            <a:endParaRPr lang="en-US" sz="1050" dirty="0"/>
          </a:p>
        </p:txBody>
      </p:sp>
      <p:sp>
        <p:nvSpPr>
          <p:cNvPr id="17" name="Shape 14"/>
          <p:cNvSpPr/>
          <p:nvPr/>
        </p:nvSpPr>
        <p:spPr>
          <a:xfrm>
            <a:off x="6766560" y="4572000"/>
            <a:ext cx="4828032" cy="1463040"/>
          </a:xfrm>
          <a:prstGeom prst="roundRect">
            <a:avLst>
              <a:gd name="adj" fmla="val 3750"/>
            </a:avLst>
          </a:prstGeom>
          <a:solidFill>
            <a:srgbClr val="F4F2EE"/>
          </a:solidFill>
          <a:ln w="12700">
            <a:solidFill>
              <a:srgbClr val="DCDCD4"/>
            </a:solidFill>
            <a:prstDash val="solid"/>
          </a:ln>
        </p:spPr>
      </p:sp>
      <p:sp>
        <p:nvSpPr>
          <p:cNvPr id="18" name="Text 15"/>
          <p:cNvSpPr/>
          <p:nvPr/>
        </p:nvSpPr>
        <p:spPr>
          <a:xfrm>
            <a:off x="6931152" y="4663440"/>
            <a:ext cx="4526280" cy="274320"/>
          </a:xfrm>
          <a:prstGeom prst="rect">
            <a:avLst/>
          </a:prstGeom>
          <a:noFill/>
          <a:ln/>
        </p:spPr>
        <p:txBody>
          <a:bodyPr wrap="square" lIns="0" tIns="0" rIns="0" bIns="0" rtlCol="0" anchor="ctr"/>
          <a:lstStyle/>
          <a:p>
            <a:pPr indent="0" marL="0">
              <a:buNone/>
            </a:pPr>
            <a:r>
              <a:rPr lang="en-US" sz="1250" b="1" dirty="0">
                <a:solidFill>
                  <a:srgbClr val="12151C"/>
                </a:solidFill>
                <a:latin typeface="Calibri" pitchFamily="34" charset="0"/>
                <a:ea typeface="Calibri" pitchFamily="34" charset="-122"/>
                <a:cs typeface="Calibri" pitchFamily="34" charset="-120"/>
              </a:rPr>
              <a:t>Read back to prove it</a:t>
            </a:r>
            <a:endParaRPr lang="en-US" sz="1250" dirty="0"/>
          </a:p>
        </p:txBody>
      </p:sp>
      <p:sp>
        <p:nvSpPr>
          <p:cNvPr id="19" name="Text 16"/>
          <p:cNvSpPr/>
          <p:nvPr/>
        </p:nvSpPr>
        <p:spPr>
          <a:xfrm>
            <a:off x="6931152" y="4956048"/>
            <a:ext cx="4526280" cy="1005840"/>
          </a:xfrm>
          <a:prstGeom prst="rect">
            <a:avLst/>
          </a:prstGeom>
          <a:noFill/>
          <a:ln/>
        </p:spPr>
        <p:txBody>
          <a:bodyPr wrap="square" lIns="0" tIns="0" rIns="0" bIns="0" rtlCol="0" anchor="ctr"/>
          <a:lstStyle/>
          <a:p>
            <a:pPr indent="0" marL="0">
              <a:lnSpc>
                <a:spcPct val="115000"/>
              </a:lnSpc>
              <a:buNone/>
            </a:pPr>
            <a:r>
              <a:rPr lang="en-US" sz="1100" dirty="0">
                <a:solidFill>
                  <a:srgbClr val="6B6F76"/>
                </a:solidFill>
                <a:latin typeface="Calibri" pitchFamily="34" charset="0"/>
                <a:ea typeface="Calibri" pitchFamily="34" charset="-122"/>
                <a:cs typeface="Calibri" pitchFamily="34" charset="-120"/>
              </a:rPr>
              <a:t>The test suite contains a MIDI parser that was written separately from the writer. It walks every chunk of every generated file and checks the format, the division, that every note that starts also stops, and that the count matches what the compiler reported. Byte-for-byte deterministic across runs.</a:t>
            </a:r>
            <a:endParaRPr lang="en-US" sz="1100" dirty="0"/>
          </a:p>
        </p:txBody>
      </p:sp>
      <p:sp>
        <p:nvSpPr>
          <p:cNvPr id="20" name="Text 17"/>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Back end · Standard MIDI File</a:t>
            </a:r>
            <a:endParaRPr lang="en-US" sz="1000" dirty="0"/>
          </a:p>
        </p:txBody>
      </p:sp>
      <p:sp>
        <p:nvSpPr>
          <p:cNvPr id="21" name="Text 18"/>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How it is built, and how you run it</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One folder, no installation, and a window that shows every phase.</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719072"/>
          <a:ext cx="5669280" cy="914400"/>
        </p:xfrm>
        <a:graphic>
          <a:graphicData uri="http://schemas.openxmlformats.org/drawingml/2006/table">
            <a:tbl>
              <a:tblPr/>
              <a:tblGrid>
                <a:gridCol w="2103120"/>
                <a:gridCol w="868680"/>
                <a:gridCol w="2697480"/>
              </a:tblGrid>
              <a:tr h="0">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count</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Python modules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one per phase, plus the driver and the report</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automated tests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all passing, stdlib unittest only</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example programs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7 that work, 3 broken on purpose</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third-party packages</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no parser generator, no MIDI library</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0">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lines of C, C++ or C#</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100" dirty="0">
                          <a:solidFill>
                            <a:srgbClr val="12151C"/>
                          </a:solidFill>
                          <a:latin typeface="Calibri" pitchFamily="34" charset="0"/>
                          <a:ea typeface="Calibri" pitchFamily="34" charset="-122"/>
                          <a:cs typeface="Calibri" pitchFamily="34" charset="-120"/>
                        </a:rPr>
                        <a:t>pure Python 3.10+</a:t>
                      </a:r>
                      <a:endParaRPr lang="en-US" sz="110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5" name="Shape 2"/>
          <p:cNvSpPr/>
          <p:nvPr/>
        </p:nvSpPr>
        <p:spPr>
          <a:xfrm>
            <a:off x="566928" y="3703320"/>
            <a:ext cx="5669280" cy="2377440"/>
          </a:xfrm>
          <a:prstGeom prst="rect">
            <a:avLst/>
          </a:prstGeom>
          <a:solidFill>
            <a:srgbClr val="F4F2EE"/>
          </a:solidFill>
          <a:ln w="12700">
            <a:solidFill>
              <a:srgbClr val="DCDCD4"/>
            </a:solidFill>
            <a:prstDash val="solid"/>
          </a:ln>
        </p:spPr>
      </p:sp>
      <p:sp>
        <p:nvSpPr>
          <p:cNvPr id="6" name="Text 3"/>
          <p:cNvSpPr/>
          <p:nvPr/>
        </p:nvSpPr>
        <p:spPr>
          <a:xfrm>
            <a:off x="694944" y="3794760"/>
            <a:ext cx="5413248" cy="2194560"/>
          </a:xfrm>
          <a:prstGeom prst="rect">
            <a:avLst/>
          </a:prstGeom>
          <a:noFill/>
          <a:ln/>
        </p:spPr>
        <p:txBody>
          <a:bodyPr wrap="square" lIns="0" tIns="0" rIns="0" bIns="0" rtlCol="0" anchor="t"/>
          <a:lstStyle/>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run.bat                      double-click, on Windows</a:t>
            </a:r>
            <a:endParaRPr lang="en-US" sz="1050" dirty="0"/>
          </a:p>
          <a:p>
            <a:pPr indent="0" marL="0">
              <a:lnSpc>
                <a:spcPct val="106000"/>
              </a:lnSpc>
              <a:buNone/>
            </a:pP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song.cad</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song.cad --report r.html</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song.cad --dump all</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song.cad -O0     # no optimising</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--gui</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cadence --all</a:t>
            </a:r>
            <a:endParaRPr lang="en-US" sz="1050" dirty="0"/>
          </a:p>
          <a:p>
            <a:pPr indent="0" marL="0">
              <a:lnSpc>
                <a:spcPct val="106000"/>
              </a:lnSpc>
              <a:buNone/>
            </a:pPr>
            <a:r>
              <a:rPr lang="en-US" sz="1050" dirty="0">
                <a:solidFill>
                  <a:srgbClr val="12151C"/>
                </a:solidFill>
                <a:latin typeface="Courier New" pitchFamily="34" charset="0"/>
                <a:ea typeface="Courier New" pitchFamily="34" charset="-122"/>
                <a:cs typeface="Courier New" pitchFamily="34" charset="-120"/>
              </a:rPr>
              <a:t>python -m unittest discover -s tests -v</a:t>
            </a:r>
            <a:endParaRPr lang="en-US" sz="1050" dirty="0"/>
          </a:p>
        </p:txBody>
      </p:sp>
      <p:sp>
        <p:nvSpPr>
          <p:cNvPr id="7" name="Text 4"/>
          <p:cNvSpPr/>
          <p:nvPr/>
        </p:nvSpPr>
        <p:spPr>
          <a:xfrm>
            <a:off x="6355080" y="1700784"/>
            <a:ext cx="5239512" cy="292608"/>
          </a:xfrm>
          <a:prstGeom prst="rect">
            <a:avLst/>
          </a:prstGeom>
          <a:noFill/>
          <a:ln/>
        </p:spPr>
        <p:txBody>
          <a:bodyPr wrap="square" lIns="0" tIns="0" rIns="0" bIns="0" rtlCol="0" anchor="ctr"/>
          <a:lstStyle/>
          <a:p>
            <a:pPr indent="0" marL="0">
              <a:buNone/>
            </a:pPr>
            <a:r>
              <a:rPr lang="en-US" sz="1300" b="1" dirty="0">
                <a:solidFill>
                  <a:srgbClr val="12151C"/>
                </a:solidFill>
                <a:latin typeface="Calibri" pitchFamily="34" charset="0"/>
                <a:ea typeface="Calibri" pitchFamily="34" charset="-122"/>
                <a:cs typeface="Calibri" pitchFamily="34" charset="-120"/>
              </a:rPr>
              <a:t>Three ways to look inside</a:t>
            </a:r>
            <a:endParaRPr lang="en-US" sz="1300" dirty="0"/>
          </a:p>
        </p:txBody>
      </p:sp>
      <p:sp>
        <p:nvSpPr>
          <p:cNvPr id="8" name="Shape 5"/>
          <p:cNvSpPr/>
          <p:nvPr/>
        </p:nvSpPr>
        <p:spPr>
          <a:xfrm>
            <a:off x="6355080" y="2057400"/>
            <a:ext cx="91440" cy="1170432"/>
          </a:xfrm>
          <a:prstGeom prst="rect">
            <a:avLst/>
          </a:prstGeom>
          <a:solidFill>
            <a:srgbClr val="7A1F3D"/>
          </a:solidFill>
          <a:ln w="12700">
            <a:solidFill>
              <a:srgbClr val="7A1F3D"/>
            </a:solidFill>
            <a:prstDash val="solid"/>
          </a:ln>
        </p:spPr>
      </p:sp>
      <p:sp>
        <p:nvSpPr>
          <p:cNvPr id="9" name="Text 6"/>
          <p:cNvSpPr/>
          <p:nvPr/>
        </p:nvSpPr>
        <p:spPr>
          <a:xfrm>
            <a:off x="6583680" y="2057400"/>
            <a:ext cx="4937760" cy="292608"/>
          </a:xfrm>
          <a:prstGeom prst="rect">
            <a:avLst/>
          </a:prstGeom>
          <a:noFill/>
          <a:ln/>
        </p:spPr>
        <p:txBody>
          <a:bodyPr wrap="square" lIns="0" tIns="0" rIns="0" bIns="0" rtlCol="0" anchor="ctr"/>
          <a:lstStyle/>
          <a:p>
            <a:pPr indent="0" marL="0">
              <a:buNone/>
            </a:pPr>
            <a:r>
              <a:rPr lang="en-US" sz="1250" b="1" dirty="0">
                <a:solidFill>
                  <a:srgbClr val="7A1F3D"/>
                </a:solidFill>
                <a:latin typeface="Calibri" pitchFamily="34" charset="0"/>
                <a:ea typeface="Calibri" pitchFamily="34" charset="-122"/>
                <a:cs typeface="Calibri" pitchFamily="34" charset="-120"/>
              </a:rPr>
              <a:t>the window</a:t>
            </a:r>
            <a:endParaRPr lang="en-US" sz="1250" dirty="0"/>
          </a:p>
        </p:txBody>
      </p:sp>
      <p:sp>
        <p:nvSpPr>
          <p:cNvPr id="10" name="Text 7"/>
          <p:cNvSpPr/>
          <p:nvPr/>
        </p:nvSpPr>
        <p:spPr>
          <a:xfrm>
            <a:off x="6583680" y="2350008"/>
            <a:ext cx="5010912" cy="868680"/>
          </a:xfrm>
          <a:prstGeom prst="rect">
            <a:avLst/>
          </a:prstGeom>
          <a:noFill/>
          <a:ln/>
        </p:spPr>
        <p:txBody>
          <a:bodyPr wrap="square" lIns="0" tIns="0" rIns="0" bIns="0" rtlCol="0" anchor="ctr"/>
          <a:lstStyle/>
          <a:p>
            <a:pPr indent="0" marL="0">
              <a:lnSpc>
                <a:spcPct val="115000"/>
              </a:lnSpc>
              <a:buNone/>
            </a:pPr>
            <a:r>
              <a:rPr lang="en-US" sz="1100" dirty="0">
                <a:solidFill>
                  <a:srgbClr val="6B6F76"/>
                </a:solidFill>
                <a:latin typeface="Calibri" pitchFamily="34" charset="0"/>
                <a:ea typeface="Calibri" pitchFamily="34" charset="-122"/>
                <a:cs typeface="Calibri" pitchFamily="34" charset="-120"/>
              </a:rPr>
              <a:t>seventeen tabs — tokens, DFA, grammar, parse trace, tree, symbols, attributes, IR, passes, CFG, data flow, frames, channels, piano roll</a:t>
            </a:r>
            <a:endParaRPr lang="en-US" sz="1100" dirty="0"/>
          </a:p>
        </p:txBody>
      </p:sp>
      <p:sp>
        <p:nvSpPr>
          <p:cNvPr id="11" name="Shape 8"/>
          <p:cNvSpPr/>
          <p:nvPr/>
        </p:nvSpPr>
        <p:spPr>
          <a:xfrm>
            <a:off x="6355080" y="3429000"/>
            <a:ext cx="91440" cy="1170432"/>
          </a:xfrm>
          <a:prstGeom prst="rect">
            <a:avLst/>
          </a:prstGeom>
          <a:solidFill>
            <a:srgbClr val="1F6F6B"/>
          </a:solidFill>
          <a:ln w="12700">
            <a:solidFill>
              <a:srgbClr val="1F6F6B"/>
            </a:solidFill>
            <a:prstDash val="solid"/>
          </a:ln>
        </p:spPr>
      </p:sp>
      <p:sp>
        <p:nvSpPr>
          <p:cNvPr id="12" name="Text 9"/>
          <p:cNvSpPr/>
          <p:nvPr/>
        </p:nvSpPr>
        <p:spPr>
          <a:xfrm>
            <a:off x="6583680" y="3429000"/>
            <a:ext cx="4937760" cy="292608"/>
          </a:xfrm>
          <a:prstGeom prst="rect">
            <a:avLst/>
          </a:prstGeom>
          <a:noFill/>
          <a:ln/>
        </p:spPr>
        <p:txBody>
          <a:bodyPr wrap="square" lIns="0" tIns="0" rIns="0" bIns="0" rtlCol="0" anchor="ctr"/>
          <a:lstStyle/>
          <a:p>
            <a:pPr indent="0" marL="0">
              <a:buNone/>
            </a:pPr>
            <a:r>
              <a:rPr lang="en-US" sz="1250" b="1" dirty="0">
                <a:solidFill>
                  <a:srgbClr val="1F6F6B"/>
                </a:solidFill>
                <a:latin typeface="Calibri" pitchFamily="34" charset="0"/>
                <a:ea typeface="Calibri" pitchFamily="34" charset="-122"/>
                <a:cs typeface="Calibri" pitchFamily="34" charset="-120"/>
              </a:rPr>
              <a:t>the HTML report</a:t>
            </a:r>
            <a:endParaRPr lang="en-US" sz="1250" dirty="0"/>
          </a:p>
        </p:txBody>
      </p:sp>
      <p:sp>
        <p:nvSpPr>
          <p:cNvPr id="13" name="Text 10"/>
          <p:cNvSpPr/>
          <p:nvPr/>
        </p:nvSpPr>
        <p:spPr>
          <a:xfrm>
            <a:off x="6583680" y="3721608"/>
            <a:ext cx="5010912" cy="868680"/>
          </a:xfrm>
          <a:prstGeom prst="rect">
            <a:avLst/>
          </a:prstGeom>
          <a:noFill/>
          <a:ln/>
        </p:spPr>
        <p:txBody>
          <a:bodyPr wrap="square" lIns="0" tIns="0" rIns="0" bIns="0" rtlCol="0" anchor="ctr"/>
          <a:lstStyle/>
          <a:p>
            <a:pPr indent="0" marL="0">
              <a:lnSpc>
                <a:spcPct val="115000"/>
              </a:lnSpc>
              <a:buNone/>
            </a:pPr>
            <a:r>
              <a:rPr lang="en-US" sz="1100" dirty="0">
                <a:solidFill>
                  <a:srgbClr val="6B6F76"/>
                </a:solidFill>
                <a:latin typeface="Calibri" pitchFamily="34" charset="0"/>
                <a:ea typeface="Calibri" pitchFamily="34" charset="-122"/>
                <a:cs typeface="Calibri" pitchFamily="34" charset="-120"/>
              </a:rPr>
              <a:t>one self-contained file, no internet, every table the compiler built, plus an SVG piano roll — this is where the report screenshots come from</a:t>
            </a:r>
            <a:endParaRPr lang="en-US" sz="1100" dirty="0"/>
          </a:p>
        </p:txBody>
      </p:sp>
      <p:sp>
        <p:nvSpPr>
          <p:cNvPr id="14" name="Shape 11"/>
          <p:cNvSpPr/>
          <p:nvPr/>
        </p:nvSpPr>
        <p:spPr>
          <a:xfrm>
            <a:off x="6355080" y="4800600"/>
            <a:ext cx="91440" cy="1170432"/>
          </a:xfrm>
          <a:prstGeom prst="rect">
            <a:avLst/>
          </a:prstGeom>
          <a:solidFill>
            <a:srgbClr val="B4762C"/>
          </a:solidFill>
          <a:ln w="12700">
            <a:solidFill>
              <a:srgbClr val="B4762C"/>
            </a:solidFill>
            <a:prstDash val="solid"/>
          </a:ln>
        </p:spPr>
      </p:sp>
      <p:sp>
        <p:nvSpPr>
          <p:cNvPr id="15" name="Text 12"/>
          <p:cNvSpPr/>
          <p:nvPr/>
        </p:nvSpPr>
        <p:spPr>
          <a:xfrm>
            <a:off x="6583680" y="4800600"/>
            <a:ext cx="4937760" cy="292608"/>
          </a:xfrm>
          <a:prstGeom prst="rect">
            <a:avLst/>
          </a:prstGeom>
          <a:noFill/>
          <a:ln/>
        </p:spPr>
        <p:txBody>
          <a:bodyPr wrap="square" lIns="0" tIns="0" rIns="0" bIns="0" rtlCol="0" anchor="ctr"/>
          <a:lstStyle/>
          <a:p>
            <a:pPr indent="0" marL="0">
              <a:buNone/>
            </a:pPr>
            <a:r>
              <a:rPr lang="en-US" sz="1250" b="1" dirty="0">
                <a:solidFill>
                  <a:srgbClr val="B4762C"/>
                </a:solidFill>
                <a:latin typeface="Calibri" pitchFamily="34" charset="0"/>
                <a:ea typeface="Calibri" pitchFamily="34" charset="-122"/>
                <a:cs typeface="Calibri" pitchFamily="34" charset="-120"/>
              </a:rPr>
              <a:t>the terminal</a:t>
            </a:r>
            <a:endParaRPr lang="en-US" sz="1250" dirty="0"/>
          </a:p>
        </p:txBody>
      </p:sp>
      <p:sp>
        <p:nvSpPr>
          <p:cNvPr id="16" name="Text 13"/>
          <p:cNvSpPr/>
          <p:nvPr/>
        </p:nvSpPr>
        <p:spPr>
          <a:xfrm>
            <a:off x="6583680" y="5093208"/>
            <a:ext cx="5010912" cy="868680"/>
          </a:xfrm>
          <a:prstGeom prst="rect">
            <a:avLst/>
          </a:prstGeom>
          <a:noFill/>
          <a:ln/>
        </p:spPr>
        <p:txBody>
          <a:bodyPr wrap="square" lIns="0" tIns="0" rIns="0" bIns="0" rtlCol="0" anchor="ctr"/>
          <a:lstStyle/>
          <a:p>
            <a:pPr indent="0" marL="0">
              <a:lnSpc>
                <a:spcPct val="115000"/>
              </a:lnSpc>
              <a:buNone/>
            </a:pPr>
            <a:r>
              <a:rPr lang="en-US" sz="1100" dirty="0">
                <a:solidFill>
                  <a:srgbClr val="6B6F76"/>
                </a:solidFill>
                <a:latin typeface="Calibri" pitchFamily="34" charset="0"/>
                <a:ea typeface="Calibri" pitchFamily="34" charset="-122"/>
                <a:cs typeface="Calibri" pitchFamily="34" charset="-120"/>
              </a:rPr>
              <a:t>--dump prints any phase, so everything can be diffed, piped and version-controlled</a:t>
            </a:r>
            <a:endParaRPr lang="en-US" sz="1100" dirty="0"/>
          </a:p>
        </p:txBody>
      </p:sp>
      <p:sp>
        <p:nvSpPr>
          <p:cNvPr id="17" name="Text 14"/>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Engineering</a:t>
            </a:r>
            <a:endParaRPr lang="en-US" sz="1000" dirty="0"/>
          </a:p>
        </p:txBody>
      </p:sp>
      <p:sp>
        <p:nvSpPr>
          <p:cNvPr id="18" name="Text 15"/>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11027664" cy="658368"/>
          </a:xfrm>
          <a:prstGeom prst="rect">
            <a:avLst/>
          </a:prstGeom>
          <a:noFill/>
          <a:ln/>
        </p:spPr>
        <p:txBody>
          <a:bodyPr wrap="square" lIns="0" tIns="0" rIns="0" bIns="0" rtlCol="0" anchor="t"/>
          <a:lstStyle/>
          <a:p>
            <a:pPr indent="0" marL="0">
              <a:buNone/>
            </a:pPr>
            <a:r>
              <a:rPr lang="en-US" sz="3200" b="1" dirty="0">
                <a:solidFill>
                  <a:srgbClr val="12151C"/>
                </a:solidFill>
                <a:latin typeface="Calibri" pitchFamily="34" charset="0"/>
                <a:ea typeface="Calibri" pitchFamily="34" charset="-122"/>
                <a:cs typeface="Calibri" pitchFamily="34" charset="-120"/>
              </a:rPr>
              <a:t>Every number, in one place</a:t>
            </a:r>
            <a:endParaRPr lang="en-US" sz="3200" dirty="0"/>
          </a:p>
        </p:txBody>
      </p:sp>
      <p:sp>
        <p:nvSpPr>
          <p:cNvPr id="3" name="Text 1"/>
          <p:cNvSpPr/>
          <p:nvPr/>
        </p:nvSpPr>
        <p:spPr>
          <a:xfrm>
            <a:off x="566928" y="1078992"/>
            <a:ext cx="11027664" cy="402336"/>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All of these are generated by the compiler while compiling examples/07_showcase.cad.</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1920240"/>
                <a:gridCol w="5943600"/>
                <a:gridCol w="3163824"/>
              </a:tblGrid>
              <a:tr h="23774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measurement</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solidFill>
                      <a:srgbClr val="12151C"/>
                    </a:solidFill>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 lexical</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token rules → positions → character classes → DFA states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25 → 101 → 37 → 47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 lexical</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tokens scanned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syntax</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productions in the grammar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syntax</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SLR(1) / CLR(1) / LALR(1) states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114 / 204 / 114</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syntax</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LALR(1) conflicts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syntax</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conflicts in the ambiguous first draft</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24 s/r + 2 r/r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2 syntax</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shifts / reductions on this program</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168 / 197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3 semantic</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symbols in the table · phrases · voices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14 · 4 · 4</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4 intermediate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procedures · instructions (naive)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9 · 173</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 optimisation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passes run · static instructions after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13 · 247</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 optimisation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instructions executed, before → after</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631 → 241  (61.8 % saved)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5 optimisation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music changed by any pass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6 back end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voices · channels · spills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4 · 4 · 0</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6 back end</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notes · seconds · file size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83 · 9.6 · 891 bytes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r h="237744">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whole run</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compile time</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c>
                  <a:txBody>
                    <a:bodyPr/>
                    <a:lstStyle/>
                    <a:p>
                      <a:pPr algn="l" indent="0" marL="0">
                        <a:buNone/>
                      </a:pPr>
                      <a:r>
                        <a:rPr lang="en-US" sz="1050" dirty="0">
                          <a:solidFill>
                            <a:srgbClr val="12151C"/>
                          </a:solidFill>
                          <a:latin typeface="Calibri" pitchFamily="34" charset="0"/>
                          <a:ea typeface="Calibri" pitchFamily="34" charset="-122"/>
                          <a:cs typeface="Calibri" pitchFamily="34" charset="-120"/>
                        </a:rPr>
                        <a:t>85 ms</a:t>
                      </a:r>
                      <a:endParaRPr lang="en-US" sz="1050" dirty="0">
                        <a:latin typeface="Calibri" charset="0"/>
                        <a:ea typeface="Calibri" charset="0"/>
                        <a:cs typeface="Calibri" charset="0"/>
                      </a:endParaRPr>
                    </a:p>
                  </a:txBody>
                  <a:tcPr marL="91440" marR="91440" marT="45720" marB="45720" anchor="ctr">
                    <a:lnL w="9525" cap="flat" cmpd="sng" algn="ctr">
                      <a:solidFill>
                        <a:srgbClr val="DCDCD4"/>
                      </a:solidFill>
                      <a:prstDash val="solid"/>
                      <a:round/>
                      <a:headEnd type="none" w="med" len="med"/>
                      <a:tailEnd type="none" w="med" len="med"/>
                    </a:lnL>
                    <a:lnR w="9525" cap="flat" cmpd="sng" algn="ctr">
                      <a:solidFill>
                        <a:srgbClr val="DCDCD4"/>
                      </a:solidFill>
                      <a:prstDash val="solid"/>
                      <a:round/>
                      <a:headEnd type="none" w="med" len="med"/>
                      <a:tailEnd type="none" w="med" len="med"/>
                    </a:lnR>
                    <a:lnT w="9525" cap="flat" cmpd="sng" algn="ctr">
                      <a:solidFill>
                        <a:srgbClr val="DCDCD4"/>
                      </a:solidFill>
                      <a:prstDash val="solid"/>
                      <a:round/>
                      <a:headEnd type="none" w="med" len="med"/>
                      <a:tailEnd type="none" w="med" len="med"/>
                    </a:lnT>
                    <a:lnB w="9525" cap="flat" cmpd="sng" algn="ctr">
                      <a:solidFill>
                        <a:srgbClr val="DCDCD4"/>
                      </a:solidFill>
                      <a:prstDash val="solid"/>
                      <a:round/>
                      <a:headEnd type="none" w="med" len="med"/>
                      <a:tailEnd type="none" w="med" len="med"/>
                    </a:lnB>
                  </a:tcPr>
                </a:tc>
              </a:tr>
            </a:tbl>
          </a:graphicData>
        </a:graphic>
      </p:graphicFrame>
      <p:sp>
        <p:nvSpPr>
          <p:cNvPr id="5" name="Text 2"/>
          <p:cNvSpPr/>
          <p:nvPr/>
        </p:nvSpPr>
        <p:spPr>
          <a:xfrm>
            <a:off x="566928" y="6455664"/>
            <a:ext cx="7315200" cy="274320"/>
          </a:xfrm>
          <a:prstGeom prst="rect">
            <a:avLst/>
          </a:prstGeom>
          <a:noFill/>
          <a:ln/>
        </p:spPr>
        <p:txBody>
          <a:bodyPr wrap="square" lIns="0" tIns="0" rIns="0" bIns="0" rtlCol="0" anchor="ctr"/>
          <a:lstStyle/>
          <a:p>
            <a:pPr algn="l" indent="0" marL="0">
              <a:buNone/>
            </a:pPr>
            <a:r>
              <a:rPr lang="en-US" sz="1000" dirty="0">
                <a:solidFill>
                  <a:srgbClr val="6B6F76"/>
                </a:solidFill>
                <a:latin typeface="Calibri" pitchFamily="34" charset="0"/>
                <a:ea typeface="Calibri" pitchFamily="34" charset="-122"/>
                <a:cs typeface="Calibri" pitchFamily="34" charset="-120"/>
              </a:rPr>
              <a:t>Results</a:t>
            </a:r>
            <a:endParaRPr lang="en-US" sz="1000" dirty="0"/>
          </a:p>
        </p:txBody>
      </p:sp>
      <p:sp>
        <p:nvSpPr>
          <p:cNvPr id="6" name="Text 3"/>
          <p:cNvSpPr/>
          <p:nvPr/>
        </p:nvSpPr>
        <p:spPr>
          <a:xfrm>
            <a:off x="11045952" y="6455664"/>
            <a:ext cx="548640" cy="274320"/>
          </a:xfrm>
          <a:prstGeom prst="rect">
            <a:avLst/>
          </a:prstGeom>
          <a:noFill/>
          <a:ln/>
        </p:spPr>
        <p:txBody>
          <a:bodyPr wrap="square" lIns="0" tIns="0" rIns="0" bIns="0" rtlCol="0" anchor="ctr"/>
          <a:lstStyle/>
          <a:p>
            <a:pPr algn="r" indent="0" marL="0">
              <a:buNone/>
            </a:pPr>
            <a:r>
              <a:rPr lang="en-US" sz="1000" b="1" dirty="0">
                <a:solidFill>
                  <a:srgbClr val="7A1F3D"/>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566928" y="64008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 would build next</a:t>
            </a:r>
            <a:endParaRPr lang="en-US" sz="3000" dirty="0"/>
          </a:p>
        </p:txBody>
      </p:sp>
      <p:sp>
        <p:nvSpPr>
          <p:cNvPr id="3" name="Shape 1"/>
          <p:cNvSpPr/>
          <p:nvPr/>
        </p:nvSpPr>
        <p:spPr>
          <a:xfrm>
            <a:off x="566928" y="1536192"/>
            <a:ext cx="91440" cy="658368"/>
          </a:xfrm>
          <a:prstGeom prst="rect">
            <a:avLst/>
          </a:prstGeom>
          <a:solidFill>
            <a:srgbClr val="1F6F6B"/>
          </a:solidFill>
          <a:ln w="12700">
            <a:solidFill>
              <a:srgbClr val="1F6F6B"/>
            </a:solidFill>
            <a:prstDash val="solid"/>
          </a:ln>
        </p:spPr>
      </p:sp>
      <p:sp>
        <p:nvSpPr>
          <p:cNvPr id="4" name="Text 2"/>
          <p:cNvSpPr/>
          <p:nvPr/>
        </p:nvSpPr>
        <p:spPr>
          <a:xfrm>
            <a:off x="822960" y="1481328"/>
            <a:ext cx="45720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SSA form with phi-node insertion</a:t>
            </a:r>
            <a:endParaRPr lang="en-US" sz="1400" dirty="0"/>
          </a:p>
        </p:txBody>
      </p:sp>
      <p:sp>
        <p:nvSpPr>
          <p:cNvPr id="5" name="Text 3"/>
          <p:cNvSpPr/>
          <p:nvPr/>
        </p:nvSpPr>
        <p:spPr>
          <a:xfrm>
            <a:off x="5504688" y="1481328"/>
            <a:ext cx="6035040" cy="731520"/>
          </a:xfrm>
          <a:prstGeom prst="rect">
            <a:avLst/>
          </a:prstGeom>
          <a:noFill/>
          <a:ln/>
        </p:spPr>
        <p:txBody>
          <a:bodyPr wrap="square" lIns="0" tIns="0" rIns="0" bIns="0" rtlCol="0" anchor="ctr"/>
          <a:lstStyle/>
          <a:p>
            <a:pPr indent="0" marL="0">
              <a:lnSpc>
                <a:spcPct val="115000"/>
              </a:lnSpc>
              <a:buNone/>
            </a:pPr>
            <a:r>
              <a:rPr lang="en-US" sz="1150" dirty="0">
                <a:solidFill>
                  <a:srgbClr val="9AA2AE"/>
                </a:solidFill>
                <a:latin typeface="Calibri" pitchFamily="34" charset="0"/>
                <a:ea typeface="Calibri" pitchFamily="34" charset="-122"/>
                <a:cs typeface="Calibri" pitchFamily="34" charset="-120"/>
              </a:rPr>
              <a:t>module 7 — dominance frontiers are already computed, so this is the natural next step</a:t>
            </a:r>
            <a:endParaRPr lang="en-US" sz="1150" dirty="0"/>
          </a:p>
        </p:txBody>
      </p:sp>
      <p:sp>
        <p:nvSpPr>
          <p:cNvPr id="6" name="Shape 4"/>
          <p:cNvSpPr/>
          <p:nvPr/>
        </p:nvSpPr>
        <p:spPr>
          <a:xfrm>
            <a:off x="566928" y="2450592"/>
            <a:ext cx="91440" cy="658368"/>
          </a:xfrm>
          <a:prstGeom prst="rect">
            <a:avLst/>
          </a:prstGeom>
          <a:solidFill>
            <a:srgbClr val="B4762C"/>
          </a:solidFill>
          <a:ln w="12700">
            <a:solidFill>
              <a:srgbClr val="B4762C"/>
            </a:solidFill>
            <a:prstDash val="solid"/>
          </a:ln>
        </p:spPr>
      </p:sp>
      <p:sp>
        <p:nvSpPr>
          <p:cNvPr id="7" name="Text 5"/>
          <p:cNvSpPr/>
          <p:nvPr/>
        </p:nvSpPr>
        <p:spPr>
          <a:xfrm>
            <a:off x="822960" y="2395728"/>
            <a:ext cx="45720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textual LLVM IR output</a:t>
            </a:r>
            <a:endParaRPr lang="en-US" sz="1400" dirty="0"/>
          </a:p>
        </p:txBody>
      </p:sp>
      <p:sp>
        <p:nvSpPr>
          <p:cNvPr id="8" name="Text 6"/>
          <p:cNvSpPr/>
          <p:nvPr/>
        </p:nvSpPr>
        <p:spPr>
          <a:xfrm>
            <a:off x="5504688" y="2395728"/>
            <a:ext cx="6035040" cy="731520"/>
          </a:xfrm>
          <a:prstGeom prst="rect">
            <a:avLst/>
          </a:prstGeom>
          <a:noFill/>
          <a:ln/>
        </p:spPr>
        <p:txBody>
          <a:bodyPr wrap="square" lIns="0" tIns="0" rIns="0" bIns="0" rtlCol="0" anchor="ctr"/>
          <a:lstStyle/>
          <a:p>
            <a:pPr indent="0" marL="0">
              <a:lnSpc>
                <a:spcPct val="115000"/>
              </a:lnSpc>
              <a:buNone/>
            </a:pPr>
            <a:r>
              <a:rPr lang="en-US" sz="1150" dirty="0">
                <a:solidFill>
                  <a:srgbClr val="9AA2AE"/>
                </a:solidFill>
                <a:latin typeface="Calibri" pitchFamily="34" charset="0"/>
                <a:ea typeface="Calibri" pitchFamily="34" charset="-122"/>
                <a:cs typeface="Calibri" pitchFamily="34" charset="-120"/>
              </a:rPr>
              <a:t>emit a .ll file as plain text; no toolchain needed to show the connection to module 1's LLVM material</a:t>
            </a:r>
            <a:endParaRPr lang="en-US" sz="1150" dirty="0"/>
          </a:p>
        </p:txBody>
      </p:sp>
      <p:sp>
        <p:nvSpPr>
          <p:cNvPr id="9" name="Shape 7"/>
          <p:cNvSpPr/>
          <p:nvPr/>
        </p:nvSpPr>
        <p:spPr>
          <a:xfrm>
            <a:off x="566928" y="3364992"/>
            <a:ext cx="91440" cy="658368"/>
          </a:xfrm>
          <a:prstGeom prst="rect">
            <a:avLst/>
          </a:prstGeom>
          <a:solidFill>
            <a:srgbClr val="7A1F3D"/>
          </a:solidFill>
          <a:ln w="12700">
            <a:solidFill>
              <a:srgbClr val="7A1F3D"/>
            </a:solidFill>
            <a:prstDash val="solid"/>
          </a:ln>
        </p:spPr>
      </p:sp>
      <p:sp>
        <p:nvSpPr>
          <p:cNvPr id="10" name="Text 8"/>
          <p:cNvSpPr/>
          <p:nvPr/>
        </p:nvSpPr>
        <p:spPr>
          <a:xfrm>
            <a:off x="822960" y="3310128"/>
            <a:ext cx="45720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instruction scheduling</a:t>
            </a:r>
            <a:endParaRPr lang="en-US" sz="1400" dirty="0"/>
          </a:p>
        </p:txBody>
      </p:sp>
      <p:sp>
        <p:nvSpPr>
          <p:cNvPr id="11" name="Text 9"/>
          <p:cNvSpPr/>
          <p:nvPr/>
        </p:nvSpPr>
        <p:spPr>
          <a:xfrm>
            <a:off x="5504688" y="3310128"/>
            <a:ext cx="6035040" cy="731520"/>
          </a:xfrm>
          <a:prstGeom prst="rect">
            <a:avLst/>
          </a:prstGeom>
          <a:noFill/>
          <a:ln/>
        </p:spPr>
        <p:txBody>
          <a:bodyPr wrap="square" lIns="0" tIns="0" rIns="0" bIns="0" rtlCol="0" anchor="ctr"/>
          <a:lstStyle/>
          <a:p>
            <a:pPr indent="0" marL="0">
              <a:lnSpc>
                <a:spcPct val="115000"/>
              </a:lnSpc>
              <a:buNone/>
            </a:pPr>
            <a:r>
              <a:rPr lang="en-US" sz="1150" dirty="0">
                <a:solidFill>
                  <a:srgbClr val="9AA2AE"/>
                </a:solidFill>
                <a:latin typeface="Calibri" pitchFamily="34" charset="0"/>
                <a:ea typeface="Calibri" pitchFamily="34" charset="-122"/>
                <a:cs typeface="Calibri" pitchFamily="34" charset="-120"/>
              </a:rPr>
              <a:t>reorder independent NOTEONs within a chord; a scheduling problem with an audible result</a:t>
            </a:r>
            <a:endParaRPr lang="en-US" sz="1150" dirty="0"/>
          </a:p>
        </p:txBody>
      </p:sp>
      <p:sp>
        <p:nvSpPr>
          <p:cNvPr id="12" name="Shape 10"/>
          <p:cNvSpPr/>
          <p:nvPr/>
        </p:nvSpPr>
        <p:spPr>
          <a:xfrm>
            <a:off x="566928" y="4279392"/>
            <a:ext cx="91440" cy="658368"/>
          </a:xfrm>
          <a:prstGeom prst="rect">
            <a:avLst/>
          </a:prstGeom>
          <a:solidFill>
            <a:srgbClr val="3C5AA6"/>
          </a:solidFill>
          <a:ln w="12700">
            <a:solidFill>
              <a:srgbClr val="3C5AA6"/>
            </a:solidFill>
            <a:prstDash val="solid"/>
          </a:ln>
        </p:spPr>
      </p:sp>
      <p:sp>
        <p:nvSpPr>
          <p:cNvPr id="13" name="Text 11"/>
          <p:cNvSpPr/>
          <p:nvPr/>
        </p:nvSpPr>
        <p:spPr>
          <a:xfrm>
            <a:off x="822960" y="4224528"/>
            <a:ext cx="45720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second back end</a:t>
            </a:r>
            <a:endParaRPr lang="en-US" sz="1400" dirty="0"/>
          </a:p>
        </p:txBody>
      </p:sp>
      <p:sp>
        <p:nvSpPr>
          <p:cNvPr id="14" name="Text 12"/>
          <p:cNvSpPr/>
          <p:nvPr/>
        </p:nvSpPr>
        <p:spPr>
          <a:xfrm>
            <a:off x="5504688" y="4224528"/>
            <a:ext cx="6035040" cy="731520"/>
          </a:xfrm>
          <a:prstGeom prst="rect">
            <a:avLst/>
          </a:prstGeom>
          <a:noFill/>
          <a:ln/>
        </p:spPr>
        <p:txBody>
          <a:bodyPr wrap="square" lIns="0" tIns="0" rIns="0" bIns="0" rtlCol="0" anchor="ctr"/>
          <a:lstStyle/>
          <a:p>
            <a:pPr indent="0" marL="0">
              <a:lnSpc>
                <a:spcPct val="115000"/>
              </a:lnSpc>
              <a:buNone/>
            </a:pPr>
            <a:r>
              <a:rPr lang="en-US" sz="1150" dirty="0">
                <a:solidFill>
                  <a:srgbClr val="9AA2AE"/>
                </a:solidFill>
                <a:latin typeface="Calibri" pitchFamily="34" charset="0"/>
                <a:ea typeface="Calibri" pitchFamily="34" charset="-122"/>
                <a:cs typeface="Calibri" pitchFamily="34" charset="-120"/>
              </a:rPr>
              <a:t>the same IR to WAV by synthesising samples, which would prove the IR is genuinely target-independent</a:t>
            </a:r>
            <a:endParaRPr lang="en-US" sz="1150" dirty="0"/>
          </a:p>
        </p:txBody>
      </p:sp>
      <p:sp>
        <p:nvSpPr>
          <p:cNvPr id="15" name="Shape 13"/>
          <p:cNvSpPr/>
          <p:nvPr/>
        </p:nvSpPr>
        <p:spPr>
          <a:xfrm>
            <a:off x="566928" y="5349240"/>
            <a:ext cx="11027664" cy="0"/>
          </a:xfrm>
          <a:prstGeom prst="line">
            <a:avLst/>
          </a:prstGeom>
          <a:noFill/>
          <a:ln w="12700">
            <a:solidFill>
              <a:srgbClr val="2B3240"/>
            </a:solidFill>
            <a:prstDash val="solid"/>
          </a:ln>
        </p:spPr>
      </p:sp>
      <p:sp>
        <p:nvSpPr>
          <p:cNvPr id="16" name="Text 14"/>
          <p:cNvSpPr/>
          <p:nvPr/>
        </p:nvSpPr>
        <p:spPr>
          <a:xfrm>
            <a:off x="566928" y="5532120"/>
            <a:ext cx="3657600" cy="45720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Cadence</a:t>
            </a:r>
            <a:endParaRPr lang="en-US" sz="2400" dirty="0"/>
          </a:p>
        </p:txBody>
      </p:sp>
      <p:sp>
        <p:nvSpPr>
          <p:cNvPr id="17" name="Text 15"/>
          <p:cNvSpPr/>
          <p:nvPr/>
        </p:nvSpPr>
        <p:spPr>
          <a:xfrm>
            <a:off x="2944368" y="5605272"/>
            <a:ext cx="6583680" cy="365760"/>
          </a:xfrm>
          <a:prstGeom prst="rect">
            <a:avLst/>
          </a:prstGeom>
          <a:noFill/>
          <a:ln/>
        </p:spPr>
        <p:txBody>
          <a:bodyPr wrap="square" lIns="0" tIns="0" rIns="0" bIns="0" rtlCol="0" anchor="ctr"/>
          <a:lstStyle/>
          <a:p>
            <a:pPr indent="0" marL="0">
              <a:buNone/>
            </a:pPr>
            <a:r>
              <a:rPr lang="en-US" sz="1300" dirty="0">
                <a:solidFill>
                  <a:srgbClr val="9AA2AE"/>
                </a:solidFill>
                <a:latin typeface="Calibri" pitchFamily="34" charset="0"/>
                <a:ea typeface="Calibri" pitchFamily="34" charset="-122"/>
                <a:cs typeface="Calibri" pitchFamily="34" charset="-120"/>
              </a:rPr>
              <a:t>compiles music · pure Python · zero dependencies · 72 tests</a:t>
            </a:r>
            <a:endParaRPr lang="en-US" sz="1300" dirty="0"/>
          </a:p>
        </p:txBody>
      </p:sp>
      <p:sp>
        <p:nvSpPr>
          <p:cNvPr id="18" name="Text 16"/>
          <p:cNvSpPr/>
          <p:nvPr/>
        </p:nvSpPr>
        <p:spPr>
          <a:xfrm>
            <a:off x="7754112" y="6035040"/>
            <a:ext cx="3840480" cy="329184"/>
          </a:xfrm>
          <a:prstGeom prst="rect">
            <a:avLst/>
          </a:prstGeom>
          <a:noFill/>
          <a:ln/>
        </p:spPr>
        <p:txBody>
          <a:bodyPr wrap="square" lIns="0" tIns="0" rIns="0" bIns="0" rtlCol="0" anchor="ctr"/>
          <a:lstStyle/>
          <a:p>
            <a:pPr algn="r" indent="0" marL="0">
              <a:buNone/>
            </a:pPr>
            <a:r>
              <a:rPr lang="en-US" sz="1200" b="1" dirty="0">
                <a:solidFill>
                  <a:srgbClr val="7A1F3D"/>
                </a:solidFill>
                <a:latin typeface="Calibri" pitchFamily="34" charset="0"/>
                <a:ea typeface="Calibri" pitchFamily="34" charset="-122"/>
                <a:cs typeface="Calibri" pitchFamily="34" charset="-120"/>
              </a:rPr>
              <a:t>thank you — questions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Cadence: a music DSL that compiles to MIDI</dc:title>
  <dc:subject>PptxGenJS Presentation</dc:subject>
  <dc:creator>Cadence</dc:creator>
  <cp:lastModifiedBy>Cadence</cp:lastModifiedBy>
  <cp:revision>1</cp:revision>
  <dcterms:created xsi:type="dcterms:W3CDTF">2026-07-30T01:33:28Z</dcterms:created>
  <dcterms:modified xsi:type="dcterms:W3CDTF">2026-07-30T01:33:28Z</dcterms:modified>
</cp:coreProperties>
</file>